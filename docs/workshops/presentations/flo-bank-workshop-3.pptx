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/ 0–6 min</a:t>
            </a:r>
          </a:p>
          <a:p>
            <a:r>
              <a:t>Ask what happens when the customer closes the chat, the reviewer returns tomorrow or the worker crashes. Flo Bank's Autonomous System Resolver is implemented as a customer-dispute resolver. Introduce case-501 and declare live or replay mode.</a:t>
            </a:r>
          </a:p>
          <a:p/>
          <a:p>
            <a:r>
              <a:t>SOURCE FILES (repository root):</a:t>
            </a:r>
          </a:p>
          <a:p>
            <a:r>
              <a:t>docs/workshops/workshop-3-story.md</a:t>
            </a:r>
          </a:p>
          <a:p>
            <a:r>
              <a:t>workshops/w3/worksheet.md</a:t>
            </a:r>
          </a:p>
          <a:p>
            <a:r>
              <a:t>workshops/w3/answer-key.md</a:t>
            </a:r>
          </a:p>
          <a:p>
            <a:r>
              <a:t>docs/workshops/delivery-plan.md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/ 0–6 min</a:t>
            </a:r>
          </a:p>
          <a:p>
            <a:r>
              <a:t>Have terminal queries, worker logs and business evidence open. Use fresh prepared W3 state. A previously completed case-501 workflow is deliberately not started again, and a banking reset alone does not clear Temporal history.</a:t>
            </a:r>
          </a:p>
          <a:p/>
          <a:p>
            <a:r>
              <a:t>SOURCE FILES (repository root):</a:t>
            </a:r>
          </a:p>
          <a:p>
            <a:r>
              <a:t>docs/workshops/workshop-3-story.md</a:t>
            </a:r>
          </a:p>
          <a:p>
            <a:r>
              <a:t>workshops/w3/worksheet.md</a:t>
            </a:r>
          </a:p>
          <a:p>
            <a:r>
              <a:t>workshops/w3/answer-key.md</a:t>
            </a:r>
          </a:p>
          <a:p>
            <a:r>
              <a:t>docs/workshops/delivery-plan.md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/ 0–6 min</a:t>
            </a:r>
          </a:p>
          <a:p>
            <a:r>
              <a:t>Do not describe the seeded ticket as a verified duplicate debit. Ask where the case, proposal, approval and payment should live. Collect failure predictions: lost progress, repeated investigation, missing approval or double payment.</a:t>
            </a:r>
          </a:p>
          <a:p/>
          <a:p>
            <a:r>
              <a:t>SOURCE FILES (repository root):</a:t>
            </a:r>
          </a:p>
          <a:p>
            <a:r>
              <a:t>docs/workshops/workshop-3-story.md</a:t>
            </a:r>
          </a:p>
          <a:p>
            <a:r>
              <a:t>workshops/w3/worksheet.md</a:t>
            </a:r>
          </a:p>
          <a:p>
            <a:r>
              <a:t>workshops/w3/answer-key.md</a:t>
            </a:r>
          </a:p>
          <a:p>
            <a:r>
              <a:t>docs/workshops/delivery-plan.md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/ 0–6 min</a:t>
            </a:r>
          </a:p>
          <a:p>
            <a:r>
              <a:t>Set USE_REPLAY_FIXTURES=true before preparing the stack for the deterministic fixture. Live mode may produce different arguments or fail investigation. The fixture's ₹750 is not a calculated refund for the ticket's claimed charge. MiniMax is the documented default; optional participant-provider setup is in the infrastructure/OpenRouter guides.</a:t>
            </a:r>
          </a:p>
          <a:p/>
          <a:p>
            <a:r>
              <a:t>SOURCE FILES (repository root):</a:t>
            </a:r>
          </a:p>
          <a:p>
            <a:r>
              <a:t>docs/workshops/workshop-3-story.md</a:t>
            </a:r>
          </a:p>
          <a:p>
            <a:r>
              <a:t>workshops/w3/worksheet.md</a:t>
            </a:r>
          </a:p>
          <a:p>
            <a:r>
              <a:t>workshops/w3/answer-key.md</a:t>
            </a:r>
          </a:p>
          <a:p>
            <a:r>
              <a:t>docs/workshops/delivery-plan.md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/ 6–13 min</a:t>
            </a:r>
          </a:p>
          <a:p>
            <a:r>
              <a:t>Temporal replays completed activity results. A failed investigation activity may repeat model inference and read tools. This lab does not checkpoint every unfinished LangGraph step.</a:t>
            </a:r>
          </a:p>
          <a:p/>
          <a:p>
            <a:r>
              <a:t>SOURCE FILES (repository root):</a:t>
            </a:r>
          </a:p>
          <a:p>
            <a:r>
              <a:t>docs/workshops/workshop-3-story.md</a:t>
            </a:r>
          </a:p>
          <a:p>
            <a:r>
              <a:t>workshops/w3/worksheet.md</a:t>
            </a:r>
          </a:p>
          <a:p>
            <a:r>
              <a:t>workshops/w3/answer-key.md</a:t>
            </a:r>
          </a:p>
          <a:p>
            <a:r>
              <a:t>docs/workshops/delivery-plan.md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/ 6–13 min</a:t>
            </a:r>
          </a:p>
          <a:p>
            <a:r>
              <a:t>During investigation, model inference goes through Gate 1 and allowed MCP reads through Gate 2 and Gate 3. The workflow owns the subsequent approval wait and settlement activity. Explain why arbitrary model responses cannot be replayed as deterministic workflow code.</a:t>
            </a:r>
          </a:p>
          <a:p/>
          <a:p>
            <a:r>
              <a:t>SOURCE FILES (repository root):</a:t>
            </a:r>
          </a:p>
          <a:p>
            <a:r>
              <a:t>docs/workshops/workshop-3-story.md</a:t>
            </a:r>
          </a:p>
          <a:p>
            <a:r>
              <a:t>workshops/w3/worksheet.md</a:t>
            </a:r>
          </a:p>
          <a:p>
            <a:r>
              <a:t>workshops/w3/answer-key.md</a:t>
            </a:r>
          </a:p>
          <a:p>
            <a:r>
              <a:t>docs/workshops/delivery-plan.md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/ 6–13 min</a:t>
            </a:r>
          </a:p>
          <a:p>
            <a:r>
              <a:t>General workflow format: dispute-case-{case_id}. Explain that stable workflow identity and banking idempotency address different failure windows. Do not claim exactly-once event delivery or inference.</a:t>
            </a:r>
          </a:p>
          <a:p/>
          <a:p>
            <a:r>
              <a:t>SOURCE FILES (repository root):</a:t>
            </a:r>
          </a:p>
          <a:p>
            <a:r>
              <a:t>docs/workshops/workshop-3-story.md</a:t>
            </a:r>
          </a:p>
          <a:p>
            <a:r>
              <a:t>workshops/w3/worksheet.md</a:t>
            </a:r>
          </a:p>
          <a:p>
            <a:r>
              <a:t>workshops/w3/answer-key.md</a:t>
            </a:r>
          </a:p>
          <a:p>
            <a:r>
              <a:t>docs/workshops/delivery-plan.md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/ 13–23 min</a:t>
            </a:r>
          </a:p>
          <a:p>
            <a:r>
              <a:t>Allowed initial tools include get_case and get_account. In live mode inspect at least one actual model-selected read. Server rules validate amount, currency and destination and decide whether approval is required; the model cannot grant itself permission.</a:t>
            </a:r>
          </a:p>
          <a:p/>
          <a:p>
            <a:r>
              <a:t>SOURCE FILES (repository root):</a:t>
            </a:r>
          </a:p>
          <a:p>
            <a:r>
              <a:t>docs/workshops/workshop-3-story.md</a:t>
            </a:r>
          </a:p>
          <a:p>
            <a:r>
              <a:t>workshops/w3/worksheet.md</a:t>
            </a:r>
          </a:p>
          <a:p>
            <a:r>
              <a:t>workshops/w3/answer-key.md</a:t>
            </a:r>
          </a:p>
          <a:p>
            <a:r>
              <a:t>docs/workshops/delivery-plan.md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/ 13–23 min</a:t>
            </a:r>
          </a:p>
          <a:p>
            <a:r>
              <a:t>Run from the repository root on a prepared stack. The CLI defaults to Kafka localhost:9092 and Temporal localhost:7233. If using live mode, confirm provider and governed-tool evidence rather than promising a fixed proposal.</a:t>
            </a:r>
          </a:p>
          <a:p/>
          <a:p>
            <a:r>
              <a:t>SOURCE FILES (repository root):</a:t>
            </a:r>
          </a:p>
          <a:p>
            <a:r>
              <a:t>docs/workshops/workshop-3-story.md</a:t>
            </a:r>
          </a:p>
          <a:p>
            <a:r>
              <a:t>workshops/w3/worksheet.md</a:t>
            </a:r>
          </a:p>
          <a:p>
            <a:r>
              <a:t>workshops/w3/answer-key.md</a:t>
            </a:r>
          </a:p>
          <a:p>
            <a:r>
              <a:t>docs/workshops/delivery-plan.md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/ 13–23 min</a:t>
            </a:r>
          </a:p>
          <a:p>
            <a:r>
              <a:t>Ask whether the case is resolved yet and what evidence would establish that money moved. W3 resolver review rules are separate from W2's support-agent thresholds. Save this baseline before stopping anything.</a:t>
            </a:r>
          </a:p>
          <a:p/>
          <a:p>
            <a:r>
              <a:t>SOURCE FILES (repository root):</a:t>
            </a:r>
          </a:p>
          <a:p>
            <a:r>
              <a:t>docs/workshops/workshop-3-story.md</a:t>
            </a:r>
          </a:p>
          <a:p>
            <a:r>
              <a:t>workshops/w3/worksheet.md</a:t>
            </a:r>
          </a:p>
          <a:p>
            <a:r>
              <a:t>workshops/w3/answer-key.md</a:t>
            </a:r>
          </a:p>
          <a:p>
            <a:r>
              <a:t>docs/workshops/delivery-plan.md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/ 23–35 min</a:t>
            </a:r>
          </a:p>
          <a:p>
            <a:r>
              <a:t>Pairs should predict what survives and what could repeat. Leave Kafka, Temporal and banking persistence running. Stopping the worker alone during the wait is the timed exercise.</a:t>
            </a:r>
          </a:p>
          <a:p/>
          <a:p>
            <a:r>
              <a:t>SOURCE FILES (repository root):</a:t>
            </a:r>
          </a:p>
          <a:p>
            <a:r>
              <a:t>docs/workshops/workshop-3-story.md</a:t>
            </a:r>
          </a:p>
          <a:p>
            <a:r>
              <a:t>workshops/w3/worksheet.md</a:t>
            </a:r>
          </a:p>
          <a:p>
            <a:r>
              <a:t>workshops/w3/answer-key.md</a:t>
            </a:r>
          </a:p>
          <a:p>
            <a:r>
              <a:t>docs/workshops/delivery-plan.md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/ 23–35 min</a:t>
            </a:r>
          </a:p>
          <a:p>
            <a:r>
              <a:t>Wait for worker readiness after restart. Inspect duplicate-start handling in logs and the workflow history. Confirm the same pending proposal with zero settlement effects. Do not reset the banking or Temporal state during this exercise.</a:t>
            </a:r>
          </a:p>
          <a:p/>
          <a:p>
            <a:r>
              <a:t>SOURCE FILES (repository root):</a:t>
            </a:r>
          </a:p>
          <a:p>
            <a:r>
              <a:t>docs/workshops/workshop-3-story.md</a:t>
            </a:r>
          </a:p>
          <a:p>
            <a:r>
              <a:t>workshops/w3/worksheet.md</a:t>
            </a:r>
          </a:p>
          <a:p>
            <a:r>
              <a:t>workshops/w3/answer-key.md</a:t>
            </a:r>
          </a:p>
          <a:p>
            <a:r>
              <a:t>docs/workshops/delivery-plan.md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 / 23–35 min</a:t>
            </a:r>
          </a:p>
          <a:p>
            <a:r>
              <a:t>The current exercise stops at the durable approval wait. It does not itself test a response lost after a payment commits. Explain that separate failure window and the role of the stable payment key without claiming it was observed here.</a:t>
            </a:r>
          </a:p>
          <a:p/>
          <a:p>
            <a:r>
              <a:t>SOURCE FILES (repository root):</a:t>
            </a:r>
          </a:p>
          <a:p>
            <a:r>
              <a:t>docs/workshops/workshop-3-story.md</a:t>
            </a:r>
          </a:p>
          <a:p>
            <a:r>
              <a:t>workshops/w3/worksheet.md</a:t>
            </a:r>
          </a:p>
          <a:p>
            <a:r>
              <a:t>workshops/w3/answer-key.md</a:t>
            </a:r>
          </a:p>
          <a:p>
            <a:r>
              <a:t>docs/workshops/delivery-plan.md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 / 35–41 min</a:t>
            </a:r>
          </a:p>
          <a:p>
            <a:r>
              <a:t>Read the actual proposal before sending the decision. The CLI's reviewer label is a lab decision signal; production approval needs authenticated and authorized reviewers bound to the exact proposal. Inspect the resulting payment rather than trusting only the workflow's final text.</a:t>
            </a:r>
          </a:p>
          <a:p/>
          <a:p>
            <a:r>
              <a:t>SOURCE FILES (repository root):</a:t>
            </a:r>
          </a:p>
          <a:p>
            <a:r>
              <a:t>docs/workshops/workshop-3-story.md</a:t>
            </a:r>
          </a:p>
          <a:p>
            <a:r>
              <a:t>workshops/w3/worksheet.md</a:t>
            </a:r>
          </a:p>
          <a:p>
            <a:r>
              <a:t>workshops/w3/answer-key.md</a:t>
            </a:r>
          </a:p>
          <a:p>
            <a:r>
              <a:t>docs/workshops/delivery-plan.md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 / 35–41 min</a:t>
            </a:r>
          </a:p>
          <a:p>
            <a:r>
              <a:t>Use actual ledger records and the stable key. A separate rejection run should close with no payment. The optional case-502 replay has a missing-account tool error: show that error if used; it is not evidence of a fully successful investigation.</a:t>
            </a:r>
          </a:p>
          <a:p/>
          <a:p>
            <a:r>
              <a:t>SOURCE FILES (repository root):</a:t>
            </a:r>
          </a:p>
          <a:p>
            <a:r>
              <a:t>docs/workshops/workshop-3-story.md</a:t>
            </a:r>
          </a:p>
          <a:p>
            <a:r>
              <a:t>workshops/w3/worksheet.md</a:t>
            </a:r>
          </a:p>
          <a:p>
            <a:r>
              <a:t>workshops/w3/answer-key.md</a:t>
            </a:r>
          </a:p>
          <a:p>
            <a:r>
              <a:t>docs/workshops/delivery-plan.md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 / 41–45 min</a:t>
            </a:r>
          </a:p>
          <a:p>
            <a:r>
              <a:t>Ask participants which state owner closes each window. Completed activity results replay from history; unfinished activity work can repeat. A brief crash demonstration does not experimentally prove weeks of availability.</a:t>
            </a:r>
          </a:p>
          <a:p/>
          <a:p>
            <a:r>
              <a:t>SOURCE FILES (repository root):</a:t>
            </a:r>
          </a:p>
          <a:p>
            <a:r>
              <a:t>docs/workshops/workshop-3-story.md</a:t>
            </a:r>
          </a:p>
          <a:p>
            <a:r>
              <a:t>workshops/w3/worksheet.md</a:t>
            </a:r>
          </a:p>
          <a:p>
            <a:r>
              <a:t>workshops/w3/answer-key.md</a:t>
            </a:r>
          </a:p>
          <a:p>
            <a:r>
              <a:t>docs/workshops/delivery-plan.md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 / 41–45 min</a:t>
            </a:r>
          </a:p>
          <a:p>
            <a:r>
              <a:t>Do not describe the lab as a production multi-agent deployment or claim unfinished LangGraph steps are checkpointed. Invite participants to name a process in their organization that outlasts a request/response session.</a:t>
            </a:r>
          </a:p>
          <a:p/>
          <a:p>
            <a:r>
              <a:t>SOURCE FILES (repository root):</a:t>
            </a:r>
          </a:p>
          <a:p>
            <a:r>
              <a:t>docs/workshops/workshop-3-story.md</a:t>
            </a:r>
          </a:p>
          <a:p>
            <a:r>
              <a:t>workshops/w3/worksheet.md</a:t>
            </a:r>
          </a:p>
          <a:p>
            <a:r>
              <a:t>workshops/w3/answer-key.md</a:t>
            </a:r>
          </a:p>
          <a:p>
            <a:r>
              <a:t>docs/workshops/delivery-plan.md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18 / 41–45 min</a:t>
            </a:r>
          </a:p>
          <a:p>
            <a:r>
              <a:t>Return to the opening failure predictions. Have pairs explain where the proposal lived during the worker outage and how the bank avoided a duplicate business effect. Bridge to deliberate boundary testing and delegation.</a:t>
            </a:r>
          </a:p>
          <a:p/>
          <a:p>
            <a:r>
              <a:t>SOURCE FILES (repository root):</a:t>
            </a:r>
          </a:p>
          <a:p>
            <a:r>
              <a:t>docs/workshops/workshop-3-story.md</a:t>
            </a:r>
          </a:p>
          <a:p>
            <a:r>
              <a:t>workshops/w3/worksheet.md</a:t>
            </a:r>
          </a:p>
          <a:p>
            <a:r>
              <a:t>workshops/w3/answer-key.md</a:t>
            </a:r>
          </a:p>
          <a:p>
            <a:r>
              <a:t>docs/workshops/delivery-plan.md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19 / Reference / outside timed delivery</a:t>
            </a:r>
          </a:p>
          <a:p>
            <a:r>
              <a:t>Setup: ./scripts/workshop pull w3; ./scripts/workshop switch w3; ./scripts/workshop verify w3. Automated rehearsal: .venv/bin/python workshops/w3/rehearsal_w3.py. It deletes local Temporal SQLite history and resets seeded banking data; never run casually during the manual exercise. Evidence: workshops/w3/evidence/rehearsal-evidence.json. See the worksheet and participant infrastructure guide for complete preparation.</a:t>
            </a:r>
          </a:p>
          <a:p/>
          <a:p>
            <a:r>
              <a:t>SOURCE FILES (repository root):</a:t>
            </a:r>
          </a:p>
          <a:p>
            <a:r>
              <a:t>docs/workshops/workshop-3-story.md</a:t>
            </a:r>
          </a:p>
          <a:p>
            <a:r>
              <a:t>workshops/w3/worksheet.md</a:t>
            </a:r>
          </a:p>
          <a:p>
            <a:r>
              <a:t>workshops/w3/answer-key.md</a:t>
            </a:r>
          </a:p>
          <a:p>
            <a:r>
              <a:t>docs/workshops/delivery-plan.md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81000"/>
            <a:ext cx="457200" cy="50800"/>
          </a:xfrm>
          <a:prstGeom prst="rect">
            <a:avLst/>
          </a:prstGeom>
          <a:solidFill>
            <a:srgbClr val="A9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8400" y="279400"/>
            <a:ext cx="10287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9B8FF"/>
                </a:solidFill>
                <a:latin typeface="DejaVu Sans"/>
              </a:defRPr>
            </a:pPr>
            <a:r>
              <a:t>WORKSHOP 3  /  0–6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64700" y="1079500"/>
            <a:ext cx="1981200" cy="4013200"/>
          </a:xfrm>
          <a:prstGeom prst="roundRect">
            <a:avLst>
              <a:gd name="adj" fmla="val 6000"/>
            </a:avLst>
          </a:prstGeom>
          <a:solidFill>
            <a:srgbClr val="193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31400" y="1498600"/>
            <a:ext cx="1600200" cy="17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0250"/>
              </a:lnSpc>
              <a:spcBef>
                <a:spcPts val="0"/>
              </a:spcBef>
              <a:spcAft>
                <a:spcPts val="0"/>
              </a:spcAft>
              <a:defRPr sz="8200" b="1">
                <a:solidFill>
                  <a:srgbClr val="A9B8FF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31400" y="3505200"/>
            <a:ext cx="1562100" cy="127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3125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FFFFFF"/>
                </a:solidFill>
                <a:latin typeface="DejaVu Sans"/>
              </a:defRPr>
            </a:pPr>
            <a:r>
              <a:t>45</a:t>
            </a:r>
          </a:p>
          <a:p>
            <a:pPr>
              <a:lnSpc>
                <a:spcPts val="3125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FFFFFF"/>
                </a:solidFill>
                <a:latin typeface="DejaVu Sans"/>
              </a:defRPr>
            </a:pPr>
            <a:r>
              <a:t>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371600"/>
            <a:ext cx="8661400" cy="256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5290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FFFFF"/>
                </a:solidFill>
                <a:latin typeface="DejaVu Sans"/>
              </a:defRPr>
            </a:pPr>
            <a:r>
              <a:t>The resolver that</a:t>
            </a:r>
          </a:p>
          <a:p>
            <a:pPr>
              <a:lnSpc>
                <a:spcPts val="5290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FFFFF"/>
                </a:solidFill>
                <a:latin typeface="DejaVu Sans"/>
              </a:defRPr>
            </a:pPr>
            <a:r>
              <a:t>remembered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800" y="4152900"/>
            <a:ext cx="8382000" cy="129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C1D5D8"/>
                </a:solidFill>
                <a:latin typeface="DejaVu Sans"/>
              </a:defRPr>
            </a:pPr>
            <a:r>
              <a:t>Architecting the Agentic Enterprise: Middleware, Durable</a:t>
            </a:r>
          </a:p>
          <a:p>
            <a:pPr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C1D5D8"/>
                </a:solidFill>
                <a:latin typeface="DejaVu Sans"/>
              </a:defRPr>
            </a:pPr>
            <a:r>
              <a:t>State, and Event-Driven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800" y="5829300"/>
            <a:ext cx="109601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A9B8FF"/>
                </a:solidFill>
                <a:latin typeface="DejaVu Sans"/>
              </a:defRPr>
            </a:pPr>
            <a:r>
              <a:t>Investigate • Pause • Recover • Settle once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6540500"/>
            <a:ext cx="889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AC0C6"/>
                </a:solidFill>
                <a:latin typeface="DejaVu Sans"/>
              </a:defRPr>
            </a:pPr>
            <a:r>
              <a:t>FLO BANK  /  WORKSHOP 3  /  FICTIONAL 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56900" y="6527800"/>
            <a:ext cx="952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AC0C6"/>
                </a:solidFill>
                <a:latin typeface="DejaVu Sans"/>
              </a:defRPr>
            </a:pPr>
            <a:r>
              <a:t>01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81000"/>
            <a:ext cx="457200" cy="50800"/>
          </a:xfrm>
          <a:prstGeom prst="rect">
            <a:avLst/>
          </a:prstGeom>
          <a:solidFill>
            <a:srgbClr val="00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8400" y="279400"/>
            <a:ext cx="10287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79"/>
                </a:solidFill>
                <a:latin typeface="DejaVu Sans"/>
              </a:defRPr>
            </a:pPr>
            <a:r>
              <a:t>WORKSHOP 3  /  0–6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25500"/>
            <a:ext cx="11125200" cy="101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3419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63640"/>
                </a:solidFill>
                <a:latin typeface="DejaVu Sans"/>
              </a:defRPr>
            </a:pPr>
            <a:r>
              <a:t>The 45-minute route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2146300"/>
            <a:ext cx="11125200" cy="508000"/>
          </a:xfrm>
          <a:prstGeom prst="rect">
            <a:avLst/>
          </a:prstGeom>
          <a:solidFill>
            <a:srgbClr val="10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273300"/>
            <a:ext cx="1030223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DejaVu Sans"/>
              </a:defRPr>
            </a:pPr>
            <a:r>
              <a:t>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20824" y="2273300"/>
            <a:ext cx="4590288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DejaVu Sans"/>
              </a:defRPr>
            </a:pPr>
            <a:r>
              <a:t>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15911" y="2273300"/>
            <a:ext cx="4590288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DejaVu Sans"/>
              </a:defRPr>
            </a:pPr>
            <a:r>
              <a:t>Evidence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400" y="2654300"/>
            <a:ext cx="11125200" cy="4974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1030223" cy="3831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0–6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0824" y="2743200"/>
            <a:ext cx="4590288" cy="3831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Read the dispute; declare 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15911" y="2743200"/>
            <a:ext cx="4590288" cy="3831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Case facts and mode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3151716"/>
            <a:ext cx="11125200" cy="497416"/>
          </a:xfrm>
          <a:prstGeom prst="rect">
            <a:avLst/>
          </a:prstGeom>
          <a:solidFill>
            <a:srgbClr val="E9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40616"/>
            <a:ext cx="1030223" cy="3831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6–13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0824" y="3240616"/>
            <a:ext cx="4590288" cy="3831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Assign state owners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5911" y="3240616"/>
            <a:ext cx="4590288" cy="3831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Workflow + payment identities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3400" y="3649133"/>
            <a:ext cx="11125200" cy="4974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38033"/>
            <a:ext cx="1030223" cy="3831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13–23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0824" y="3738033"/>
            <a:ext cx="4590288" cy="3831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Investigate and pause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5911" y="3738033"/>
            <a:ext cx="4590288" cy="3831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Graph reads + validated proposal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" y="4146550"/>
            <a:ext cx="11125200" cy="497416"/>
          </a:xfrm>
          <a:prstGeom prst="rect">
            <a:avLst/>
          </a:prstGeom>
          <a:solidFill>
            <a:srgbClr val="E9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235450"/>
            <a:ext cx="1030223" cy="3831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23–35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20824" y="4235450"/>
            <a:ext cx="4590288" cy="3831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Crash and redeliver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15911" y="4235450"/>
            <a:ext cx="4590288" cy="3831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Same pending workflow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3400" y="4643966"/>
            <a:ext cx="11125200" cy="4974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732866"/>
            <a:ext cx="1030223" cy="3831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35–41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20824" y="4732866"/>
            <a:ext cx="4590288" cy="3831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Approve and inspect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5911" y="4732866"/>
            <a:ext cx="4590288" cy="3831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Exactly one settlement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3400" y="5141383"/>
            <a:ext cx="11125200" cy="497416"/>
          </a:xfrm>
          <a:prstGeom prst="rect">
            <a:avLst/>
          </a:prstGeom>
          <a:solidFill>
            <a:srgbClr val="E9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230283"/>
            <a:ext cx="1030223" cy="3831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41–45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20824" y="5230283"/>
            <a:ext cx="4590288" cy="3831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Review limits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5911" y="5230283"/>
            <a:ext cx="4590288" cy="3831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Durability responsibilities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3400" y="5854700"/>
            <a:ext cx="11125200" cy="546100"/>
          </a:xfrm>
          <a:prstGeom prst="roundRect">
            <a:avLst>
              <a:gd name="adj" fmla="val 6000"/>
            </a:avLst>
          </a:prstGeom>
          <a:solidFill>
            <a:srgbClr val="E0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8500" y="5969000"/>
            <a:ext cx="107696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3640"/>
                </a:solidFill>
                <a:latin typeface="DejaVu Sans"/>
              </a:defRPr>
            </a:pPr>
            <a:r>
              <a:t>Follow the worksheet; record the actual evidence from your run.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3400" y="6540500"/>
            <a:ext cx="889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36B73"/>
                </a:solidFill>
                <a:latin typeface="DejaVu Sans"/>
              </a:defRPr>
            </a:pPr>
            <a:r>
              <a:t>FLO BANK  /  WORKSHOP 3  /  FICTIONAL LAB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56900" y="6527800"/>
            <a:ext cx="952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B73"/>
                </a:solidFill>
                <a:latin typeface="DejaVu Sans"/>
              </a:defRPr>
            </a:pPr>
            <a:r>
              <a:t>02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81000"/>
            <a:ext cx="457200" cy="50800"/>
          </a:xfrm>
          <a:prstGeom prst="rect">
            <a:avLst/>
          </a:prstGeom>
          <a:solidFill>
            <a:srgbClr val="00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8400" y="279400"/>
            <a:ext cx="10287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79"/>
                </a:solidFill>
                <a:latin typeface="DejaVu Sans"/>
              </a:defRPr>
            </a:pPr>
            <a:r>
              <a:t>WORKSHOP 3  /  0–6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25500"/>
            <a:ext cx="11125200" cy="101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3419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63640"/>
                </a:solidFill>
                <a:latin typeface="DejaVu Sans"/>
              </a:defRPr>
            </a:pPr>
            <a:r>
              <a:t>The customer leaves. The work continues.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400" y="2146300"/>
            <a:ext cx="3539066" cy="349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4700" y="2400300"/>
            <a:ext cx="381000" cy="50800"/>
          </a:xfrm>
          <a:prstGeom prst="rect">
            <a:avLst/>
          </a:prstGeom>
          <a:solidFill>
            <a:srgbClr val="00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700" y="2679700"/>
            <a:ext cx="3056466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79"/>
                </a:solidFill>
                <a:latin typeface="DejaVu Sans"/>
              </a:defRPr>
            </a:pPr>
            <a:r>
              <a:t>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700" y="3467100"/>
            <a:ext cx="3056466" cy="2006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case-501 reports a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disputed charge.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Investigate before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deciding entitlement.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6466" y="2146300"/>
            <a:ext cx="3539066" cy="349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67766" y="2400300"/>
            <a:ext cx="381000" cy="50800"/>
          </a:xfrm>
          <a:prstGeom prst="rect">
            <a:avLst/>
          </a:prstGeom>
          <a:solidFill>
            <a:srgbClr val="00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7766" y="2679700"/>
            <a:ext cx="3056466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79"/>
                </a:solidFill>
                <a:latin typeface="DejaVu Sans"/>
              </a:defRPr>
            </a:pPr>
            <a:r>
              <a:t>PROPOSAL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7766" y="3467100"/>
            <a:ext cx="3056466" cy="2006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The resolver gathers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governed evidence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and proposes a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resolution.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533" y="2146300"/>
            <a:ext cx="3539066" cy="349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0833" y="2400300"/>
            <a:ext cx="381000" cy="50800"/>
          </a:xfrm>
          <a:prstGeom prst="rect">
            <a:avLst/>
          </a:prstGeom>
          <a:solidFill>
            <a:srgbClr val="00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0833" y="2679700"/>
            <a:ext cx="3056466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79"/>
                </a:solidFill>
                <a:latin typeface="DejaVu Sans"/>
              </a:defRPr>
            </a:pPr>
            <a:r>
              <a:t>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0833" y="3467100"/>
            <a:ext cx="3056466" cy="2006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Approval leads to one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settlement; rejection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creates no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settlement.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3400" y="5854700"/>
            <a:ext cx="11125200" cy="546100"/>
          </a:xfrm>
          <a:prstGeom prst="roundRect">
            <a:avLst>
              <a:gd name="adj" fmla="val 6000"/>
            </a:avLst>
          </a:prstGeom>
          <a:solidFill>
            <a:srgbClr val="E0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8500" y="5969000"/>
            <a:ext cx="107696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3640"/>
                </a:solidFill>
                <a:latin typeface="DejaVu Sans"/>
              </a:defRPr>
            </a:pPr>
            <a:r>
              <a:t>The business process must outlive both the chat and the worker.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6540500"/>
            <a:ext cx="889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36B73"/>
                </a:solidFill>
                <a:latin typeface="DejaVu Sans"/>
              </a:defRPr>
            </a:pPr>
            <a:r>
              <a:t>FLO BANK  /  WORKSHOP 3  /  FICTIONAL LAB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56900" y="6527800"/>
            <a:ext cx="952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B73"/>
                </a:solidFill>
                <a:latin typeface="DejaVu Sans"/>
              </a:defRPr>
            </a:pPr>
            <a:r>
              <a:t>03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81000"/>
            <a:ext cx="457200" cy="50800"/>
          </a:xfrm>
          <a:prstGeom prst="rect">
            <a:avLst/>
          </a:prstGeom>
          <a:solidFill>
            <a:srgbClr val="00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8400" y="279400"/>
            <a:ext cx="10287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79"/>
                </a:solidFill>
                <a:latin typeface="DejaVu Sans"/>
              </a:defRPr>
            </a:pPr>
            <a:r>
              <a:t>WORKSHOP 3  /  0–6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25500"/>
            <a:ext cx="11125200" cy="101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3419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63640"/>
                </a:solidFill>
                <a:latin typeface="DejaVu Sans"/>
              </a:defRPr>
            </a:pPr>
            <a:r>
              <a:t>Declare how the investigation is running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400" y="2146300"/>
            <a:ext cx="3539066" cy="349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4700" y="2400300"/>
            <a:ext cx="381000" cy="50800"/>
          </a:xfrm>
          <a:prstGeom prst="rect">
            <a:avLst/>
          </a:prstGeom>
          <a:solidFill>
            <a:srgbClr val="00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700" y="2679700"/>
            <a:ext cx="3056466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79"/>
                </a:solidFill>
                <a:latin typeface="DejaVu Sans"/>
              </a:defRPr>
            </a:pPr>
            <a:r>
              <a:t>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700" y="3467100"/>
            <a:ext cx="3056466" cy="2006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Compiled LangGraph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calls the configured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model through Gate 1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and selects allowed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reads.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6466" y="2146300"/>
            <a:ext cx="3539066" cy="349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67766" y="2400300"/>
            <a:ext cx="381000" cy="50800"/>
          </a:xfrm>
          <a:prstGeom prst="rect">
            <a:avLst/>
          </a:prstGeom>
          <a:solidFill>
            <a:srgbClr val="00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7766" y="2679700"/>
            <a:ext cx="3056466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79"/>
                </a:solidFill>
                <a:latin typeface="DejaVu Sans"/>
              </a:defRPr>
            </a:pPr>
            <a:r>
              <a:t>OFFLINE REPLAY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7766" y="3467100"/>
            <a:ext cx="3056466" cy="2006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Fixtures drive the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same graph;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governed reads and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banking controls still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execute.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533" y="2146300"/>
            <a:ext cx="3539066" cy="349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0833" y="2400300"/>
            <a:ext cx="381000" cy="50800"/>
          </a:xfrm>
          <a:prstGeom prst="rect">
            <a:avLst/>
          </a:prstGeom>
          <a:solidFill>
            <a:srgbClr val="00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0833" y="2679700"/>
            <a:ext cx="3056466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79"/>
                </a:solidFill>
                <a:latin typeface="DejaVu Sans"/>
              </a:defRPr>
            </a:pPr>
            <a:r>
              <a:t>HONEST LABELS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0833" y="3467100"/>
            <a:ext cx="3056466" cy="2006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A provider failure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remains a failure.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Recorded text is not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newly verified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evidence.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3400" y="5854700"/>
            <a:ext cx="11125200" cy="546100"/>
          </a:xfrm>
          <a:prstGeom prst="roundRect">
            <a:avLst>
              <a:gd name="adj" fmla="val 6000"/>
            </a:avLst>
          </a:prstGeom>
          <a:solidFill>
            <a:srgbClr val="E0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8500" y="5969000"/>
            <a:ext cx="107696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3640"/>
                </a:solidFill>
                <a:latin typeface="DejaVu Sans"/>
              </a:defRPr>
            </a:pPr>
            <a:r>
              <a:t>Replay case-501 proposes 75,000 paise / ₹750 to acc-101.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6540500"/>
            <a:ext cx="889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36B73"/>
                </a:solidFill>
                <a:latin typeface="DejaVu Sans"/>
              </a:defRPr>
            </a:pPr>
            <a:r>
              <a:t>FLO BANK  /  WORKSHOP 3  /  FICTIONAL LAB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56900" y="6527800"/>
            <a:ext cx="952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B73"/>
                </a:solidFill>
                <a:latin typeface="DejaVu Sans"/>
              </a:defRPr>
            </a:pPr>
            <a:r>
              <a:t>04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81000"/>
            <a:ext cx="457200" cy="50800"/>
          </a:xfrm>
          <a:prstGeom prst="rect">
            <a:avLst/>
          </a:prstGeom>
          <a:solidFill>
            <a:srgbClr val="00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8400" y="279400"/>
            <a:ext cx="10287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79"/>
                </a:solidFill>
                <a:latin typeface="DejaVu Sans"/>
              </a:defRPr>
            </a:pPr>
            <a:r>
              <a:t>WORKSHOP 3  /  6–13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25500"/>
            <a:ext cx="11125200" cy="101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3419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63640"/>
                </a:solidFill>
                <a:latin typeface="DejaVu Sans"/>
              </a:defRPr>
            </a:pPr>
            <a:r>
              <a:t>Give every kind of state an owner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2146300"/>
            <a:ext cx="11125200" cy="508000"/>
          </a:xfrm>
          <a:prstGeom prst="rect">
            <a:avLst/>
          </a:prstGeom>
          <a:solidFill>
            <a:srgbClr val="10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273300"/>
            <a:ext cx="303276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DejaVu Sans"/>
              </a:defRPr>
            </a:pPr>
            <a:r>
              <a:t>Component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273300"/>
            <a:ext cx="3700272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DejaVu Sans"/>
              </a:defRPr>
            </a:pPr>
            <a:r>
              <a:t>Owns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28432" y="2273300"/>
            <a:ext cx="3477768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DejaVu Sans"/>
              </a:defRPr>
            </a:pPr>
            <a:r>
              <a:t>Recovery role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400" y="2654300"/>
            <a:ext cx="11125200" cy="746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3032760" cy="631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Kafka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743200"/>
            <a:ext cx="3700272" cy="631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Case-event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2" y="2743200"/>
            <a:ext cx="3477768" cy="631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Redelivery is 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3400425"/>
            <a:ext cx="11125200" cy="746125"/>
          </a:xfrm>
          <a:prstGeom prst="rect">
            <a:avLst/>
          </a:prstGeom>
          <a:solidFill>
            <a:srgbClr val="E9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89325"/>
            <a:ext cx="3032760" cy="631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Temporal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489325"/>
            <a:ext cx="3700272" cy="631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Durable process 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432" y="3489325"/>
            <a:ext cx="3477768" cy="631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Progress, approval, activity</a:t>
            </a:r>
          </a:p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results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3400" y="4146550"/>
            <a:ext cx="11125200" cy="746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235450"/>
            <a:ext cx="3032760" cy="631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LangGraph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235450"/>
            <a:ext cx="3700272" cy="631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Bounded investigation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8432" y="4235450"/>
            <a:ext cx="3477768" cy="631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Reasoning and tools in an</a:t>
            </a:r>
          </a:p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activity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" y="4892675"/>
            <a:ext cx="11125200" cy="746125"/>
          </a:xfrm>
          <a:prstGeom prst="rect">
            <a:avLst/>
          </a:prstGeom>
          <a:solidFill>
            <a:srgbClr val="E9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81575"/>
            <a:ext cx="3032760" cy="631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Core Banking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4981575"/>
            <a:ext cx="3700272" cy="631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Business records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8432" y="4981575"/>
            <a:ext cx="3477768" cy="631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Rules and payment</a:t>
            </a:r>
          </a:p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idempotency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3400" y="5854700"/>
            <a:ext cx="11125200" cy="546100"/>
          </a:xfrm>
          <a:prstGeom prst="roundRect">
            <a:avLst>
              <a:gd name="adj" fmla="val 6000"/>
            </a:avLst>
          </a:prstGeom>
          <a:solidFill>
            <a:srgbClr val="E0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500" y="5969000"/>
            <a:ext cx="107696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3640"/>
                </a:solidFill>
                <a:latin typeface="DejaVu Sans"/>
              </a:defRPr>
            </a:pPr>
            <a:r>
              <a:t>Event delivery, workflow progress and financial effects need separate controls.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6540500"/>
            <a:ext cx="889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36B73"/>
                </a:solidFill>
                <a:latin typeface="DejaVu Sans"/>
              </a:defRPr>
            </a:pPr>
            <a:r>
              <a:t>FLO BANK  /  WORKSHOP 3  /  FICTIONAL LAB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56900" y="6527800"/>
            <a:ext cx="952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B73"/>
                </a:solidFill>
                <a:latin typeface="DejaVu Sans"/>
              </a:defRPr>
            </a:pPr>
            <a:r>
              <a:t>05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81000"/>
            <a:ext cx="457200" cy="50800"/>
          </a:xfrm>
          <a:prstGeom prst="rect">
            <a:avLst/>
          </a:prstGeom>
          <a:solidFill>
            <a:srgbClr val="00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8400" y="279400"/>
            <a:ext cx="10287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79"/>
                </a:solidFill>
                <a:latin typeface="DejaVu Sans"/>
              </a:defRPr>
            </a:pPr>
            <a:r>
              <a:t>WORKSHOP 3  /  6–13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25500"/>
            <a:ext cx="11125200" cy="101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3419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63640"/>
                </a:solidFill>
                <a:latin typeface="DejaVu Sans"/>
              </a:defRPr>
            </a:pPr>
            <a:r>
              <a:t>Trace the durable business 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400" y="2451100"/>
            <a:ext cx="2001520" cy="307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900" y="2654300"/>
            <a:ext cx="1620520" cy="482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79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3289300"/>
            <a:ext cx="1620520" cy="825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63640"/>
                </a:solidFill>
                <a:latin typeface="DejaVu Sans"/>
              </a:defRPr>
            </a:pPr>
            <a:r>
              <a:t>Kafka event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4140200"/>
            <a:ext cx="1620520" cy="1257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Deliver case</a:t>
            </a:r>
          </a:p>
          <a:p>
            <a:pPr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3020" y="3556000"/>
            <a:ext cx="254000" cy="33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007F79"/>
                </a:solidFill>
                <a:latin typeface="DejaVu San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14320" y="2451100"/>
            <a:ext cx="2001520" cy="307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04820" y="2654300"/>
            <a:ext cx="1620520" cy="482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79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4820" y="3289300"/>
            <a:ext cx="1620520" cy="825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63640"/>
                </a:solidFill>
                <a:latin typeface="DejaVu Sans"/>
              </a:defRPr>
            </a:pPr>
            <a:r>
              <a:t>Temporal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4820" y="4140200"/>
            <a:ext cx="1620520" cy="1257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Start or reuse</a:t>
            </a:r>
          </a:p>
          <a:p>
            <a:pPr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53940" y="3556000"/>
            <a:ext cx="254000" cy="33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007F79"/>
                </a:solidFill>
                <a:latin typeface="DejaVu San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95240" y="2451100"/>
            <a:ext cx="2001520" cy="307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85740" y="2654300"/>
            <a:ext cx="1620520" cy="482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79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5740" y="3289300"/>
            <a:ext cx="1620520" cy="825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163640"/>
                </a:solidFill>
                <a:latin typeface="DejaVu Sans"/>
              </a:defRPr>
            </a:pPr>
            <a:r>
              <a:t>Investigation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5740" y="4140200"/>
            <a:ext cx="1620520" cy="1257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LangGraph +</a:t>
            </a:r>
          </a:p>
          <a:p>
            <a:pPr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governed</a:t>
            </a:r>
          </a:p>
          <a:p>
            <a:pPr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reads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4859" y="3556000"/>
            <a:ext cx="254000" cy="33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007F79"/>
                </a:solidFill>
                <a:latin typeface="DejaVu San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76159" y="2451100"/>
            <a:ext cx="2001520" cy="307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6659" y="2654300"/>
            <a:ext cx="1620520" cy="482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79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6659" y="3289300"/>
            <a:ext cx="1620520" cy="825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63640"/>
                </a:solidFill>
                <a:latin typeface="DejaVu Sans"/>
              </a:defRPr>
            </a:pPr>
            <a:r>
              <a:t>Approval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6659" y="4140200"/>
            <a:ext cx="1620520" cy="1257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Persist the</a:t>
            </a:r>
          </a:p>
          <a:p>
            <a:pPr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decision wait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5780" y="3556000"/>
            <a:ext cx="254000" cy="33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007F79"/>
                </a:solidFill>
                <a:latin typeface="DejaVu San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57080" y="2451100"/>
            <a:ext cx="2001520" cy="307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47580" y="2654300"/>
            <a:ext cx="1620520" cy="482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79"/>
                </a:solidFill>
                <a:latin typeface="DejaVu San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7580" y="3289300"/>
            <a:ext cx="1620520" cy="825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63640"/>
                </a:solidFill>
                <a:latin typeface="DejaVu Sans"/>
              </a:defRPr>
            </a:pPr>
            <a:r>
              <a:t>Settlement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47580" y="4140200"/>
            <a:ext cx="1620520" cy="1257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Gate 3 +</a:t>
            </a:r>
          </a:p>
          <a:p>
            <a:pPr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idempotent</a:t>
            </a:r>
          </a:p>
          <a:p>
            <a:pPr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payment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3400" y="5854700"/>
            <a:ext cx="11125200" cy="546100"/>
          </a:xfrm>
          <a:prstGeom prst="roundRect">
            <a:avLst>
              <a:gd name="adj" fmla="val 6000"/>
            </a:avLst>
          </a:prstGeom>
          <a:solidFill>
            <a:srgbClr val="E0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8500" y="5969000"/>
            <a:ext cx="107696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3640"/>
                </a:solidFill>
                <a:latin typeface="DejaVu Sans"/>
              </a:defRPr>
            </a:pPr>
            <a:r>
              <a:t>Model calls and network I/O run in activities, outside deterministic workflow code.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400" y="6540500"/>
            <a:ext cx="889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36B73"/>
                </a:solidFill>
                <a:latin typeface="DejaVu Sans"/>
              </a:defRPr>
            </a:pPr>
            <a:r>
              <a:t>FLO BANK  /  WORKSHOP 3  /  FICTIONAL LAB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56900" y="6527800"/>
            <a:ext cx="952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B73"/>
                </a:solidFill>
                <a:latin typeface="DejaVu Sans"/>
              </a:defRPr>
            </a:pPr>
            <a:r>
              <a:t>06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81000"/>
            <a:ext cx="457200" cy="50800"/>
          </a:xfrm>
          <a:prstGeom prst="rect">
            <a:avLst/>
          </a:prstGeom>
          <a:solidFill>
            <a:srgbClr val="00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8400" y="279400"/>
            <a:ext cx="10287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79"/>
                </a:solidFill>
                <a:latin typeface="DejaVu Sans"/>
              </a:defRPr>
            </a:pPr>
            <a:r>
              <a:t>WORKSHOP 3  /  6–13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25500"/>
            <a:ext cx="11125200" cy="101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3419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63640"/>
                </a:solidFill>
                <a:latin typeface="DejaVu Sans"/>
              </a:defRPr>
            </a:pPr>
            <a:r>
              <a:t>Stable identity closes two duplicate windows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400" y="2146300"/>
            <a:ext cx="3539066" cy="349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4700" y="2400300"/>
            <a:ext cx="381000" cy="50800"/>
          </a:xfrm>
          <a:prstGeom prst="rect">
            <a:avLst/>
          </a:prstGeom>
          <a:solidFill>
            <a:srgbClr val="00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700" y="2679700"/>
            <a:ext cx="3056466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79"/>
                </a:solidFill>
                <a:latin typeface="DejaVu Sans"/>
              </a:defRPr>
            </a:pPr>
            <a:r>
              <a:t>BUSINESS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700" y="3467100"/>
            <a:ext cx="3056466" cy="2006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case-501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The source identity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stays stable across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event redelivery.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6466" y="2146300"/>
            <a:ext cx="3539066" cy="349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67766" y="2400300"/>
            <a:ext cx="381000" cy="50800"/>
          </a:xfrm>
          <a:prstGeom prst="rect">
            <a:avLst/>
          </a:prstGeom>
          <a:solidFill>
            <a:srgbClr val="00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7766" y="2679700"/>
            <a:ext cx="3056466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79"/>
                </a:solidFill>
                <a:latin typeface="DejaVu Sans"/>
              </a:defRPr>
            </a:pPr>
            <a:r>
              <a:t>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7766" y="3467100"/>
            <a:ext cx="3056466" cy="2006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050" b="0">
                <a:solidFill>
                  <a:srgbClr val="163640"/>
                </a:solidFill>
                <a:latin typeface="DejaVu Sans"/>
              </a:defRPr>
            </a:pPr>
            <a:r>
              <a:t>dispute-case-case-501</a:t>
            </a:r>
          </a:p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050" b="0">
                <a:solidFill>
                  <a:srgbClr val="163640"/>
                </a:solidFill>
                <a:latin typeface="DejaVu Sans"/>
              </a:defRPr>
            </a:pPr>
            <a:r>
              <a:t>A second event reuses</a:t>
            </a:r>
          </a:p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050" b="0">
                <a:solidFill>
                  <a:srgbClr val="163640"/>
                </a:solidFill>
                <a:latin typeface="DejaVu Sans"/>
              </a:defRPr>
            </a:pPr>
            <a:r>
              <a:t>the existing business</a:t>
            </a:r>
          </a:p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050" b="0">
                <a:solidFill>
                  <a:srgbClr val="163640"/>
                </a:solidFill>
                <a:latin typeface="DejaVu Sans"/>
              </a:defRPr>
            </a:pPr>
            <a:r>
              <a:t>process.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533" y="2146300"/>
            <a:ext cx="3539066" cy="349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0833" y="2400300"/>
            <a:ext cx="381000" cy="50800"/>
          </a:xfrm>
          <a:prstGeom prst="rect">
            <a:avLst/>
          </a:prstGeom>
          <a:solidFill>
            <a:srgbClr val="00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0833" y="2679700"/>
            <a:ext cx="3056466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79"/>
                </a:solidFill>
                <a:latin typeface="DejaVu Sans"/>
              </a:defRPr>
            </a:pPr>
            <a:r>
              <a:t>PAYMENT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0833" y="3467100"/>
            <a:ext cx="3056466" cy="2006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640"/>
                </a:solidFill>
                <a:latin typeface="DejaVu Sans"/>
              </a:defRPr>
            </a:pPr>
            <a:r>
              <a:t>settle-dispute-case-501</a:t>
            </a:r>
          </a:p>
          <a:p>
            <a:pPr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640"/>
                </a:solidFill>
                <a:latin typeface="DejaVu Sans"/>
              </a:defRPr>
            </a:pPr>
            <a:r>
              <a:t>A settlement retry</a:t>
            </a:r>
          </a:p>
          <a:p>
            <a:pPr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640"/>
                </a:solidFill>
                <a:latin typeface="DejaVu Sans"/>
              </a:defRPr>
            </a:pPr>
            <a:r>
              <a:t>reuses the business</a:t>
            </a:r>
          </a:p>
          <a:p>
            <a:pPr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640"/>
                </a:solidFill>
                <a:latin typeface="DejaVu Sans"/>
              </a:defRPr>
            </a:pPr>
            <a:r>
              <a:t>effect.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3400" y="5854700"/>
            <a:ext cx="11125200" cy="546100"/>
          </a:xfrm>
          <a:prstGeom prst="roundRect">
            <a:avLst>
              <a:gd name="adj" fmla="val 6000"/>
            </a:avLst>
          </a:prstGeom>
          <a:solidFill>
            <a:srgbClr val="E0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8500" y="5969000"/>
            <a:ext cx="107696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3640"/>
                </a:solidFill>
                <a:latin typeface="DejaVu Sans"/>
              </a:defRPr>
            </a:pPr>
            <a:r>
              <a:t>Commit the Kafka offset after Temporal accepts or confirms the matching workflow.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6540500"/>
            <a:ext cx="889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36B73"/>
                </a:solidFill>
                <a:latin typeface="DejaVu Sans"/>
              </a:defRPr>
            </a:pPr>
            <a:r>
              <a:t>FLO BANK  /  WORKSHOP 3  /  FICTIONAL LAB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56900" y="6527800"/>
            <a:ext cx="952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B73"/>
                </a:solidFill>
                <a:latin typeface="DejaVu Sans"/>
              </a:defRPr>
            </a:pPr>
            <a:r>
              <a:t>07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81000"/>
            <a:ext cx="457200" cy="50800"/>
          </a:xfrm>
          <a:prstGeom prst="rect">
            <a:avLst/>
          </a:prstGeom>
          <a:solidFill>
            <a:srgbClr val="00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8400" y="279400"/>
            <a:ext cx="10287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79"/>
                </a:solidFill>
                <a:latin typeface="DejaVu Sans"/>
              </a:defRPr>
            </a:pPr>
            <a:r>
              <a:t>WORKSHOP 3  /  13–23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25500"/>
            <a:ext cx="11125200" cy="101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3419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63640"/>
                </a:solidFill>
                <a:latin typeface="DejaVu Sans"/>
              </a:defRPr>
            </a:pPr>
            <a:r>
              <a:t>Investigation has a bounded tool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400" y="2451100"/>
            <a:ext cx="2001520" cy="307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900" y="2654300"/>
            <a:ext cx="1620520" cy="482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79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3289300"/>
            <a:ext cx="1620520" cy="825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63640"/>
                </a:solidFill>
                <a:latin typeface="DejaVu Sans"/>
              </a:defRPr>
            </a:pPr>
            <a:r>
              <a:t>Prepare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4140200"/>
            <a:ext cx="1620520" cy="1257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Case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3020" y="3556000"/>
            <a:ext cx="254000" cy="33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007F79"/>
                </a:solidFill>
                <a:latin typeface="DejaVu San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14320" y="2451100"/>
            <a:ext cx="2001520" cy="307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04820" y="2654300"/>
            <a:ext cx="1620520" cy="482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79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4820" y="3289300"/>
            <a:ext cx="1620520" cy="825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63640"/>
                </a:solidFill>
                <a:latin typeface="DejaVu Sans"/>
              </a:defRPr>
            </a:pPr>
            <a:r>
              <a:t>Ask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4820" y="4140200"/>
            <a:ext cx="1620520" cy="1257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Gate 1</a:t>
            </a:r>
          </a:p>
          <a:p>
            <a:pPr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inference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53940" y="3556000"/>
            <a:ext cx="254000" cy="33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007F79"/>
                </a:solidFill>
                <a:latin typeface="DejaVu San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95240" y="2451100"/>
            <a:ext cx="2001520" cy="307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85740" y="2654300"/>
            <a:ext cx="1620520" cy="482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79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5740" y="3289300"/>
            <a:ext cx="1620520" cy="825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63640"/>
                </a:solidFill>
                <a:latin typeface="DejaVu Sans"/>
              </a:defRPr>
            </a:pPr>
            <a:r>
              <a:t>Validate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63640"/>
                </a:solidFill>
                <a:latin typeface="DejaVu Sans"/>
              </a:defRPr>
            </a:pPr>
            <a: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5740" y="4140200"/>
            <a:ext cx="1620520" cy="1257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Allowlisted</a:t>
            </a:r>
          </a:p>
          <a:p>
            <a:pPr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read calls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4859" y="3556000"/>
            <a:ext cx="254000" cy="33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007F79"/>
                </a:solidFill>
                <a:latin typeface="DejaVu San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76159" y="2451100"/>
            <a:ext cx="2001520" cy="307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6659" y="2654300"/>
            <a:ext cx="1620520" cy="482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79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6659" y="3289300"/>
            <a:ext cx="1620520" cy="825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63640"/>
                </a:solidFill>
                <a:latin typeface="DejaVu Sans"/>
              </a:defRPr>
            </a:pPr>
            <a:r>
              <a:t>Read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63640"/>
                </a:solidFill>
                <a:latin typeface="DejaVu Sans"/>
              </a:defRPr>
            </a:pPr>
            <a: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6659" y="4140200"/>
            <a:ext cx="1620520" cy="1257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MCP → Gate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5780" y="3556000"/>
            <a:ext cx="254000" cy="33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007F79"/>
                </a:solidFill>
                <a:latin typeface="DejaVu San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57080" y="2451100"/>
            <a:ext cx="2001520" cy="307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47580" y="2654300"/>
            <a:ext cx="1620520" cy="482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79"/>
                </a:solidFill>
                <a:latin typeface="DejaVu San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7580" y="3289300"/>
            <a:ext cx="1620520" cy="825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63640"/>
                </a:solidFill>
                <a:latin typeface="DejaVu Sans"/>
              </a:defRPr>
            </a:pPr>
            <a:r>
              <a:t>Validate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63640"/>
                </a:solidFill>
                <a:latin typeface="DejaVu Sans"/>
              </a:defRPr>
            </a:pPr>
            <a:r>
              <a:t>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47580" y="4140200"/>
            <a:ext cx="1620520" cy="1257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Exact</a:t>
            </a:r>
          </a:p>
          <a:p>
            <a:pPr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proposal</a:t>
            </a:r>
          </a:p>
          <a:p>
            <a:pPr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schema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3400" y="5854700"/>
            <a:ext cx="11125200" cy="546100"/>
          </a:xfrm>
          <a:prstGeom prst="roundRect">
            <a:avLst>
              <a:gd name="adj" fmla="val 6000"/>
            </a:avLst>
          </a:prstGeom>
          <a:solidFill>
            <a:srgbClr val="E0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8500" y="5969000"/>
            <a:ext cx="107696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3640"/>
                </a:solidFill>
                <a:latin typeface="DejaVu Sans"/>
              </a:defRPr>
            </a:pPr>
            <a:r>
              <a:t>The loop may repeat within its bounds. Diagnosis has no payment or approval tool.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400" y="6540500"/>
            <a:ext cx="889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36B73"/>
                </a:solidFill>
                <a:latin typeface="DejaVu Sans"/>
              </a:defRPr>
            </a:pPr>
            <a:r>
              <a:t>FLO BANK  /  WORKSHOP 3  /  FICTIONAL LAB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56900" y="6527800"/>
            <a:ext cx="952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B73"/>
                </a:solidFill>
                <a:latin typeface="DejaVu Sans"/>
              </a:defRPr>
            </a:pPr>
            <a:r>
              <a:t>08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81000"/>
            <a:ext cx="457200" cy="50800"/>
          </a:xfrm>
          <a:prstGeom prst="rect">
            <a:avLst/>
          </a:prstGeom>
          <a:solidFill>
            <a:srgbClr val="00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8400" y="279400"/>
            <a:ext cx="10287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79"/>
                </a:solidFill>
                <a:latin typeface="DejaVu Sans"/>
              </a:defRPr>
            </a:pPr>
            <a:r>
              <a:t>WORKSHOP 3  /  13–23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25500"/>
            <a:ext cx="11125200" cy="101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3419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63640"/>
                </a:solidFill>
                <a:latin typeface="DejaVu Sans"/>
              </a:defRPr>
            </a:pPr>
            <a:r>
              <a:t>Demo: deliver a case and inspect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841500"/>
            <a:ext cx="11061700" cy="736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36B73"/>
                </a:solidFill>
                <a:latin typeface="DejaVu Sans"/>
              </a:defRPr>
            </a:pPr>
            <a:r>
              <a:t>Poll until the investigation reaches its approval wait.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3400" y="2730500"/>
            <a:ext cx="11125200" cy="2908300"/>
          </a:xfrm>
          <a:prstGeom prst="roundRect">
            <a:avLst>
              <a:gd name="adj" fmla="val 6000"/>
            </a:avLst>
          </a:prstGeom>
          <a:solidFill>
            <a:srgbClr val="10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700" y="2921000"/>
            <a:ext cx="104140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9B8FF"/>
                </a:solidFill>
                <a:latin typeface="DejaVu Sans"/>
              </a:defRPr>
            </a:pPr>
            <a:r>
              <a:t>TERMINAL  /  FROM REPOSITORY ROOT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700" y="3416300"/>
            <a:ext cx="10629900" cy="203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DejaVu Sans Mono"/>
              </a:defRPr>
            </a:pPr>
            <a:r>
              <a:t>.venv/bin/python workshops/w3/client.py emit \</a:t>
            </a:r>
          </a:p>
          <a:p>
            <a:pPr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DejaVu Sans Mono"/>
              </a:defRPr>
            </a:pPr>
            <a:r>
              <a:t>  --case-id case-501 --customer-id cust-8801</a:t>
            </a:r>
          </a:p>
          <a:p>
            <a:pPr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DejaVu Sans Mono"/>
              </a:defRPr>
            </a:pPr>
          </a:p>
          <a:p>
            <a:pPr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DejaVu Sans Mono"/>
              </a:defRPr>
            </a:pPr>
            <a:r>
              <a:t>.venv/bin/python workshops/w3/client.py query --case-id case-501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5854700"/>
            <a:ext cx="11125200" cy="546100"/>
          </a:xfrm>
          <a:prstGeom prst="roundRect">
            <a:avLst>
              <a:gd name="adj" fmla="val 6000"/>
            </a:avLst>
          </a:prstGeom>
          <a:solidFill>
            <a:srgbClr val="E0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500" y="5969000"/>
            <a:ext cx="107696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3640"/>
                </a:solidFill>
                <a:latin typeface="DejaVu Sans"/>
              </a:defRPr>
            </a:pPr>
            <a:r>
              <a:t>Inspect graph steps, selected tools, returned evidence and the actual proposal.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6540500"/>
            <a:ext cx="889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36B73"/>
                </a:solidFill>
                <a:latin typeface="DejaVu Sans"/>
              </a:defRPr>
            </a:pPr>
            <a:r>
              <a:t>FLO BANK  /  WORKSHOP 3  /  FICTIONAL 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56900" y="6527800"/>
            <a:ext cx="952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B73"/>
                </a:solidFill>
                <a:latin typeface="DejaVu Sans"/>
              </a:defRPr>
            </a:pPr>
            <a:r>
              <a:t>09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81000"/>
            <a:ext cx="457200" cy="50800"/>
          </a:xfrm>
          <a:prstGeom prst="rect">
            <a:avLst/>
          </a:prstGeom>
          <a:solidFill>
            <a:srgbClr val="00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8400" y="279400"/>
            <a:ext cx="10287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79"/>
                </a:solidFill>
                <a:latin typeface="DejaVu Sans"/>
              </a:defRPr>
            </a:pPr>
            <a:r>
              <a:t>WORKSHOP 3  /  13–23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25500"/>
            <a:ext cx="11125200" cy="101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3419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63640"/>
                </a:solidFill>
                <a:latin typeface="DejaVu Sans"/>
              </a:defRPr>
            </a:pPr>
            <a:r>
              <a:t>The agent proposes, then the process pauses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400" y="2146300"/>
            <a:ext cx="3539066" cy="349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4700" y="2400300"/>
            <a:ext cx="381000" cy="50800"/>
          </a:xfrm>
          <a:prstGeom prst="rect">
            <a:avLst/>
          </a:prstGeom>
          <a:solidFill>
            <a:srgbClr val="00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700" y="2679700"/>
            <a:ext cx="3056466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79"/>
                </a:solidFill>
                <a:latin typeface="DejaVu Sans"/>
              </a:defRPr>
            </a:pPr>
            <a:r>
              <a:t>PHASE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700" y="3467100"/>
            <a:ext cx="3056466" cy="2006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312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63640"/>
                </a:solidFill>
                <a:latin typeface="DejaVu Sans"/>
              </a:defRPr>
            </a:pPr>
            <a:r>
              <a:t>WAITING_FOR_APPROVAL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6466" y="2146300"/>
            <a:ext cx="3539066" cy="349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67766" y="2400300"/>
            <a:ext cx="381000" cy="50800"/>
          </a:xfrm>
          <a:prstGeom prst="rect">
            <a:avLst/>
          </a:prstGeom>
          <a:solidFill>
            <a:srgbClr val="00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7766" y="2679700"/>
            <a:ext cx="3056466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79"/>
                </a:solidFill>
                <a:latin typeface="DejaVu Sans"/>
              </a:defRPr>
            </a:pPr>
            <a:r>
              <a:t>PROPOSAL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7766" y="3467100"/>
            <a:ext cx="3056466" cy="2006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Replay: ₹750 to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acc-101. Record the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actual amount and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destination.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533" y="2146300"/>
            <a:ext cx="3539066" cy="349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0833" y="2400300"/>
            <a:ext cx="381000" cy="50800"/>
          </a:xfrm>
          <a:prstGeom prst="rect">
            <a:avLst/>
          </a:prstGeom>
          <a:solidFill>
            <a:srgbClr val="00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0833" y="2679700"/>
            <a:ext cx="3056466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79"/>
                </a:solidFill>
                <a:latin typeface="DejaVu Sans"/>
              </a:defRPr>
            </a:pPr>
            <a:r>
              <a:t>LEDGER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0833" y="3467100"/>
            <a:ext cx="3056466" cy="2006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approval_decision: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null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No settlement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payment yet.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3400" y="5854700"/>
            <a:ext cx="11125200" cy="546100"/>
          </a:xfrm>
          <a:prstGeom prst="roundRect">
            <a:avLst>
              <a:gd name="adj" fmla="val 6000"/>
            </a:avLst>
          </a:prstGeom>
          <a:solidFill>
            <a:srgbClr val="E0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8500" y="5969000"/>
            <a:ext cx="107696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3640"/>
                </a:solidFill>
                <a:latin typeface="DejaVu Sans"/>
              </a:defRPr>
            </a:pPr>
            <a:r>
              <a:t>Server rules control the transition from proposal to business effect.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6540500"/>
            <a:ext cx="889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36B73"/>
                </a:solidFill>
                <a:latin typeface="DejaVu Sans"/>
              </a:defRPr>
            </a:pPr>
            <a:r>
              <a:t>FLO BANK  /  WORKSHOP 3  /  FICTIONAL LAB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56900" y="6527800"/>
            <a:ext cx="952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B73"/>
                </a:solidFill>
                <a:latin typeface="DejaVu Sans"/>
              </a:defRPr>
            </a:pPr>
            <a: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81000"/>
            <a:ext cx="457200" cy="50800"/>
          </a:xfrm>
          <a:prstGeom prst="rect">
            <a:avLst/>
          </a:prstGeom>
          <a:solidFill>
            <a:srgbClr val="00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8400" y="279400"/>
            <a:ext cx="10287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79"/>
                </a:solidFill>
                <a:latin typeface="DejaVu Sans"/>
              </a:defRPr>
            </a:pPr>
            <a:r>
              <a:t>WORKSHOP 3  /  23–35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25500"/>
            <a:ext cx="11125200" cy="101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3419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63640"/>
                </a:solidFill>
                <a:latin typeface="DejaVu Sans"/>
              </a:defRPr>
            </a:pPr>
            <a:r>
              <a:t>Exercise: capture the pre-crash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2146300"/>
            <a:ext cx="11125200" cy="508000"/>
          </a:xfrm>
          <a:prstGeom prst="rect">
            <a:avLst/>
          </a:prstGeom>
          <a:solidFill>
            <a:srgbClr val="10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273300"/>
            <a:ext cx="4924044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DejaVu Sans"/>
              </a:defRPr>
            </a:pPr>
            <a:r>
              <a:t>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14644" y="2273300"/>
            <a:ext cx="5591556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DejaVu Sans"/>
              </a:defRPr>
            </a:pPr>
            <a:r>
              <a:t>Compare after recovery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2654300"/>
            <a:ext cx="11125200" cy="59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4924044" cy="482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Workflow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4644" y="2743200"/>
            <a:ext cx="5591556" cy="482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Same dispute-case-case-501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400" y="3251200"/>
            <a:ext cx="11125200" cy="596900"/>
          </a:xfrm>
          <a:prstGeom prst="rect">
            <a:avLst/>
          </a:prstGeom>
          <a:solidFill>
            <a:srgbClr val="E9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340100"/>
            <a:ext cx="4924044" cy="482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Proposal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4644" y="3340100"/>
            <a:ext cx="5591556" cy="482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Same amount, currency and destination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3400" y="3848100"/>
            <a:ext cx="11125200" cy="59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37000"/>
            <a:ext cx="4924044" cy="482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Current phase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14644" y="3937000"/>
            <a:ext cx="5591556" cy="482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WAITING_FOR_APPROVAL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3400" y="4445000"/>
            <a:ext cx="11125200" cy="596900"/>
          </a:xfrm>
          <a:prstGeom prst="rect">
            <a:avLst/>
          </a:prstGeom>
          <a:solidFill>
            <a:srgbClr val="E9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533900"/>
            <a:ext cx="4924044" cy="482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Approval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4644" y="4533900"/>
            <a:ext cx="5591556" cy="482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Still pending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400" y="5041900"/>
            <a:ext cx="11125200" cy="59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130800"/>
            <a:ext cx="4924044" cy="482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Settlement 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4644" y="5130800"/>
            <a:ext cx="5591556" cy="482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Still zero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3400" y="5854700"/>
            <a:ext cx="11125200" cy="546100"/>
          </a:xfrm>
          <a:prstGeom prst="roundRect">
            <a:avLst>
              <a:gd name="adj" fmla="val 6000"/>
            </a:avLst>
          </a:prstGeom>
          <a:solidFill>
            <a:srgbClr val="E0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8500" y="5969000"/>
            <a:ext cx="107696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3640"/>
                </a:solidFill>
                <a:latin typeface="DejaVu Sans"/>
              </a:defRPr>
            </a:pPr>
            <a:r>
              <a:t>Save the state before the failure so recovery becomes measurable.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" y="6540500"/>
            <a:ext cx="889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36B73"/>
                </a:solidFill>
                <a:latin typeface="DejaVu Sans"/>
              </a:defRPr>
            </a:pPr>
            <a:r>
              <a:t>FLO BANK  /  WORKSHOP 3  /  FICTIONAL LAB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56900" y="6527800"/>
            <a:ext cx="952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B73"/>
                </a:solidFill>
                <a:latin typeface="DejaVu Sans"/>
              </a:defRPr>
            </a:pPr>
            <a: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81000"/>
            <a:ext cx="457200" cy="50800"/>
          </a:xfrm>
          <a:prstGeom prst="rect">
            <a:avLst/>
          </a:prstGeom>
          <a:solidFill>
            <a:srgbClr val="00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8400" y="279400"/>
            <a:ext cx="10287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79"/>
                </a:solidFill>
                <a:latin typeface="DejaVu Sans"/>
              </a:defRPr>
            </a:pPr>
            <a:r>
              <a:t>WORKSHOP 3  /  23–35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25500"/>
            <a:ext cx="11125200" cy="101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3419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63640"/>
                </a:solidFill>
                <a:latin typeface="DejaVu Sans"/>
              </a:defRPr>
            </a:pPr>
            <a:r>
              <a:t>Demo: stop, redeliver, restart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400" y="2146300"/>
            <a:ext cx="11125200" cy="3492500"/>
          </a:xfrm>
          <a:prstGeom prst="roundRect">
            <a:avLst>
              <a:gd name="adj" fmla="val 6000"/>
            </a:avLst>
          </a:prstGeom>
          <a:solidFill>
            <a:srgbClr val="10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4700" y="2336800"/>
            <a:ext cx="104140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9B8FF"/>
                </a:solidFill>
                <a:latin typeface="DejaVu Sans"/>
              </a:defRPr>
            </a:pPr>
            <a:r>
              <a:t>TERMINAL  /  FROM REPOSITORY ROOT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" y="2832100"/>
            <a:ext cx="10629900" cy="2616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DejaVu Sans Mono"/>
              </a:defRPr>
            </a:pPr>
            <a:r>
              <a:t>docker compose --profile w3 stop worker</a:t>
            </a:r>
          </a:p>
          <a:p>
            <a:pPr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DejaVu Sans Mono"/>
              </a:defRPr>
            </a:pPr>
          </a:p>
          <a:p>
            <a:pPr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DejaVu Sans Mono"/>
              </a:defRPr>
            </a:pPr>
            <a:r>
              <a:t>.venv/bin/python workshops/w3/client.py emit \</a:t>
            </a:r>
          </a:p>
          <a:p>
            <a:pPr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DejaVu Sans Mono"/>
              </a:defRPr>
            </a:pPr>
            <a:r>
              <a:t>  --case-id case-501 --customer-id cust-8801</a:t>
            </a:r>
          </a:p>
          <a:p>
            <a:pPr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DejaVu Sans Mono"/>
              </a:defRPr>
            </a:pPr>
          </a:p>
          <a:p>
            <a:pPr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DejaVu Sans Mono"/>
              </a:defRPr>
            </a:pPr>
            <a:r>
              <a:t>docker compose --profile w3 start worker</a:t>
            </a:r>
          </a:p>
          <a:p>
            <a:pPr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DejaVu Sans Mono"/>
              </a:defRPr>
            </a:pPr>
            <a:r>
              <a:t>.venv/bin/python workshops/w3/client.py query --case-id case-501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3400" y="5854700"/>
            <a:ext cx="11125200" cy="546100"/>
          </a:xfrm>
          <a:prstGeom prst="roundRect">
            <a:avLst>
              <a:gd name="adj" fmla="val 6000"/>
            </a:avLst>
          </a:prstGeom>
          <a:solidFill>
            <a:srgbClr val="E0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8500" y="5969000"/>
            <a:ext cx="107696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3640"/>
                </a:solidFill>
                <a:latin typeface="DejaVu Sans"/>
              </a:defRPr>
            </a:pPr>
            <a:r>
              <a:t>The duplicate event can wait in Kafka while the worker is stopped.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6540500"/>
            <a:ext cx="889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36B73"/>
                </a:solidFill>
                <a:latin typeface="DejaVu Sans"/>
              </a:defRPr>
            </a:pPr>
            <a:r>
              <a:t>FLO BANK  /  WORKSHOP 3  /  FICTIONAL 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56900" y="6527800"/>
            <a:ext cx="952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B73"/>
                </a:solidFill>
                <a:latin typeface="DejaVu Sans"/>
              </a:defRPr>
            </a:pPr>
            <a: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81000"/>
            <a:ext cx="457200" cy="50800"/>
          </a:xfrm>
          <a:prstGeom prst="rect">
            <a:avLst/>
          </a:prstGeom>
          <a:solidFill>
            <a:srgbClr val="00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8400" y="279400"/>
            <a:ext cx="10287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79"/>
                </a:solidFill>
                <a:latin typeface="DejaVu Sans"/>
              </a:defRPr>
            </a:pPr>
            <a:r>
              <a:t>WORKSHOP 3  /  23–35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25500"/>
            <a:ext cx="11125200" cy="101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3419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63640"/>
                </a:solidFill>
                <a:latin typeface="DejaVu Sans"/>
              </a:defRPr>
            </a:pPr>
            <a:r>
              <a:t>Recovery preserves recorded progress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400" y="2146300"/>
            <a:ext cx="3539066" cy="349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4700" y="2400300"/>
            <a:ext cx="381000" cy="50800"/>
          </a:xfrm>
          <a:prstGeom prst="rect">
            <a:avLst/>
          </a:prstGeom>
          <a:solidFill>
            <a:srgbClr val="00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700" y="2679700"/>
            <a:ext cx="3056466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79"/>
                </a:solidFill>
                <a:latin typeface="DejaVu Sans"/>
              </a:defRPr>
            </a:pPr>
            <a:r>
              <a:t>SURVIVES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700" y="3467100"/>
            <a:ext cx="3056466" cy="2006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Workflow identity,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completed activity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results, proposal and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pending approval.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6466" y="2146300"/>
            <a:ext cx="3539066" cy="349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67766" y="2400300"/>
            <a:ext cx="381000" cy="50800"/>
          </a:xfrm>
          <a:prstGeom prst="rect">
            <a:avLst/>
          </a:prstGeom>
          <a:solidFill>
            <a:srgbClr val="00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7766" y="2679700"/>
            <a:ext cx="3056466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79"/>
                </a:solidFill>
                <a:latin typeface="DejaVu Sans"/>
              </a:defRPr>
            </a:pPr>
            <a:r>
              <a:t>MAY REPEAT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7766" y="3467100"/>
            <a:ext cx="3056466" cy="2006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A failed activity's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inference and read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tools can run again.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533" y="2146300"/>
            <a:ext cx="3539066" cy="349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0833" y="2400300"/>
            <a:ext cx="381000" cy="50800"/>
          </a:xfrm>
          <a:prstGeom prst="rect">
            <a:avLst/>
          </a:prstGeom>
          <a:solidFill>
            <a:srgbClr val="00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0833" y="2679700"/>
            <a:ext cx="3056466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79"/>
                </a:solidFill>
                <a:latin typeface="DejaVu Sans"/>
              </a:defRPr>
            </a:pPr>
            <a:r>
              <a:t>MUST NOT DUPLICATE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0833" y="3467100"/>
            <a:ext cx="3056466" cy="2006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A financial settlement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under the stable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business idempotency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key.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3400" y="5854700"/>
            <a:ext cx="11125200" cy="546100"/>
          </a:xfrm>
          <a:prstGeom prst="roundRect">
            <a:avLst>
              <a:gd name="adj" fmla="val 6000"/>
            </a:avLst>
          </a:prstGeom>
          <a:solidFill>
            <a:srgbClr val="E0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8500" y="5969000"/>
            <a:ext cx="107696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3640"/>
                </a:solidFill>
                <a:latin typeface="DejaVu Sans"/>
              </a:defRPr>
            </a:pPr>
            <a:r>
              <a:t>Durability does not mean every intermediate computation runs only once.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6540500"/>
            <a:ext cx="889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36B73"/>
                </a:solidFill>
                <a:latin typeface="DejaVu Sans"/>
              </a:defRPr>
            </a:pPr>
            <a:r>
              <a:t>FLO BANK  /  WORKSHOP 3  /  FICTIONAL LAB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56900" y="6527800"/>
            <a:ext cx="952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B73"/>
                </a:solidFill>
                <a:latin typeface="DejaVu Sans"/>
              </a:defRPr>
            </a:pPr>
            <a: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81000"/>
            <a:ext cx="457200" cy="50800"/>
          </a:xfrm>
          <a:prstGeom prst="rect">
            <a:avLst/>
          </a:prstGeom>
          <a:solidFill>
            <a:srgbClr val="00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8400" y="279400"/>
            <a:ext cx="10287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79"/>
                </a:solidFill>
                <a:latin typeface="DejaVu Sans"/>
              </a:defRPr>
            </a:pPr>
            <a:r>
              <a:t>WORKSHOP 3  /  35–41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25500"/>
            <a:ext cx="11125200" cy="101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3419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63640"/>
                </a:solidFill>
                <a:latin typeface="DejaVu Sans"/>
              </a:defRPr>
            </a:pPr>
            <a:r>
              <a:t>Review the recovered proposal, then approve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400" y="2146300"/>
            <a:ext cx="11125200" cy="3492500"/>
          </a:xfrm>
          <a:prstGeom prst="roundRect">
            <a:avLst>
              <a:gd name="adj" fmla="val 6000"/>
            </a:avLst>
          </a:prstGeom>
          <a:solidFill>
            <a:srgbClr val="10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4700" y="2336800"/>
            <a:ext cx="104140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9B8FF"/>
                </a:solidFill>
                <a:latin typeface="DejaVu Sans"/>
              </a:defRPr>
            </a:pPr>
            <a:r>
              <a:t>TERMINAL  /  FROM REPOSITORY ROOT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" y="2832100"/>
            <a:ext cx="10629900" cy="2616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DejaVu Sans Mono"/>
              </a:defRPr>
            </a:pPr>
            <a:r>
              <a:t>.venv/bin/python workshops/w3/client.py approve \</a:t>
            </a:r>
          </a:p>
          <a:p>
            <a:pPr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DejaVu Sans Mono"/>
              </a:defRPr>
            </a:pPr>
            <a:r>
              <a:t>  --case-id case-501 --reviewer ops-lead \</a:t>
            </a:r>
          </a:p>
          <a:p>
            <a:pPr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DejaVu Sans Mono"/>
              </a:defRPr>
            </a:pPr>
            <a:r>
              <a:t>  --comments "Reviewed case evidence and validated proposal"</a:t>
            </a:r>
          </a:p>
          <a:p>
            <a:pPr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DejaVu Sans Mono"/>
              </a:defRPr>
            </a:pPr>
          </a:p>
          <a:p>
            <a:pPr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DejaVu Sans Mono"/>
              </a:defRPr>
            </a:pPr>
            <a:r>
              <a:t>.venv/bin/python workshops/w3/client.py query --case-id case-501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3400" y="5854700"/>
            <a:ext cx="11125200" cy="546100"/>
          </a:xfrm>
          <a:prstGeom prst="roundRect">
            <a:avLst>
              <a:gd name="adj" fmla="val 6000"/>
            </a:avLst>
          </a:prstGeom>
          <a:solidFill>
            <a:srgbClr val="E0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8500" y="5969000"/>
            <a:ext cx="107696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3640"/>
                </a:solidFill>
                <a:latin typeface="DejaVu Sans"/>
              </a:defRPr>
            </a:pPr>
            <a:r>
              <a:t>The approval command waits for the workflow result.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6540500"/>
            <a:ext cx="889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36B73"/>
                </a:solidFill>
                <a:latin typeface="DejaVu Sans"/>
              </a:defRPr>
            </a:pPr>
            <a:r>
              <a:t>FLO BANK  /  WORKSHOP 3  /  FICTIONAL 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56900" y="6527800"/>
            <a:ext cx="952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B73"/>
                </a:solidFill>
                <a:latin typeface="DejaVu Sans"/>
              </a:defRPr>
            </a:pPr>
            <a: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81000"/>
            <a:ext cx="457200" cy="50800"/>
          </a:xfrm>
          <a:prstGeom prst="rect">
            <a:avLst/>
          </a:prstGeom>
          <a:solidFill>
            <a:srgbClr val="00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8400" y="279400"/>
            <a:ext cx="10287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79"/>
                </a:solidFill>
                <a:latin typeface="DejaVu Sans"/>
              </a:defRPr>
            </a:pPr>
            <a:r>
              <a:t>WORKSHOP 3  /  35–41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25500"/>
            <a:ext cx="11125200" cy="101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3419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63640"/>
                </a:solidFill>
                <a:latin typeface="DejaVu Sans"/>
              </a:defRPr>
            </a:pPr>
            <a:r>
              <a:t>Prove one approved settlement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2146300"/>
            <a:ext cx="11125200" cy="508000"/>
          </a:xfrm>
          <a:prstGeom prst="rect">
            <a:avLst/>
          </a:prstGeom>
          <a:solidFill>
            <a:srgbClr val="10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273300"/>
            <a:ext cx="4924044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DejaVu Sans"/>
              </a:defRPr>
            </a:pPr>
            <a:r>
              <a:t>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14644" y="2273300"/>
            <a:ext cx="5591556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DejaVu Sans"/>
              </a:defRPr>
            </a:pPr>
            <a:r>
              <a:t>Expected fresh-run observation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2654300"/>
            <a:ext cx="11125200" cy="59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4924044" cy="482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Workflow phase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4644" y="2743200"/>
            <a:ext cx="5591556" cy="482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COMPLETED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400" y="3251200"/>
            <a:ext cx="11125200" cy="596900"/>
          </a:xfrm>
          <a:prstGeom prst="rect">
            <a:avLst/>
          </a:prstGeom>
          <a:solidFill>
            <a:srgbClr val="E9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340100"/>
            <a:ext cx="4924044" cy="482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Case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4644" y="3340100"/>
            <a:ext cx="5591556" cy="482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resolved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3400" y="3848100"/>
            <a:ext cx="11125200" cy="59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37000"/>
            <a:ext cx="4924044" cy="482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Settlement key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14644" y="3937000"/>
            <a:ext cx="5591556" cy="482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settle-dispute-case-501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3400" y="4445000"/>
            <a:ext cx="11125200" cy="596900"/>
          </a:xfrm>
          <a:prstGeom prst="rect">
            <a:avLst/>
          </a:prstGeom>
          <a:solidFill>
            <a:srgbClr val="E9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533900"/>
            <a:ext cx="4924044" cy="482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Payment count for that key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4644" y="4533900"/>
            <a:ext cx="5591556" cy="482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Exactly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400" y="5041900"/>
            <a:ext cx="11125200" cy="59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130800"/>
            <a:ext cx="4924044" cy="482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Business amount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4644" y="5130800"/>
            <a:ext cx="5591556" cy="482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Matches the reviewed proposal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3400" y="5854700"/>
            <a:ext cx="11125200" cy="546100"/>
          </a:xfrm>
          <a:prstGeom prst="roundRect">
            <a:avLst>
              <a:gd name="adj" fmla="val 6000"/>
            </a:avLst>
          </a:prstGeom>
          <a:solidFill>
            <a:srgbClr val="E0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8500" y="5969000"/>
            <a:ext cx="107696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3640"/>
                </a:solidFill>
                <a:latin typeface="DejaVu Sans"/>
              </a:defRPr>
            </a:pPr>
            <a:r>
              <a:t>Reconcile workflow history with the actual banking record.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" y="6540500"/>
            <a:ext cx="889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36B73"/>
                </a:solidFill>
                <a:latin typeface="DejaVu Sans"/>
              </a:defRPr>
            </a:pPr>
            <a:r>
              <a:t>FLO BANK  /  WORKSHOP 3  /  FICTIONAL LAB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56900" y="6527800"/>
            <a:ext cx="952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B73"/>
                </a:solidFill>
                <a:latin typeface="DejaVu Sans"/>
              </a:defRPr>
            </a:pPr>
            <a: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81000"/>
            <a:ext cx="457200" cy="50800"/>
          </a:xfrm>
          <a:prstGeom prst="rect">
            <a:avLst/>
          </a:prstGeom>
          <a:solidFill>
            <a:srgbClr val="00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8400" y="279400"/>
            <a:ext cx="10287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79"/>
                </a:solidFill>
                <a:latin typeface="DejaVu Sans"/>
              </a:defRPr>
            </a:pPr>
            <a:r>
              <a:t>WORKSHOP 3  /  41–45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25500"/>
            <a:ext cx="11125200" cy="101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3419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63640"/>
                </a:solidFill>
                <a:latin typeface="DejaVu Sans"/>
              </a:defRPr>
            </a:pPr>
            <a:r>
              <a:t>Three distinct failure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2146300"/>
            <a:ext cx="11125200" cy="508000"/>
          </a:xfrm>
          <a:prstGeom prst="rect">
            <a:avLst/>
          </a:prstGeom>
          <a:solidFill>
            <a:srgbClr val="10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273300"/>
            <a:ext cx="303276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DejaVu Sans"/>
              </a:defRPr>
            </a:pPr>
            <a:r>
              <a:t>Failure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273300"/>
            <a:ext cx="3700272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DejaVu Sans"/>
              </a:defRPr>
            </a:pPr>
            <a:r>
              <a:t>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28432" y="2273300"/>
            <a:ext cx="3477768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DejaVu Sans"/>
              </a:defRPr>
            </a:pPr>
            <a:r>
              <a:t>Exercise scope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400" y="2654300"/>
            <a:ext cx="11125200" cy="9948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3032760" cy="8805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Event delivered twice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743200"/>
            <a:ext cx="3700272" cy="8805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Stable workflow 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2" y="2743200"/>
            <a:ext cx="3477768" cy="8805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Observed in redelivery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3649133"/>
            <a:ext cx="11125200" cy="994833"/>
          </a:xfrm>
          <a:prstGeom prst="rect">
            <a:avLst/>
          </a:prstGeom>
          <a:solidFill>
            <a:srgbClr val="E9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8033"/>
            <a:ext cx="3032760" cy="8805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Worker dies during wait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738033"/>
            <a:ext cx="3700272" cy="8805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Temporal durable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432" y="3738033"/>
            <a:ext cx="3477768" cy="8805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Observed in restart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3400" y="4643966"/>
            <a:ext cx="11125200" cy="9948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732866"/>
            <a:ext cx="3032760" cy="8805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Payment commits; reply</a:t>
            </a:r>
          </a:p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lost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732866"/>
            <a:ext cx="3700272" cy="8805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Stable settlement key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8432" y="4732866"/>
            <a:ext cx="3477768" cy="8805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640"/>
                </a:solidFill>
                <a:latin typeface="DejaVu Sans"/>
              </a:defRPr>
            </a:pPr>
            <a:r>
              <a:t>Separate retry scenario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3400" y="5854700"/>
            <a:ext cx="11125200" cy="546100"/>
          </a:xfrm>
          <a:prstGeom prst="roundRect">
            <a:avLst>
              <a:gd name="adj" fmla="val 6000"/>
            </a:avLst>
          </a:prstGeom>
          <a:solidFill>
            <a:srgbClr val="E0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8500" y="5969000"/>
            <a:ext cx="107696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3640"/>
                </a:solidFill>
                <a:latin typeface="DejaVu Sans"/>
              </a:defRPr>
            </a:pPr>
            <a:r>
              <a:t>State the evidence you have for each recovery claim.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6540500"/>
            <a:ext cx="889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36B73"/>
                </a:solidFill>
                <a:latin typeface="DejaVu Sans"/>
              </a:defRPr>
            </a:pPr>
            <a:r>
              <a:t>FLO BANK  /  WORKSHOP 3  /  FICTIONAL LAB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56900" y="6527800"/>
            <a:ext cx="952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B73"/>
                </a:solidFill>
                <a:latin typeface="DejaVu Sans"/>
              </a:defRPr>
            </a:pPr>
            <a: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81000"/>
            <a:ext cx="457200" cy="50800"/>
          </a:xfrm>
          <a:prstGeom prst="rect">
            <a:avLst/>
          </a:prstGeom>
          <a:solidFill>
            <a:srgbClr val="00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8400" y="279400"/>
            <a:ext cx="10287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79"/>
                </a:solidFill>
                <a:latin typeface="DejaVu Sans"/>
              </a:defRPr>
            </a:pPr>
            <a:r>
              <a:t>WORKSHOP 3  /  41–45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25500"/>
            <a:ext cx="11125200" cy="101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3419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63640"/>
                </a:solidFill>
                <a:latin typeface="DejaVu Sans"/>
              </a:defRPr>
            </a:pPr>
            <a:r>
              <a:t>From a demo pause to a longer 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400" y="2146300"/>
            <a:ext cx="3539066" cy="349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4700" y="2400300"/>
            <a:ext cx="381000" cy="50800"/>
          </a:xfrm>
          <a:prstGeom prst="rect">
            <a:avLst/>
          </a:prstGeom>
          <a:solidFill>
            <a:srgbClr val="00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700" y="2679700"/>
            <a:ext cx="3056466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79"/>
                </a:solidFill>
                <a:latin typeface="DejaVu Sans"/>
              </a:defRPr>
            </a:pPr>
            <a:r>
              <a:t>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700" y="3467100"/>
            <a:ext cx="3056466" cy="2006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The approval timeout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is 24 hours. The timed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demo illustrates a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durable wait.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6466" y="2146300"/>
            <a:ext cx="3539066" cy="349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67766" y="2400300"/>
            <a:ext cx="381000" cy="50800"/>
          </a:xfrm>
          <a:prstGeom prst="rect">
            <a:avLst/>
          </a:prstGeom>
          <a:solidFill>
            <a:srgbClr val="00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7766" y="2679700"/>
            <a:ext cx="3056466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79"/>
                </a:solidFill>
                <a:latin typeface="DejaVu Sans"/>
              </a:defRPr>
            </a:pPr>
            <a:r>
              <a:t>PRODUCTION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7766" y="3467100"/>
            <a:ext cx="3056466" cy="2006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Choose timeout and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escalation rules,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persistence,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availability and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recovery procedures.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533" y="2146300"/>
            <a:ext cx="3539066" cy="349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0833" y="2400300"/>
            <a:ext cx="381000" cy="50800"/>
          </a:xfrm>
          <a:prstGeom prst="rect">
            <a:avLst/>
          </a:prstGeom>
          <a:solidFill>
            <a:srgbClr val="00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0833" y="2679700"/>
            <a:ext cx="3056466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79"/>
                </a:solidFill>
                <a:latin typeface="DejaVu Sans"/>
              </a:defRPr>
            </a:pPr>
            <a:r>
              <a:t>NEXT APPLICATIONS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0833" y="3467100"/>
            <a:ext cx="3056466" cy="2006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Incident remediation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and procurement can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reuse the pattern with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their own rules.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3400" y="5854700"/>
            <a:ext cx="11125200" cy="546100"/>
          </a:xfrm>
          <a:prstGeom prst="roundRect">
            <a:avLst>
              <a:gd name="adj" fmla="val 6000"/>
            </a:avLst>
          </a:prstGeom>
          <a:solidFill>
            <a:srgbClr val="E0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8500" y="5969000"/>
            <a:ext cx="107696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3640"/>
                </a:solidFill>
                <a:latin typeface="DejaVu Sans"/>
              </a:defRPr>
            </a:pPr>
            <a:r>
              <a:t>These extensions require design work beyond the implemented dispute lab.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6540500"/>
            <a:ext cx="889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36B73"/>
                </a:solidFill>
                <a:latin typeface="DejaVu Sans"/>
              </a:defRPr>
            </a:pPr>
            <a:r>
              <a:t>FLO BANK  /  WORKSHOP 3  /  FICTIONAL LAB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56900" y="6527800"/>
            <a:ext cx="952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B73"/>
                </a:solidFill>
                <a:latin typeface="DejaVu Sans"/>
              </a:defRPr>
            </a:pPr>
            <a: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81000"/>
            <a:ext cx="457200" cy="50800"/>
          </a:xfrm>
          <a:prstGeom prst="rect">
            <a:avLst/>
          </a:prstGeom>
          <a:solidFill>
            <a:srgbClr val="A9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8400" y="279400"/>
            <a:ext cx="10287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9B8FF"/>
                </a:solidFill>
                <a:latin typeface="DejaVu Sans"/>
              </a:defRPr>
            </a:pPr>
            <a:r>
              <a:t>WORKSHOP 3  /  41–45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358900"/>
            <a:ext cx="11049000" cy="2260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5059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DejaVu Sans"/>
              </a:defRPr>
            </a:pPr>
            <a:r>
              <a:t>Progress survives. Authority stays</a:t>
            </a:r>
          </a:p>
          <a:p>
            <a:pPr>
              <a:lnSpc>
                <a:spcPts val="5059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DejaVu Sans"/>
              </a:defRPr>
            </a:pPr>
            <a:r>
              <a:t>explicit.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8800" y="3810000"/>
            <a:ext cx="10807700" cy="153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325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C1D5D8"/>
                </a:solidFill>
                <a:latin typeface="DejaVu Sans"/>
              </a:defRPr>
            </a:pPr>
            <a:r>
              <a:t>Governed investigation + durable approval + idempotent</a:t>
            </a:r>
          </a:p>
          <a:p>
            <a:pPr>
              <a:lnSpc>
                <a:spcPts val="325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C1D5D8"/>
                </a:solidFill>
                <a:latin typeface="DejaVu Sans"/>
              </a:defRPr>
            </a:pPr>
            <a:r>
              <a:t>settlement.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800" y="5829300"/>
            <a:ext cx="109601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A9B8FF"/>
                </a:solidFill>
                <a:latin typeface="DejaVu Sans"/>
              </a:defRPr>
            </a:pPr>
            <a:r>
              <a:t>W4 / Test the whole system under an agent attack.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6540500"/>
            <a:ext cx="889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AC0C6"/>
                </a:solidFill>
                <a:latin typeface="DejaVu Sans"/>
              </a:defRPr>
            </a:pPr>
            <a:r>
              <a:t>FLO BANK  /  WORKSHOP 3  /  FICTIONAL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56900" y="6527800"/>
            <a:ext cx="952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AC0C6"/>
                </a:solidFill>
                <a:latin typeface="DejaVu Sans"/>
              </a:defRPr>
            </a:pPr>
            <a: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81000"/>
            <a:ext cx="457200" cy="50800"/>
          </a:xfrm>
          <a:prstGeom prst="rect">
            <a:avLst/>
          </a:prstGeom>
          <a:solidFill>
            <a:srgbClr val="00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8400" y="279400"/>
            <a:ext cx="10287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79"/>
                </a:solidFill>
                <a:latin typeface="DejaVu Sans"/>
              </a:defRPr>
            </a:pPr>
            <a:r>
              <a:t>WORKSHOP 3  /  REFERENCE / OUTSIDE TIMED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25500"/>
            <a:ext cx="11125200" cy="101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3419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63640"/>
                </a:solidFill>
                <a:latin typeface="DejaVu Sans"/>
              </a:defRPr>
            </a:pPr>
            <a:r>
              <a:t>Presenter preparation &amp; source guide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400" y="2146300"/>
            <a:ext cx="3539066" cy="349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4700" y="2400300"/>
            <a:ext cx="381000" cy="50800"/>
          </a:xfrm>
          <a:prstGeom prst="rect">
            <a:avLst/>
          </a:prstGeom>
          <a:solidFill>
            <a:srgbClr val="00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700" y="2679700"/>
            <a:ext cx="3056466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79"/>
                </a:solidFill>
                <a:latin typeface="DejaVu Sans"/>
              </a:defRPr>
            </a:pPr>
            <a:r>
              <a:t>PREPARE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700" y="3467100"/>
            <a:ext cx="3056466" cy="2006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Activate w3. Use fresh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local workflow state.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Declare live/replay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mode before the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demo.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6466" y="2146300"/>
            <a:ext cx="3539066" cy="349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67766" y="2400300"/>
            <a:ext cx="381000" cy="50800"/>
          </a:xfrm>
          <a:prstGeom prst="rect">
            <a:avLst/>
          </a:prstGeom>
          <a:solidFill>
            <a:srgbClr val="00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7766" y="2679700"/>
            <a:ext cx="3056466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79"/>
                </a:solidFill>
                <a:latin typeface="DejaVu Sans"/>
              </a:defRPr>
            </a:pPr>
            <a:r>
              <a:t>OPEN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7766" y="3467100"/>
            <a:ext cx="3056466" cy="2006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Case, workflow query,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worker logs,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graph/tool evidence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640"/>
                </a:solidFill>
                <a:latin typeface="DejaVu Sans"/>
              </a:defRPr>
            </a:pPr>
            <a:r>
              <a:t>and payment records.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533" y="2146300"/>
            <a:ext cx="3539066" cy="349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0833" y="2400300"/>
            <a:ext cx="381000" cy="50800"/>
          </a:xfrm>
          <a:prstGeom prst="rect">
            <a:avLst/>
          </a:prstGeom>
          <a:solidFill>
            <a:srgbClr val="00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0833" y="2679700"/>
            <a:ext cx="3056466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79"/>
                </a:solidFill>
                <a:latin typeface="DejaVu Sans"/>
              </a:defRPr>
            </a:pPr>
            <a:r>
              <a:t>PRESERVE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0833" y="3467100"/>
            <a:ext cx="3056466" cy="2006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050" b="0">
                <a:solidFill>
                  <a:srgbClr val="163640"/>
                </a:solidFill>
                <a:latin typeface="DejaVu Sans"/>
              </a:defRPr>
            </a:pPr>
            <a:r>
              <a:t>Save previous</a:t>
            </a:r>
          </a:p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050" b="0">
                <a:solidFill>
                  <a:srgbClr val="163640"/>
                </a:solidFill>
                <a:latin typeface="DejaVu Sans"/>
              </a:defRPr>
            </a:pPr>
            <a:r>
              <a:t>evidence. The</a:t>
            </a:r>
          </a:p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050" b="0">
                <a:solidFill>
                  <a:srgbClr val="163640"/>
                </a:solidFill>
                <a:latin typeface="DejaVu Sans"/>
              </a:defRPr>
            </a:pPr>
            <a:r>
              <a:t>automated W3</a:t>
            </a:r>
          </a:p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050" b="0">
                <a:solidFill>
                  <a:srgbClr val="163640"/>
                </a:solidFill>
                <a:latin typeface="DejaVu Sans"/>
              </a:defRPr>
            </a:pPr>
            <a:r>
              <a:t>rehearsal resets bank</a:t>
            </a:r>
          </a:p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050" b="0">
                <a:solidFill>
                  <a:srgbClr val="163640"/>
                </a:solidFill>
                <a:latin typeface="DejaVu Sans"/>
              </a:defRPr>
            </a:pPr>
            <a:r>
              <a:t>and Temporal lab</a:t>
            </a:r>
          </a:p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050" b="0">
                <a:solidFill>
                  <a:srgbClr val="163640"/>
                </a:solidFill>
                <a:latin typeface="DejaVu Sans"/>
              </a:defRPr>
            </a:pPr>
            <a:r>
              <a:t>state.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3400" y="5854700"/>
            <a:ext cx="11125200" cy="546100"/>
          </a:xfrm>
          <a:prstGeom prst="roundRect">
            <a:avLst>
              <a:gd name="adj" fmla="val 6000"/>
            </a:avLst>
          </a:prstGeom>
          <a:solidFill>
            <a:srgbClr val="E0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8500" y="5969000"/>
            <a:ext cx="10769600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3640"/>
                </a:solidFill>
                <a:latin typeface="DejaVu Sans"/>
              </a:defRPr>
            </a:pPr>
            <a:r>
              <a:t>Use the manual exercise for delivery; reserve destructive rehearsals for disposable labs.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6540500"/>
            <a:ext cx="889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36B73"/>
                </a:solidFill>
                <a:latin typeface="DejaVu Sans"/>
              </a:defRPr>
            </a:pPr>
            <a:r>
              <a:t>FLO BANK  /  WORKSHOP 3  /  FICTIONAL LAB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56900" y="6527800"/>
            <a:ext cx="9525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B73"/>
                </a:solidFill>
                <a:latin typeface="DejaVu Sans"/>
              </a:defRPr>
            </a:pPr>
            <a: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resolver that remembered</dc:title>
  <dc:subject>Architecting the Agentic Enterprise: Middleware, Durable State, and Event-Driven AI</dc:subject>
  <dc:creator>Flo Bank Workshop Series</dc:creator>
  <cp:keywords>Flo Bank, workshop 3, fictional lab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