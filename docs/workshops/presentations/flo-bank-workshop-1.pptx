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0–5 min</a:t>
            </a:r>
          </a:p>
          <a:p>
            <a:r>
              <a:t>Open with the support request: Flo needs to read an account and understand a case. Introduce fictional Flo Bank and the audience's role as the integration team. W1 uses the native APISIX openapi-to-mcp plugin; this CLI lab needs no provider key. Prepare the stack before the clock starts.</a:t>
            </a:r>
          </a:p>
          <a:p/>
          <a:p>
            <a:r>
              <a:t>SOURCE FILES (repository root):</a:t>
            </a:r>
          </a:p>
          <a:p>
            <a:r>
              <a:t>docs/workshops/workshop-1-story.md</a:t>
            </a:r>
          </a:p>
          <a:p>
            <a:r>
              <a:t>workshops/w1/worksheet.md</a:t>
            </a:r>
          </a:p>
          <a:p>
            <a:r>
              <a:t>workshops/w1/answer-key.md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0–5 min</a:t>
            </a:r>
          </a:p>
          <a:p>
            <a:r>
              <a:t>Briefly position W1 within the series. W2 adds execution governance, W3 durable work, and W4 incident response and delegation. Each workshop starts independently from prepared lab data.</a:t>
            </a:r>
          </a:p>
          <a:p/>
          <a:p>
            <a:r>
              <a:t>SOURCE FILES (repository root):</a:t>
            </a:r>
          </a:p>
          <a:p>
            <a:r>
              <a:t>docs/workshops/workshop-1-story.md</a:t>
            </a:r>
          </a:p>
          <a:p>
            <a:r>
              <a:t>workshops/w1/worksheet.md</a:t>
            </a:r>
          </a:p>
          <a:p>
            <a:r>
              <a:t>workshops/w1/answer-key.md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0–5 min</a:t>
            </a:r>
          </a:p>
          <a:p>
            <a:r>
              <a:t>Use these as segment boundaries, not time allocated to every individual slide. Downloads and profile setup are outside the 45-minute session. Open the worksheet for copyable commands.</a:t>
            </a:r>
          </a:p>
          <a:p/>
          <a:p>
            <a:r>
              <a:t>SOURCE FILES (repository root):</a:t>
            </a:r>
          </a:p>
          <a:p>
            <a:r>
              <a:t>docs/workshops/workshop-1-story.md</a:t>
            </a:r>
          </a:p>
          <a:p>
            <a:r>
              <a:t>workshops/w1/worksheet.md</a:t>
            </a:r>
          </a:p>
          <a:p>
            <a:r>
              <a:t>workshops/w1/answer-key.md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0–5 min</a:t>
            </a:r>
          </a:p>
          <a:p>
            <a:r>
              <a:t>Show the live method, path, input and response, then connect it to the bank page. Browser demo accounts are demo-checking and demo-savings; the MCP exercise uses acc-101. Documentation access does not authorize banking operations. Keep optional card/dispute mutations out of the timed path.</a:t>
            </a:r>
          </a:p>
          <a:p/>
          <a:p>
            <a:r>
              <a:t>SOURCE FILES (repository root):</a:t>
            </a:r>
          </a:p>
          <a:p>
            <a:r>
              <a:t>docs/workshops/workshop-1-story.md</a:t>
            </a:r>
          </a:p>
          <a:p>
            <a:r>
              <a:t>workshops/w1/worksheet.md</a:t>
            </a:r>
          </a:p>
          <a:p>
            <a:r>
              <a:t>workshops/w1/answer-key.md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5–12 min</a:t>
            </a:r>
          </a:p>
          <a:p>
            <a:r>
              <a:t>Ask what a generator can infer from a contract and what requires business context. Keep the comparison grounded in this lab, rather than presenting an exhaustive protocol comparison.</a:t>
            </a:r>
          </a:p>
          <a:p/>
          <a:p>
            <a:r>
              <a:t>SOURCE FILES (repository root):</a:t>
            </a:r>
          </a:p>
          <a:p>
            <a:r>
              <a:t>docs/workshops/workshop-1-story.md</a:t>
            </a:r>
          </a:p>
          <a:p>
            <a:r>
              <a:t>workshops/w1/worksheet.md</a:t>
            </a:r>
          </a:p>
          <a:p>
            <a:r>
              <a:t>workshops/w1/answer-key.md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5–12 min</a:t>
            </a:r>
          </a:p>
          <a:p>
            <a:r>
              <a:t>These are logical stages, not four separate gateway products. W1 demonstrates API-key validation at Gate 3. W2–W4 introduce richer signed identities and scope controls. Show the actual route/log evidence later.</a:t>
            </a:r>
          </a:p>
          <a:p/>
          <a:p>
            <a:r>
              <a:t>SOURCE FILES (repository root):</a:t>
            </a:r>
          </a:p>
          <a:p>
            <a:r>
              <a:t>docs/workshops/workshop-1-story.md</a:t>
            </a:r>
          </a:p>
          <a:p>
            <a:r>
              <a:t>workshops/w1/worksheet.md</a:t>
            </a:r>
          </a:p>
          <a:p>
            <a:r>
              <a:t>workshops/w1/answer-key.md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12–22 min</a:t>
            </a:r>
          </a:p>
          <a:p>
            <a:r>
              <a:t>Run from the repository root. The supplied CLI does not retain a session between commands. Locate the generated payment and reset tools without invoking them. The broad tool count depends on the served API contract; do not promise a fixed number.</a:t>
            </a:r>
          </a:p>
          <a:p/>
          <a:p>
            <a:r>
              <a:t>SOURCE FILES (repository root):</a:t>
            </a:r>
          </a:p>
          <a:p>
            <a:r>
              <a:t>docs/workshops/workshop-1-story.md</a:t>
            </a:r>
          </a:p>
          <a:p>
            <a:r>
              <a:t>workshops/w1/worksheet.md</a:t>
            </a:r>
          </a:p>
          <a:p>
            <a:r>
              <a:t>workshops/w1/answer-key.md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12–22 min</a:t>
            </a:r>
          </a:p>
          <a:p>
            <a:r>
              <a:t>Let participants inspect the broad checkpoint at workshops/w1/checkpoints/initial/openapi-broad.json. Existing authorization still applies to broad tools; discovery alone does not prove a call is authorized.</a:t>
            </a:r>
          </a:p>
          <a:p/>
          <a:p>
            <a:r>
              <a:t>SOURCE FILES (repository root):</a:t>
            </a:r>
          </a:p>
          <a:p>
            <a:r>
              <a:t>docs/workshops/workshop-1-story.md</a:t>
            </a:r>
          </a:p>
          <a:p>
            <a:r>
              <a:t>workshops/w1/worksheet.md</a:t>
            </a:r>
          </a:p>
          <a:p>
            <a:r>
              <a:t>workshops/w1/answer-key.md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22–32 min</a:t>
            </a:r>
          </a:p>
          <a:p>
            <a:r>
              <a:t>Compare workshops/w1/checkpoints/completed/openapi-curated.json. Generated inputs use pathParameters.id. The completed checkpoint contains no readOnlyHint annotation. Descriptions or hints alone are not authorization.</a:t>
            </a:r>
          </a:p>
          <a:p/>
          <a:p>
            <a:r>
              <a:t>SOURCE FILES (repository root):</a:t>
            </a:r>
          </a:p>
          <a:p>
            <a:r>
              <a:t>docs/workshops/workshop-1-story.md</a:t>
            </a:r>
          </a:p>
          <a:p>
            <a:r>
              <a:t>workshops/w1/worksheet.md</a:t>
            </a:r>
          </a:p>
          <a:p>
            <a:r>
              <a:t>workshops/w1/answer-key.md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22–32 min</a:t>
            </a:r>
          </a:p>
          <a:p>
            <a:r>
              <a:t>Allocate a short pair discussion within this ten-minute block. Use the prepared completed endpoint for executable comparison. A local file edit does not update the running catalog by itself; check plugin caching/refresh before claiming a live change.</a:t>
            </a:r>
          </a:p>
          <a:p/>
          <a:p>
            <a:r>
              <a:t>SOURCE FILES (repository root):</a:t>
            </a:r>
          </a:p>
          <a:p>
            <a:r>
              <a:t>docs/workshops/workshop-1-story.md</a:t>
            </a:r>
          </a:p>
          <a:p>
            <a:r>
              <a:t>workshops/w1/worksheet.md</a:t>
            </a:r>
          </a:p>
          <a:p>
            <a:r>
              <a:t>workshops/w1/answer-key.md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22–32 min</a:t>
            </a:r>
          </a:p>
          <a:p>
            <a:r>
              <a:t>Explain integer minor units: 100 paise equals one rupee. If the ledger has changed, record the returned result rather than asserting the fresh-seed balance. This read demonstrates an actual governed API result.</a:t>
            </a:r>
          </a:p>
          <a:p/>
          <a:p>
            <a:r>
              <a:t>SOURCE FILES (repository root):</a:t>
            </a:r>
          </a:p>
          <a:p>
            <a:r>
              <a:t>docs/workshops/workshop-1-story.md</a:t>
            </a:r>
          </a:p>
          <a:p>
            <a:r>
              <a:t>workshops/w1/worksheet.md</a:t>
            </a:r>
          </a:p>
          <a:p>
            <a:r>
              <a:t>workshops/w1/answer-key.md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22–32 min</a:t>
            </a:r>
          </a:p>
          <a:p>
            <a:r>
              <a:t>The broad endpoint is /mcp. The curated endpoint is preconfigured. Use the W1 rehearsal's case-read and excluded payment-list checks as additional evidence. A rejected removed read/list operation proves exclusion without executing a financial mutation.</a:t>
            </a:r>
          </a:p>
          <a:p/>
          <a:p>
            <a:r>
              <a:t>SOURCE FILES (repository root):</a:t>
            </a:r>
          </a:p>
          <a:p>
            <a:r>
              <a:t>docs/workshops/workshop-1-story.md</a:t>
            </a:r>
          </a:p>
          <a:p>
            <a:r>
              <a:t>workshops/w1/worksheet.md</a:t>
            </a:r>
          </a:p>
          <a:p>
            <a:r>
              <a:t>workshops/w1/answer-key.md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32–40 min</a:t>
            </a:r>
          </a:p>
          <a:p>
            <a:r>
              <a:t>The rehearsal invokes an actual broad payment-list tool against the curated endpoint. Do not invoke payment mutations or administrative resets merely to show absence. Evidence for routing is needed to attribute the downstream denial to Gate 3.</a:t>
            </a:r>
          </a:p>
          <a:p/>
          <a:p>
            <a:r>
              <a:t>SOURCE FILES (repository root):</a:t>
            </a:r>
          </a:p>
          <a:p>
            <a:r>
              <a:t>docs/workshops/workshop-1-story.md</a:t>
            </a:r>
          </a:p>
          <a:p>
            <a:r>
              <a:t>workshops/w1/worksheet.md</a:t>
            </a:r>
          </a:p>
          <a:p>
            <a:r>
              <a:t>workshops/w1/answer-key.md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32–40 min</a:t>
            </a:r>
          </a:p>
          <a:p>
            <a:r>
              <a:t>Ask participants to find the embedded HTTP status and confirm that no successful account result was returned. W1 proves the lab's API-key boundary; it does not prove full customer-specific authorization or production identity management.</a:t>
            </a:r>
          </a:p>
          <a:p/>
          <a:p>
            <a:r>
              <a:t>SOURCE FILES (repository root):</a:t>
            </a:r>
          </a:p>
          <a:p>
            <a:r>
              <a:t>docs/workshops/workshop-1-story.md</a:t>
            </a:r>
          </a:p>
          <a:p>
            <a:r>
              <a:t>workshops/w1/worksheet.md</a:t>
            </a:r>
          </a:p>
          <a:p>
            <a:r>
              <a:t>workshops/w1/answer-key.md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40–45 min</a:t>
            </a:r>
          </a:p>
          <a:p>
            <a:r>
              <a:t>Have pairs report their removed operation, clearer description and authorization evidence. Save the contract and invocation/denial output. Ask where the evidence would be insufficient without routing logs.</a:t>
            </a:r>
          </a:p>
          <a:p/>
          <a:p>
            <a:r>
              <a:t>SOURCE FILES (repository root):</a:t>
            </a:r>
          </a:p>
          <a:p>
            <a:r>
              <a:t>docs/workshops/workshop-1-story.md</a:t>
            </a:r>
          </a:p>
          <a:p>
            <a:r>
              <a:t>workshops/w1/worksheet.md</a:t>
            </a:r>
          </a:p>
          <a:p>
            <a:r>
              <a:t>workshops/w1/answer-key.md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 40–45 min</a:t>
            </a:r>
          </a:p>
          <a:p>
            <a:r>
              <a:t>Close the story: Flo now has tools matched to support work. Invite questions about generation, cache refresh and downstream enforcement. Bridge to a legitimate case read containing malicious instructions.</a:t>
            </a:r>
          </a:p>
          <a:p/>
          <a:p>
            <a:r>
              <a:t>SOURCE FILES (repository root):</a:t>
            </a:r>
          </a:p>
          <a:p>
            <a:r>
              <a:t>docs/workshops/workshop-1-story.md</a:t>
            </a:r>
          </a:p>
          <a:p>
            <a:r>
              <a:t>workshops/w1/worksheet.md</a:t>
            </a:r>
          </a:p>
          <a:p>
            <a:r>
              <a:t>workshops/w1/answer-key.md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 Reference / outside timed delivery</a:t>
            </a:r>
          </a:p>
          <a:p>
            <a:r>
              <a:t>Preparation commands: ./scripts/workshop switch w1; after preserving evidence, ./scripts/workshop reset w1 --yes; ./scripts/workshop verify w1. Optional technical rehearsal: .venv/bin/python workshops/w1/rehearsal_w1.py. It overwrites workshops/w1/evidence/rehearsal-evidence.json. See docs/workshops/w1-api-walkthrough.md and docs/workshops/participant-infra-guide.md. These decks do not run or reset the labs.</a:t>
            </a:r>
          </a:p>
          <a:p/>
          <a:p>
            <a:r>
              <a:t>SOURCE FILES (repository root):</a:t>
            </a:r>
          </a:p>
          <a:p>
            <a:r>
              <a:t>docs/workshops/workshop-1-story.md</a:t>
            </a:r>
          </a:p>
          <a:p>
            <a:r>
              <a:t>workshops/w1/worksheet.md</a:t>
            </a:r>
          </a:p>
          <a:p>
            <a:r>
              <a:t>workshops/w1/answer-key.md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2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37D7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37D7BD"/>
                </a:solidFill>
                <a:latin typeface="DejaVu Sans"/>
              </a:defRPr>
            </a:pPr>
            <a:r>
              <a:t>WORKSHOP 1  /  0–5 MIN</a:t>
            </a:r>
          </a:p>
        </p:txBody>
      </p:sp>
      <p:sp>
        <p:nvSpPr>
          <p:cNvPr id="5" name="Rounded Rectangle 4"/>
          <p:cNvSpPr/>
          <p:nvPr/>
        </p:nvSpPr>
        <p:spPr>
          <a:xfrm>
            <a:off x="9664700" y="1079500"/>
            <a:ext cx="1981200" cy="4013200"/>
          </a:xfrm>
          <a:prstGeom prst="roundRect">
            <a:avLst>
              <a:gd name="adj" fmla="val 6000"/>
            </a:avLst>
          </a:prstGeom>
          <a:solidFill>
            <a:srgbClr val="193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31400" y="1498600"/>
            <a:ext cx="1600200" cy="1778000"/>
          </a:xfrm>
          <a:prstGeom prst="rect">
            <a:avLst/>
          </a:prstGeom>
          <a:noFill/>
        </p:spPr>
        <p:txBody>
          <a:bodyPr wrap="none" lIns="0" rIns="0" tIns="0" bIns="0" anchor="t">
            <a:spAutoFit/>
          </a:bodyPr>
          <a:lstStyle/>
          <a:p>
            <a:pPr>
              <a:lnSpc>
                <a:spcPts val="10250"/>
              </a:lnSpc>
              <a:spcBef>
                <a:spcPts val="0"/>
              </a:spcBef>
              <a:spcAft>
                <a:spcPts val="0"/>
              </a:spcAft>
              <a:defRPr sz="8200" b="1">
                <a:solidFill>
                  <a:srgbClr val="37D7BD"/>
                </a:solidFill>
                <a:latin typeface="DejaVu Sans"/>
              </a:defRPr>
            </a:pPr>
            <a:r>
              <a:t>01</a:t>
            </a:r>
          </a:p>
        </p:txBody>
      </p:sp>
      <p:sp>
        <p:nvSpPr>
          <p:cNvPr id="7" name="TextBox 6"/>
          <p:cNvSpPr txBox="1"/>
          <p:nvPr/>
        </p:nvSpPr>
        <p:spPr>
          <a:xfrm>
            <a:off x="9931400" y="3505200"/>
            <a:ext cx="1562100" cy="1270000"/>
          </a:xfrm>
          <a:prstGeom prst="rect">
            <a:avLst/>
          </a:prstGeom>
          <a:noFill/>
        </p:spPr>
        <p:txBody>
          <a:bodyPr wrap="none" lIns="0" rIns="0" tIns="0" bIns="0" anchor="t">
            <a:spAutoFit/>
          </a:bodyPr>
          <a:lstStyle/>
          <a:p>
            <a:pPr>
              <a:lnSpc>
                <a:spcPts val="3125"/>
              </a:lnSpc>
              <a:spcBef>
                <a:spcPts val="0"/>
              </a:spcBef>
              <a:spcAft>
                <a:spcPts val="0"/>
              </a:spcAft>
              <a:defRPr sz="2500" b="0">
                <a:solidFill>
                  <a:srgbClr val="FFFFFF"/>
                </a:solidFill>
                <a:latin typeface="DejaVu Sans"/>
              </a:defRPr>
            </a:pPr>
            <a:r>
              <a:t>45</a:t>
            </a:r>
          </a:p>
          <a:p>
            <a:pPr>
              <a:lnSpc>
                <a:spcPts val="3125"/>
              </a:lnSpc>
              <a:spcBef>
                <a:spcPts val="0"/>
              </a:spcBef>
              <a:spcAft>
                <a:spcPts val="0"/>
              </a:spcAft>
              <a:defRPr sz="2500" b="0">
                <a:solidFill>
                  <a:srgbClr val="FFFFFF"/>
                </a:solidFill>
                <a:latin typeface="DejaVu Sans"/>
              </a:defRPr>
            </a:pPr>
            <a:r>
              <a:t>MINUTES</a:t>
            </a:r>
          </a:p>
        </p:txBody>
      </p:sp>
      <p:sp>
        <p:nvSpPr>
          <p:cNvPr id="8" name="TextBox 7"/>
          <p:cNvSpPr txBox="1"/>
          <p:nvPr/>
        </p:nvSpPr>
        <p:spPr>
          <a:xfrm>
            <a:off x="533400" y="1371600"/>
            <a:ext cx="8661400" cy="2565400"/>
          </a:xfrm>
          <a:prstGeom prst="rect">
            <a:avLst/>
          </a:prstGeom>
          <a:noFill/>
        </p:spPr>
        <p:txBody>
          <a:bodyPr wrap="none" lIns="0" rIns="0" tIns="0" bIns="0" anchor="t">
            <a:spAutoFit/>
          </a:bodyPr>
          <a:lstStyle/>
          <a:p>
            <a:pPr>
              <a:lnSpc>
                <a:spcPts val="5290"/>
              </a:lnSpc>
              <a:spcBef>
                <a:spcPts val="0"/>
              </a:spcBef>
              <a:spcAft>
                <a:spcPts val="0"/>
              </a:spcAft>
              <a:defRPr sz="4600" b="1">
                <a:solidFill>
                  <a:srgbClr val="FFFFFF"/>
                </a:solidFill>
                <a:latin typeface="DejaVu Sans"/>
              </a:defRPr>
            </a:pPr>
            <a:r>
              <a:t>Give Flo the right tools</a:t>
            </a:r>
          </a:p>
        </p:txBody>
      </p:sp>
      <p:sp>
        <p:nvSpPr>
          <p:cNvPr id="9" name="TextBox 8"/>
          <p:cNvSpPr txBox="1"/>
          <p:nvPr/>
        </p:nvSpPr>
        <p:spPr>
          <a:xfrm>
            <a:off x="558800" y="4152900"/>
            <a:ext cx="8382000" cy="1295400"/>
          </a:xfrm>
          <a:prstGeom prst="rect">
            <a:avLst/>
          </a:prstGeom>
          <a:noFill/>
        </p:spPr>
        <p:txBody>
          <a:bodyPr wrap="none" lIns="0" rIns="0" tIns="0" bIns="0" anchor="t">
            <a:spAutoFit/>
          </a:bodyPr>
          <a:lstStyle/>
          <a:p>
            <a:pPr>
              <a:lnSpc>
                <a:spcPts val="2750"/>
              </a:lnSpc>
              <a:spcBef>
                <a:spcPts val="0"/>
              </a:spcBef>
              <a:spcAft>
                <a:spcPts val="0"/>
              </a:spcAft>
              <a:defRPr sz="2200" b="0">
                <a:solidFill>
                  <a:srgbClr val="C1D5D8"/>
                </a:solidFill>
                <a:latin typeface="DejaVu Sans"/>
              </a:defRPr>
            </a:pPr>
            <a:r>
              <a:t>Modernizing APIs for AI Agents: From OpenAPI to MCP</a:t>
            </a:r>
          </a:p>
        </p:txBody>
      </p:sp>
      <p:sp>
        <p:nvSpPr>
          <p:cNvPr id="10" name="TextBox 9"/>
          <p:cNvSpPr txBox="1"/>
          <p:nvPr/>
        </p:nvSpPr>
        <p:spPr>
          <a:xfrm>
            <a:off x="558800" y="5829300"/>
            <a:ext cx="10960100" cy="571500"/>
          </a:xfrm>
          <a:prstGeom prst="rect">
            <a:avLst/>
          </a:prstGeom>
          <a:noFill/>
        </p:spPr>
        <p:txBody>
          <a:bodyPr wrap="none" lIns="0" rIns="0" tIns="0" bIns="0" anchor="t">
            <a:spAutoFit/>
          </a:bodyPr>
          <a:lstStyle/>
          <a:p>
            <a:pPr>
              <a:lnSpc>
                <a:spcPts val="2125"/>
              </a:lnSpc>
              <a:spcBef>
                <a:spcPts val="0"/>
              </a:spcBef>
              <a:spcAft>
                <a:spcPts val="0"/>
              </a:spcAft>
              <a:defRPr sz="1700" b="1">
                <a:solidFill>
                  <a:srgbClr val="37D7BD"/>
                </a:solidFill>
                <a:latin typeface="DejaVu Sans"/>
              </a:defRPr>
            </a:pPr>
            <a:r>
              <a:t>Generate • Curate • Preserve authorization</a:t>
            </a:r>
          </a:p>
        </p:txBody>
      </p:sp>
      <p:sp>
        <p:nvSpPr>
          <p:cNvPr id="11" name="TextBox 10"/>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AAC0C6"/>
                </a:solidFill>
                <a:latin typeface="DejaVu Sans"/>
              </a:defRPr>
            </a:pPr>
            <a:r>
              <a:t>FLO BANK  /  WORKSHOP 1  /  FICTIONAL LAB</a:t>
            </a:r>
          </a:p>
        </p:txBody>
      </p:sp>
      <p:sp>
        <p:nvSpPr>
          <p:cNvPr id="12" name="TextBox 11"/>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AAC0C6"/>
                </a:solidFill>
                <a:latin typeface="DejaVu Sans"/>
              </a:defRPr>
            </a:pPr>
            <a:r>
              <a:t>01 / 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1  /  0–5 MIN</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One bank. Four engineering questions.</a:t>
            </a:r>
          </a:p>
        </p:txBody>
      </p:sp>
      <p:sp>
        <p:nvSpPr>
          <p:cNvPr id="6" name="Rounded Rectangle 5"/>
          <p:cNvSpPr/>
          <p:nvPr/>
        </p:nvSpPr>
        <p:spPr>
          <a:xfrm>
            <a:off x="533400" y="2146300"/>
            <a:ext cx="3539066" cy="34925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4700" y="24003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4700" y="26797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01 / CAPABILITIES</a:t>
            </a:r>
          </a:p>
        </p:txBody>
      </p:sp>
      <p:sp>
        <p:nvSpPr>
          <p:cNvPr id="9" name="TextBox 8"/>
          <p:cNvSpPr txBox="1"/>
          <p:nvPr/>
        </p:nvSpPr>
        <p:spPr>
          <a:xfrm>
            <a:off x="774700" y="3467100"/>
            <a:ext cx="3056466" cy="2006600"/>
          </a:xfrm>
          <a:prstGeom prst="rect">
            <a:avLst/>
          </a:prstGeom>
          <a:noFill/>
        </p:spPr>
        <p:txBody>
          <a:bodyPr wrap="none" lIns="0" rIns="0" tIns="0" bIns="0" anchor="t">
            <a:spAutoFit/>
          </a:bodyPr>
          <a:lstStyle/>
          <a:p>
            <a:pPr>
              <a:lnSpc>
                <a:spcPts val="2625"/>
              </a:lnSpc>
              <a:spcBef>
                <a:spcPts val="0"/>
              </a:spcBef>
              <a:spcAft>
                <a:spcPts val="0"/>
              </a:spcAft>
              <a:defRPr sz="2100" b="0">
                <a:solidFill>
                  <a:srgbClr val="163640"/>
                </a:solidFill>
                <a:latin typeface="DejaVu Sans"/>
              </a:defRPr>
            </a:pPr>
            <a:r>
              <a:t>Which API operations</a:t>
            </a:r>
          </a:p>
          <a:p>
            <a:pPr>
              <a:lnSpc>
                <a:spcPts val="2625"/>
              </a:lnSpc>
              <a:spcBef>
                <a:spcPts val="0"/>
              </a:spcBef>
              <a:spcAft>
                <a:spcPts val="0"/>
              </a:spcAft>
              <a:defRPr sz="2100" b="0">
                <a:solidFill>
                  <a:srgbClr val="163640"/>
                </a:solidFill>
                <a:latin typeface="DejaVu Sans"/>
              </a:defRPr>
            </a:pPr>
            <a:r>
              <a:t>should an agent</a:t>
            </a:r>
          </a:p>
          <a:p>
            <a:pPr>
              <a:lnSpc>
                <a:spcPts val="2625"/>
              </a:lnSpc>
              <a:spcBef>
                <a:spcPts val="0"/>
              </a:spcBef>
              <a:spcAft>
                <a:spcPts val="0"/>
              </a:spcAft>
              <a:defRPr sz="2100" b="0">
                <a:solidFill>
                  <a:srgbClr val="163640"/>
                </a:solidFill>
                <a:latin typeface="DejaVu Sans"/>
              </a:defRPr>
            </a:pPr>
            <a:r>
              <a:t>discover?</a:t>
            </a:r>
          </a:p>
        </p:txBody>
      </p:sp>
      <p:sp>
        <p:nvSpPr>
          <p:cNvPr id="10" name="Rounded Rectangle 9"/>
          <p:cNvSpPr/>
          <p:nvPr/>
        </p:nvSpPr>
        <p:spPr>
          <a:xfrm>
            <a:off x="4326466" y="2146300"/>
            <a:ext cx="3539066" cy="34925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67766" y="24003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67766" y="26797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02 / AUTHORITY</a:t>
            </a:r>
          </a:p>
        </p:txBody>
      </p:sp>
      <p:sp>
        <p:nvSpPr>
          <p:cNvPr id="13" name="TextBox 12"/>
          <p:cNvSpPr txBox="1"/>
          <p:nvPr/>
        </p:nvSpPr>
        <p:spPr>
          <a:xfrm>
            <a:off x="4567766" y="3467100"/>
            <a:ext cx="3056466" cy="2006600"/>
          </a:xfrm>
          <a:prstGeom prst="rect">
            <a:avLst/>
          </a:prstGeom>
          <a:noFill/>
        </p:spPr>
        <p:txBody>
          <a:bodyPr wrap="none" lIns="0" rIns="0" tIns="0" bIns="0" anchor="t">
            <a:spAutoFit/>
          </a:bodyPr>
          <a:lstStyle/>
          <a:p>
            <a:pPr>
              <a:lnSpc>
                <a:spcPts val="2625"/>
              </a:lnSpc>
              <a:spcBef>
                <a:spcPts val="0"/>
              </a:spcBef>
              <a:spcAft>
                <a:spcPts val="0"/>
              </a:spcAft>
              <a:defRPr sz="2100" b="0">
                <a:solidFill>
                  <a:srgbClr val="163640"/>
                </a:solidFill>
                <a:latin typeface="DejaVu Sans"/>
              </a:defRPr>
            </a:pPr>
            <a:r>
              <a:t>Who may execute a</a:t>
            </a:r>
          </a:p>
          <a:p>
            <a:pPr>
              <a:lnSpc>
                <a:spcPts val="2625"/>
              </a:lnSpc>
              <a:spcBef>
                <a:spcPts val="0"/>
              </a:spcBef>
              <a:spcAft>
                <a:spcPts val="0"/>
              </a:spcAft>
              <a:defRPr sz="2100" b="0">
                <a:solidFill>
                  <a:srgbClr val="163640"/>
                </a:solidFill>
                <a:latin typeface="DejaVu Sans"/>
              </a:defRPr>
            </a:pPr>
            <a:r>
              <a:t>tool, with which</a:t>
            </a:r>
          </a:p>
          <a:p>
            <a:pPr>
              <a:lnSpc>
                <a:spcPts val="2625"/>
              </a:lnSpc>
              <a:spcBef>
                <a:spcPts val="0"/>
              </a:spcBef>
              <a:spcAft>
                <a:spcPts val="0"/>
              </a:spcAft>
              <a:defRPr sz="2100" b="0">
                <a:solidFill>
                  <a:srgbClr val="163640"/>
                </a:solidFill>
                <a:latin typeface="DejaVu Sans"/>
              </a:defRPr>
            </a:pPr>
            <a:r>
              <a:t>arguments?</a:t>
            </a:r>
          </a:p>
        </p:txBody>
      </p:sp>
      <p:sp>
        <p:nvSpPr>
          <p:cNvPr id="14" name="Rounded Rectangle 13"/>
          <p:cNvSpPr/>
          <p:nvPr/>
        </p:nvSpPr>
        <p:spPr>
          <a:xfrm>
            <a:off x="8119533" y="2146300"/>
            <a:ext cx="3539066" cy="34925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60833" y="24003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60833" y="26797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03 + 04 / OPERATIONS</a:t>
            </a:r>
          </a:p>
        </p:txBody>
      </p:sp>
      <p:sp>
        <p:nvSpPr>
          <p:cNvPr id="17" name="TextBox 16"/>
          <p:cNvSpPr txBox="1"/>
          <p:nvPr/>
        </p:nvSpPr>
        <p:spPr>
          <a:xfrm>
            <a:off x="8360833" y="3467100"/>
            <a:ext cx="3056466" cy="2006600"/>
          </a:xfrm>
          <a:prstGeom prst="rect">
            <a:avLst/>
          </a:prstGeom>
          <a:noFill/>
        </p:spPr>
        <p:txBody>
          <a:bodyPr wrap="none" lIns="0" rIns="0" tIns="0" bIns="0" anchor="t">
            <a:spAutoFit/>
          </a:bodyPr>
          <a:lstStyle/>
          <a:p>
            <a:pPr>
              <a:lnSpc>
                <a:spcPts val="2625"/>
              </a:lnSpc>
              <a:spcBef>
                <a:spcPts val="0"/>
              </a:spcBef>
              <a:spcAft>
                <a:spcPts val="0"/>
              </a:spcAft>
              <a:defRPr sz="2100" b="0">
                <a:solidFill>
                  <a:srgbClr val="163640"/>
                </a:solidFill>
                <a:latin typeface="DejaVu Sans"/>
              </a:defRPr>
            </a:pPr>
            <a:r>
              <a:t>Can work survive</a:t>
            </a:r>
          </a:p>
          <a:p>
            <a:pPr>
              <a:lnSpc>
                <a:spcPts val="2625"/>
              </a:lnSpc>
              <a:spcBef>
                <a:spcPts val="0"/>
              </a:spcBef>
              <a:spcAft>
                <a:spcPts val="0"/>
              </a:spcAft>
              <a:defRPr sz="2100" b="0">
                <a:solidFill>
                  <a:srgbClr val="163640"/>
                </a:solidFill>
                <a:latin typeface="DejaVu Sans"/>
              </a:defRPr>
            </a:pPr>
            <a:r>
              <a:t>failure? Can the</a:t>
            </a:r>
          </a:p>
          <a:p>
            <a:pPr>
              <a:lnSpc>
                <a:spcPts val="2625"/>
              </a:lnSpc>
              <a:spcBef>
                <a:spcPts val="0"/>
              </a:spcBef>
              <a:spcAft>
                <a:spcPts val="0"/>
              </a:spcAft>
              <a:defRPr sz="2100" b="0">
                <a:solidFill>
                  <a:srgbClr val="163640"/>
                </a:solidFill>
                <a:latin typeface="DejaVu Sans"/>
              </a:defRPr>
            </a:pPr>
            <a:r>
              <a:t>boundaries withstand</a:t>
            </a:r>
          </a:p>
          <a:p>
            <a:pPr>
              <a:lnSpc>
                <a:spcPts val="2625"/>
              </a:lnSpc>
              <a:spcBef>
                <a:spcPts val="0"/>
              </a:spcBef>
              <a:spcAft>
                <a:spcPts val="0"/>
              </a:spcAft>
              <a:defRPr sz="2100" b="0">
                <a:solidFill>
                  <a:srgbClr val="163640"/>
                </a:solidFill>
                <a:latin typeface="DejaVu Sans"/>
              </a:defRPr>
            </a:pPr>
            <a:r>
              <a:t>an attack?</a:t>
            </a:r>
          </a:p>
        </p:txBody>
      </p:sp>
      <p:sp>
        <p:nvSpPr>
          <p:cNvPr id="18" name="Rounded Rectangle 17"/>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Today: build a purposeful tool catalog over existing banking APIs.</a:t>
            </a:r>
          </a:p>
        </p:txBody>
      </p:sp>
      <p:sp>
        <p:nvSpPr>
          <p:cNvPr id="20" name="TextBox 19"/>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1  /  FICTIONAL LAB</a:t>
            </a:r>
          </a:p>
        </p:txBody>
      </p:sp>
      <p:sp>
        <p:nvSpPr>
          <p:cNvPr id="21" name="TextBox 20"/>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02 / 17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1  /  0–5 MIN</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The 45-minute route</a:t>
            </a:r>
          </a:p>
        </p:txBody>
      </p:sp>
      <p:sp>
        <p:nvSpPr>
          <p:cNvPr id="6" name="Rectangle 5"/>
          <p:cNvSpPr/>
          <p:nvPr/>
        </p:nvSpPr>
        <p:spPr>
          <a:xfrm>
            <a:off x="533400" y="2146300"/>
            <a:ext cx="11125200" cy="508000"/>
          </a:xfrm>
          <a:prstGeom prst="rect">
            <a:avLst/>
          </a:prstGeom>
          <a:solidFill>
            <a:srgbClr val="102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273300"/>
            <a:ext cx="1030223" cy="368300"/>
          </a:xfrm>
          <a:prstGeom prst="rect">
            <a:avLst/>
          </a:prstGeom>
          <a:noFill/>
        </p:spPr>
        <p:txBody>
          <a:bodyPr wrap="none" lIns="0" rIns="0" tIns="0" bIns="0" anchor="t">
            <a:spAutoFit/>
          </a:bodyPr>
          <a:lstStyle/>
          <a:p>
            <a:pPr>
              <a:lnSpc>
                <a:spcPts val="1750"/>
              </a:lnSpc>
              <a:spcBef>
                <a:spcPts val="0"/>
              </a:spcBef>
              <a:spcAft>
                <a:spcPts val="0"/>
              </a:spcAft>
              <a:defRPr sz="1400" b="1">
                <a:solidFill>
                  <a:srgbClr val="FFFFFF"/>
                </a:solidFill>
                <a:latin typeface="DejaVu Sans"/>
              </a:defRPr>
            </a:pPr>
            <a:r>
              <a:t>Time</a:t>
            </a:r>
          </a:p>
        </p:txBody>
      </p:sp>
      <p:sp>
        <p:nvSpPr>
          <p:cNvPr id="8" name="TextBox 7"/>
          <p:cNvSpPr txBox="1"/>
          <p:nvPr/>
        </p:nvSpPr>
        <p:spPr>
          <a:xfrm>
            <a:off x="2020824" y="2273300"/>
            <a:ext cx="4590288" cy="368300"/>
          </a:xfrm>
          <a:prstGeom prst="rect">
            <a:avLst/>
          </a:prstGeom>
          <a:noFill/>
        </p:spPr>
        <p:txBody>
          <a:bodyPr wrap="none" lIns="0" rIns="0" tIns="0" bIns="0" anchor="t">
            <a:spAutoFit/>
          </a:bodyPr>
          <a:lstStyle/>
          <a:p>
            <a:pPr>
              <a:lnSpc>
                <a:spcPts val="1750"/>
              </a:lnSpc>
              <a:spcBef>
                <a:spcPts val="0"/>
              </a:spcBef>
              <a:spcAft>
                <a:spcPts val="0"/>
              </a:spcAft>
              <a:defRPr sz="1400" b="1">
                <a:solidFill>
                  <a:srgbClr val="FFFFFF"/>
                </a:solidFill>
                <a:latin typeface="DejaVu Sans"/>
              </a:defRPr>
            </a:pPr>
            <a:r>
              <a:t>Activity</a:t>
            </a:r>
          </a:p>
        </p:txBody>
      </p:sp>
      <p:sp>
        <p:nvSpPr>
          <p:cNvPr id="9" name="TextBox 8"/>
          <p:cNvSpPr txBox="1"/>
          <p:nvPr/>
        </p:nvSpPr>
        <p:spPr>
          <a:xfrm>
            <a:off x="6915911" y="2273300"/>
            <a:ext cx="4590288" cy="368300"/>
          </a:xfrm>
          <a:prstGeom prst="rect">
            <a:avLst/>
          </a:prstGeom>
          <a:noFill/>
        </p:spPr>
        <p:txBody>
          <a:bodyPr wrap="none" lIns="0" rIns="0" tIns="0" bIns="0" anchor="t">
            <a:spAutoFit/>
          </a:bodyPr>
          <a:lstStyle/>
          <a:p>
            <a:pPr>
              <a:lnSpc>
                <a:spcPts val="1750"/>
              </a:lnSpc>
              <a:spcBef>
                <a:spcPts val="0"/>
              </a:spcBef>
              <a:spcAft>
                <a:spcPts val="0"/>
              </a:spcAft>
              <a:defRPr sz="1400" b="1">
                <a:solidFill>
                  <a:srgbClr val="FFFFFF"/>
                </a:solidFill>
                <a:latin typeface="DejaVu Sans"/>
              </a:defRPr>
            </a:pPr>
            <a:r>
              <a:t>Evidence</a:t>
            </a:r>
          </a:p>
        </p:txBody>
      </p:sp>
      <p:sp>
        <p:nvSpPr>
          <p:cNvPr id="10" name="Rectangle 9"/>
          <p:cNvSpPr/>
          <p:nvPr/>
        </p:nvSpPr>
        <p:spPr>
          <a:xfrm>
            <a:off x="533400" y="2654300"/>
            <a:ext cx="11125200" cy="4974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743200"/>
            <a:ext cx="1030223"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0–5</a:t>
            </a:r>
          </a:p>
        </p:txBody>
      </p:sp>
      <p:sp>
        <p:nvSpPr>
          <p:cNvPr id="12" name="TextBox 11"/>
          <p:cNvSpPr txBox="1"/>
          <p:nvPr/>
        </p:nvSpPr>
        <p:spPr>
          <a:xfrm>
            <a:off x="2020824" y="2743200"/>
            <a:ext cx="4590288"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Support request + API tour</a:t>
            </a:r>
          </a:p>
        </p:txBody>
      </p:sp>
      <p:sp>
        <p:nvSpPr>
          <p:cNvPr id="13" name="TextBox 12"/>
          <p:cNvSpPr txBox="1"/>
          <p:nvPr/>
        </p:nvSpPr>
        <p:spPr>
          <a:xfrm>
            <a:off x="6915911" y="2743200"/>
            <a:ext cx="4590288"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Minimum required capabilities</a:t>
            </a:r>
          </a:p>
        </p:txBody>
      </p:sp>
      <p:sp>
        <p:nvSpPr>
          <p:cNvPr id="14" name="Rectangle 13"/>
          <p:cNvSpPr/>
          <p:nvPr/>
        </p:nvSpPr>
        <p:spPr>
          <a:xfrm>
            <a:off x="533400" y="3151716"/>
            <a:ext cx="11125200" cy="497416"/>
          </a:xfrm>
          <a:prstGeom prst="rect">
            <a:avLst/>
          </a:prstGeom>
          <a:solidFill>
            <a:srgbClr val="E9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240616"/>
            <a:ext cx="1030223"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5–12</a:t>
            </a:r>
          </a:p>
        </p:txBody>
      </p:sp>
      <p:sp>
        <p:nvSpPr>
          <p:cNvPr id="16" name="TextBox 15"/>
          <p:cNvSpPr txBox="1"/>
          <p:nvPr/>
        </p:nvSpPr>
        <p:spPr>
          <a:xfrm>
            <a:off x="2020824" y="3240616"/>
            <a:ext cx="4590288"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OpenAPI and MCP</a:t>
            </a:r>
          </a:p>
        </p:txBody>
      </p:sp>
      <p:sp>
        <p:nvSpPr>
          <p:cNvPr id="17" name="TextBox 16"/>
          <p:cNvSpPr txBox="1"/>
          <p:nvPr/>
        </p:nvSpPr>
        <p:spPr>
          <a:xfrm>
            <a:off x="6915911" y="3240616"/>
            <a:ext cx="4590288"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Initialization response</a:t>
            </a:r>
          </a:p>
        </p:txBody>
      </p:sp>
      <p:sp>
        <p:nvSpPr>
          <p:cNvPr id="18" name="Rectangle 17"/>
          <p:cNvSpPr/>
          <p:nvPr/>
        </p:nvSpPr>
        <p:spPr>
          <a:xfrm>
            <a:off x="533400" y="3649133"/>
            <a:ext cx="11125200" cy="4974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738033"/>
            <a:ext cx="1030223"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12–22</a:t>
            </a:r>
          </a:p>
        </p:txBody>
      </p:sp>
      <p:sp>
        <p:nvSpPr>
          <p:cNvPr id="20" name="TextBox 19"/>
          <p:cNvSpPr txBox="1"/>
          <p:nvPr/>
        </p:nvSpPr>
        <p:spPr>
          <a:xfrm>
            <a:off x="2020824" y="3738033"/>
            <a:ext cx="4590288"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Inspect generated tools</a:t>
            </a:r>
          </a:p>
        </p:txBody>
      </p:sp>
      <p:sp>
        <p:nvSpPr>
          <p:cNvPr id="21" name="TextBox 20"/>
          <p:cNvSpPr txBox="1"/>
          <p:nvPr/>
        </p:nvSpPr>
        <p:spPr>
          <a:xfrm>
            <a:off x="6915911" y="3738033"/>
            <a:ext cx="4590288"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Broad catalog</a:t>
            </a:r>
          </a:p>
        </p:txBody>
      </p:sp>
      <p:sp>
        <p:nvSpPr>
          <p:cNvPr id="22" name="Rectangle 21"/>
          <p:cNvSpPr/>
          <p:nvPr/>
        </p:nvSpPr>
        <p:spPr>
          <a:xfrm>
            <a:off x="533400" y="4146550"/>
            <a:ext cx="11125200" cy="497416"/>
          </a:xfrm>
          <a:prstGeom prst="rect">
            <a:avLst/>
          </a:prstGeom>
          <a:solidFill>
            <a:srgbClr val="E9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4235450"/>
            <a:ext cx="1030223"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22–32</a:t>
            </a:r>
          </a:p>
        </p:txBody>
      </p:sp>
      <p:sp>
        <p:nvSpPr>
          <p:cNvPr id="24" name="TextBox 23"/>
          <p:cNvSpPr txBox="1"/>
          <p:nvPr/>
        </p:nvSpPr>
        <p:spPr>
          <a:xfrm>
            <a:off x="2020824" y="4235450"/>
            <a:ext cx="4590288"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Curate and invoke</a:t>
            </a:r>
          </a:p>
        </p:txBody>
      </p:sp>
      <p:sp>
        <p:nvSpPr>
          <p:cNvPr id="25" name="TextBox 24"/>
          <p:cNvSpPr txBox="1"/>
          <p:nvPr/>
        </p:nvSpPr>
        <p:spPr>
          <a:xfrm>
            <a:off x="6915911" y="4235450"/>
            <a:ext cx="4590288"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Two tools + successful read</a:t>
            </a:r>
          </a:p>
        </p:txBody>
      </p:sp>
      <p:sp>
        <p:nvSpPr>
          <p:cNvPr id="26" name="Rectangle 25"/>
          <p:cNvSpPr/>
          <p:nvPr/>
        </p:nvSpPr>
        <p:spPr>
          <a:xfrm>
            <a:off x="533400" y="4643966"/>
            <a:ext cx="11125200" cy="4974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732866"/>
            <a:ext cx="1030223"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32–40</a:t>
            </a:r>
          </a:p>
        </p:txBody>
      </p:sp>
      <p:sp>
        <p:nvSpPr>
          <p:cNvPr id="28" name="TextBox 27"/>
          <p:cNvSpPr txBox="1"/>
          <p:nvPr/>
        </p:nvSpPr>
        <p:spPr>
          <a:xfrm>
            <a:off x="2020824" y="4732866"/>
            <a:ext cx="4590288"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Preserve Gate 3</a:t>
            </a:r>
          </a:p>
        </p:txBody>
      </p:sp>
      <p:sp>
        <p:nvSpPr>
          <p:cNvPr id="29" name="TextBox 28"/>
          <p:cNvSpPr txBox="1"/>
          <p:nvPr/>
        </p:nvSpPr>
        <p:spPr>
          <a:xfrm>
            <a:off x="6915911" y="4732866"/>
            <a:ext cx="4590288"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Embedded authorization denial</a:t>
            </a:r>
          </a:p>
        </p:txBody>
      </p:sp>
      <p:sp>
        <p:nvSpPr>
          <p:cNvPr id="30" name="Rectangle 29"/>
          <p:cNvSpPr/>
          <p:nvPr/>
        </p:nvSpPr>
        <p:spPr>
          <a:xfrm>
            <a:off x="533400" y="5141383"/>
            <a:ext cx="11125200" cy="497416"/>
          </a:xfrm>
          <a:prstGeom prst="rect">
            <a:avLst/>
          </a:prstGeom>
          <a:solidFill>
            <a:srgbClr val="E9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5230283"/>
            <a:ext cx="1030223"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40–45</a:t>
            </a:r>
          </a:p>
        </p:txBody>
      </p:sp>
      <p:sp>
        <p:nvSpPr>
          <p:cNvPr id="32" name="TextBox 31"/>
          <p:cNvSpPr txBox="1"/>
          <p:nvPr/>
        </p:nvSpPr>
        <p:spPr>
          <a:xfrm>
            <a:off x="2020824" y="5230283"/>
            <a:ext cx="4590288"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Review and questions</a:t>
            </a:r>
          </a:p>
        </p:txBody>
      </p:sp>
      <p:sp>
        <p:nvSpPr>
          <p:cNvPr id="33" name="TextBox 32"/>
          <p:cNvSpPr txBox="1"/>
          <p:nvPr/>
        </p:nvSpPr>
        <p:spPr>
          <a:xfrm>
            <a:off x="6915911" y="5230283"/>
            <a:ext cx="4590288"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Capability design explanation</a:t>
            </a:r>
          </a:p>
        </p:txBody>
      </p:sp>
      <p:sp>
        <p:nvSpPr>
          <p:cNvPr id="34" name="Rounded Rectangle 33"/>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Follow the worksheet; record the actual evidence from your run.</a:t>
            </a:r>
          </a:p>
        </p:txBody>
      </p:sp>
      <p:sp>
        <p:nvSpPr>
          <p:cNvPr id="36" name="TextBox 35"/>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1  /  FICTIONAL LAB</a:t>
            </a:r>
          </a:p>
        </p:txBody>
      </p:sp>
      <p:sp>
        <p:nvSpPr>
          <p:cNvPr id="37" name="TextBox 36"/>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03 / 17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1  /  0–5 MIN</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Start with the customer's job</a:t>
            </a:r>
          </a:p>
        </p:txBody>
      </p:sp>
      <p:sp>
        <p:nvSpPr>
          <p:cNvPr id="6" name="TextBox 5"/>
          <p:cNvSpPr txBox="1"/>
          <p:nvPr/>
        </p:nvSpPr>
        <p:spPr>
          <a:xfrm>
            <a:off x="546100" y="1841500"/>
            <a:ext cx="11061700" cy="736600"/>
          </a:xfrm>
          <a:prstGeom prst="rect">
            <a:avLst/>
          </a:prstGeom>
          <a:noFill/>
        </p:spPr>
        <p:txBody>
          <a:bodyPr wrap="none" lIns="0" rIns="0" tIns="0" bIns="0" anchor="t">
            <a:spAutoFit/>
          </a:bodyPr>
          <a:lstStyle/>
          <a:p>
            <a:pPr>
              <a:lnSpc>
                <a:spcPts val="2250"/>
              </a:lnSpc>
              <a:spcBef>
                <a:spcPts val="0"/>
              </a:spcBef>
              <a:spcAft>
                <a:spcPts val="0"/>
              </a:spcAft>
              <a:defRPr sz="1800" b="0">
                <a:solidFill>
                  <a:srgbClr val="536B73"/>
                </a:solidFill>
                <a:latin typeface="DejaVu Sans"/>
              </a:defRPr>
            </a:pPr>
            <a:r>
              <a:t>“What is my account balance, and what is happening with my case?”</a:t>
            </a:r>
          </a:p>
        </p:txBody>
      </p:sp>
      <p:sp>
        <p:nvSpPr>
          <p:cNvPr id="7" name="Rounded Rectangle 6"/>
          <p:cNvSpPr/>
          <p:nvPr/>
        </p:nvSpPr>
        <p:spPr>
          <a:xfrm>
            <a:off x="533400" y="2730500"/>
            <a:ext cx="3539066" cy="29083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4700" y="29845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4700" y="32639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NEEDED</a:t>
            </a:r>
          </a:p>
        </p:txBody>
      </p:sp>
      <p:sp>
        <p:nvSpPr>
          <p:cNvPr id="10" name="TextBox 9"/>
          <p:cNvSpPr txBox="1"/>
          <p:nvPr/>
        </p:nvSpPr>
        <p:spPr>
          <a:xfrm>
            <a:off x="774700" y="4051300"/>
            <a:ext cx="3056466" cy="1422400"/>
          </a:xfrm>
          <a:prstGeom prst="rect">
            <a:avLst/>
          </a:prstGeom>
          <a:noFill/>
        </p:spPr>
        <p:txBody>
          <a:bodyPr wrap="none" lIns="0" rIns="0" tIns="0" bIns="0" anchor="t">
            <a:spAutoFit/>
          </a:bodyPr>
          <a:lstStyle/>
          <a:p>
            <a:pPr>
              <a:lnSpc>
                <a:spcPts val="2625"/>
              </a:lnSpc>
              <a:spcBef>
                <a:spcPts val="0"/>
              </a:spcBef>
              <a:spcAft>
                <a:spcPts val="0"/>
              </a:spcAft>
              <a:defRPr sz="2100" b="0">
                <a:solidFill>
                  <a:srgbClr val="163640"/>
                </a:solidFill>
                <a:latin typeface="DejaVu Sans"/>
              </a:defRPr>
            </a:pPr>
            <a:r>
              <a:t>Read the account.</a:t>
            </a:r>
          </a:p>
          <a:p>
            <a:pPr>
              <a:lnSpc>
                <a:spcPts val="2625"/>
              </a:lnSpc>
              <a:spcBef>
                <a:spcPts val="0"/>
              </a:spcBef>
              <a:spcAft>
                <a:spcPts val="0"/>
              </a:spcAft>
              <a:defRPr sz="2100" b="0">
                <a:solidFill>
                  <a:srgbClr val="163640"/>
                </a:solidFill>
                <a:latin typeface="DejaVu Sans"/>
              </a:defRPr>
            </a:pPr>
            <a:r>
              <a:t>Read the support</a:t>
            </a:r>
          </a:p>
          <a:p>
            <a:pPr>
              <a:lnSpc>
                <a:spcPts val="2625"/>
              </a:lnSpc>
              <a:spcBef>
                <a:spcPts val="0"/>
              </a:spcBef>
              <a:spcAft>
                <a:spcPts val="0"/>
              </a:spcAft>
              <a:defRPr sz="2100" b="0">
                <a:solidFill>
                  <a:srgbClr val="163640"/>
                </a:solidFill>
                <a:latin typeface="DejaVu Sans"/>
              </a:defRPr>
            </a:pPr>
            <a:r>
              <a:t>case. Return clear</a:t>
            </a:r>
          </a:p>
          <a:p>
            <a:pPr>
              <a:lnSpc>
                <a:spcPts val="2625"/>
              </a:lnSpc>
              <a:spcBef>
                <a:spcPts val="0"/>
              </a:spcBef>
              <a:spcAft>
                <a:spcPts val="0"/>
              </a:spcAft>
              <a:defRPr sz="2100" b="0">
                <a:solidFill>
                  <a:srgbClr val="163640"/>
                </a:solidFill>
                <a:latin typeface="DejaVu Sans"/>
              </a:defRPr>
            </a:pPr>
            <a:r>
              <a:t>identifiers and units.</a:t>
            </a:r>
          </a:p>
        </p:txBody>
      </p:sp>
      <p:sp>
        <p:nvSpPr>
          <p:cNvPr id="11" name="Rounded Rectangle 10"/>
          <p:cNvSpPr/>
          <p:nvPr/>
        </p:nvSpPr>
        <p:spPr>
          <a:xfrm>
            <a:off x="4326466" y="2730500"/>
            <a:ext cx="3539066" cy="29083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67766" y="29845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67766" y="32639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EXCESS CAPABILITY</a:t>
            </a:r>
          </a:p>
        </p:txBody>
      </p:sp>
      <p:sp>
        <p:nvSpPr>
          <p:cNvPr id="14" name="TextBox 13"/>
          <p:cNvSpPr txBox="1"/>
          <p:nvPr/>
        </p:nvSpPr>
        <p:spPr>
          <a:xfrm>
            <a:off x="4567766" y="4051300"/>
            <a:ext cx="3056466" cy="1422400"/>
          </a:xfrm>
          <a:prstGeom prst="rect">
            <a:avLst/>
          </a:prstGeom>
          <a:noFill/>
        </p:spPr>
        <p:txBody>
          <a:bodyPr wrap="none" lIns="0" rIns="0" tIns="0" bIns="0" anchor="t">
            <a:spAutoFit/>
          </a:bodyPr>
          <a:lstStyle/>
          <a:p>
            <a:pPr>
              <a:lnSpc>
                <a:spcPts val="2437"/>
              </a:lnSpc>
              <a:spcBef>
                <a:spcPts val="0"/>
              </a:spcBef>
              <a:spcAft>
                <a:spcPts val="0"/>
              </a:spcAft>
              <a:defRPr sz="1950" b="0">
                <a:solidFill>
                  <a:srgbClr val="163640"/>
                </a:solidFill>
                <a:latin typeface="DejaVu Sans"/>
              </a:defRPr>
            </a:pPr>
            <a:r>
              <a:t>Payments, incident</a:t>
            </a:r>
          </a:p>
          <a:p>
            <a:pPr>
              <a:lnSpc>
                <a:spcPts val="2437"/>
              </a:lnSpc>
              <a:spcBef>
                <a:spcPts val="0"/>
              </a:spcBef>
              <a:spcAft>
                <a:spcPts val="0"/>
              </a:spcAft>
              <a:defRPr sz="1950" b="0">
                <a:solidFill>
                  <a:srgbClr val="163640"/>
                </a:solidFill>
                <a:latin typeface="DejaVu Sans"/>
              </a:defRPr>
            </a:pPr>
            <a:r>
              <a:t>mutations and</a:t>
            </a:r>
          </a:p>
          <a:p>
            <a:pPr>
              <a:lnSpc>
                <a:spcPts val="2437"/>
              </a:lnSpc>
              <a:spcBef>
                <a:spcPts val="0"/>
              </a:spcBef>
              <a:spcAft>
                <a:spcPts val="0"/>
              </a:spcAft>
              <a:defRPr sz="1950" b="0">
                <a:solidFill>
                  <a:srgbClr val="163640"/>
                </a:solidFill>
                <a:latin typeface="DejaVu Sans"/>
              </a:defRPr>
            </a:pPr>
            <a:r>
              <a:t>database resets exceed</a:t>
            </a:r>
          </a:p>
          <a:p>
            <a:pPr>
              <a:lnSpc>
                <a:spcPts val="2437"/>
              </a:lnSpc>
              <a:spcBef>
                <a:spcPts val="0"/>
              </a:spcBef>
              <a:spcAft>
                <a:spcPts val="0"/>
              </a:spcAft>
              <a:defRPr sz="1950" b="0">
                <a:solidFill>
                  <a:srgbClr val="163640"/>
                </a:solidFill>
                <a:latin typeface="DejaVu Sans"/>
              </a:defRPr>
            </a:pPr>
            <a:r>
              <a:t>this support task.</a:t>
            </a:r>
          </a:p>
        </p:txBody>
      </p:sp>
      <p:sp>
        <p:nvSpPr>
          <p:cNvPr id="15" name="Rounded Rectangle 14"/>
          <p:cNvSpPr/>
          <p:nvPr/>
        </p:nvSpPr>
        <p:spPr>
          <a:xfrm>
            <a:off x="8119533" y="2730500"/>
            <a:ext cx="3539066" cy="29083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0833" y="29845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60833" y="32639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LIVE API TOUR</a:t>
            </a:r>
          </a:p>
        </p:txBody>
      </p:sp>
      <p:sp>
        <p:nvSpPr>
          <p:cNvPr id="18" name="TextBox 17"/>
          <p:cNvSpPr txBox="1"/>
          <p:nvPr/>
        </p:nvSpPr>
        <p:spPr>
          <a:xfrm>
            <a:off x="8360833" y="4051300"/>
            <a:ext cx="3056466" cy="1422400"/>
          </a:xfrm>
          <a:prstGeom prst="rect">
            <a:avLst/>
          </a:prstGeom>
          <a:noFill/>
        </p:spPr>
        <p:txBody>
          <a:bodyPr wrap="none" lIns="0" rIns="0" tIns="0" bIns="0" anchor="t">
            <a:spAutoFit/>
          </a:bodyPr>
          <a:lstStyle/>
          <a:p>
            <a:pPr>
              <a:lnSpc>
                <a:spcPts val="2125"/>
              </a:lnSpc>
              <a:spcBef>
                <a:spcPts val="0"/>
              </a:spcBef>
              <a:spcAft>
                <a:spcPts val="0"/>
              </a:spcAft>
              <a:defRPr sz="1700" b="0">
                <a:solidFill>
                  <a:srgbClr val="163640"/>
                </a:solidFill>
                <a:latin typeface="DejaVu Sans"/>
              </a:defRPr>
            </a:pPr>
            <a:r>
              <a:t>Open localhost:9080/docs.</a:t>
            </a:r>
          </a:p>
          <a:p>
            <a:pPr>
              <a:lnSpc>
                <a:spcPts val="2125"/>
              </a:lnSpc>
              <a:spcBef>
                <a:spcPts val="0"/>
              </a:spcBef>
              <a:spcAft>
                <a:spcPts val="0"/>
              </a:spcAft>
              <a:defRPr sz="1700" b="0">
                <a:solidFill>
                  <a:srgbClr val="163640"/>
                </a:solidFill>
                <a:latin typeface="DejaVu Sans"/>
              </a:defRPr>
            </a:pPr>
            <a:r>
              <a:t>Inspect an account</a:t>
            </a:r>
          </a:p>
          <a:p>
            <a:pPr>
              <a:lnSpc>
                <a:spcPts val="2125"/>
              </a:lnSpc>
              <a:spcBef>
                <a:spcPts val="0"/>
              </a:spcBef>
              <a:spcAft>
                <a:spcPts val="0"/>
              </a:spcAft>
              <a:defRPr sz="1700" b="0">
                <a:solidFill>
                  <a:srgbClr val="163640"/>
                </a:solidFill>
                <a:latin typeface="DejaVu Sans"/>
              </a:defRPr>
            </a:pPr>
            <a:r>
              <a:t>operation and the</a:t>
            </a:r>
          </a:p>
          <a:p>
            <a:pPr>
              <a:lnSpc>
                <a:spcPts val="2125"/>
              </a:lnSpc>
              <a:spcBef>
                <a:spcPts val="0"/>
              </a:spcBef>
              <a:spcAft>
                <a:spcPts val="0"/>
              </a:spcAft>
              <a:defRPr sz="1700" b="0">
                <a:solidFill>
                  <a:srgbClr val="163640"/>
                </a:solidFill>
                <a:latin typeface="DejaVu Sans"/>
              </a:defRPr>
            </a:pPr>
            <a:r>
              <a:t>browser's network</a:t>
            </a:r>
          </a:p>
          <a:p>
            <a:pPr>
              <a:lnSpc>
                <a:spcPts val="2125"/>
              </a:lnSpc>
              <a:spcBef>
                <a:spcPts val="0"/>
              </a:spcBef>
              <a:spcAft>
                <a:spcPts val="0"/>
              </a:spcAft>
              <a:defRPr sz="1700" b="0">
                <a:solidFill>
                  <a:srgbClr val="163640"/>
                </a:solidFill>
                <a:latin typeface="DejaVu Sans"/>
              </a:defRPr>
            </a:pPr>
            <a:r>
              <a:t>requests.</a:t>
            </a:r>
          </a:p>
        </p:txBody>
      </p:sp>
      <p:sp>
        <p:nvSpPr>
          <p:cNvPr id="19" name="Rounded Rectangle 18"/>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The customer's job defines the tool surface.</a:t>
            </a:r>
          </a:p>
        </p:txBody>
      </p:sp>
      <p:sp>
        <p:nvSpPr>
          <p:cNvPr id="21" name="TextBox 20"/>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1  /  FICTIONAL LAB</a:t>
            </a:r>
          </a:p>
        </p:txBody>
      </p:sp>
      <p:sp>
        <p:nvSpPr>
          <p:cNvPr id="22" name="TextBox 21"/>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04 / 17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1  /  5–12 MIN</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An HTTP contract becomes a tool interface</a:t>
            </a:r>
          </a:p>
        </p:txBody>
      </p:sp>
      <p:sp>
        <p:nvSpPr>
          <p:cNvPr id="6" name="Rectangle 5"/>
          <p:cNvSpPr/>
          <p:nvPr/>
        </p:nvSpPr>
        <p:spPr>
          <a:xfrm>
            <a:off x="533400" y="2146300"/>
            <a:ext cx="11125200" cy="508000"/>
          </a:xfrm>
          <a:prstGeom prst="rect">
            <a:avLst/>
          </a:prstGeom>
          <a:solidFill>
            <a:srgbClr val="102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273300"/>
            <a:ext cx="3032760" cy="368300"/>
          </a:xfrm>
          <a:prstGeom prst="rect">
            <a:avLst/>
          </a:prstGeom>
          <a:noFill/>
        </p:spPr>
        <p:txBody>
          <a:bodyPr wrap="none" lIns="0" rIns="0" tIns="0" bIns="0" anchor="t">
            <a:spAutoFit/>
          </a:bodyPr>
          <a:lstStyle/>
          <a:p>
            <a:pPr>
              <a:lnSpc>
                <a:spcPts val="1750"/>
              </a:lnSpc>
              <a:spcBef>
                <a:spcPts val="0"/>
              </a:spcBef>
              <a:spcAft>
                <a:spcPts val="0"/>
              </a:spcAft>
              <a:defRPr sz="1400" b="1">
                <a:solidFill>
                  <a:srgbClr val="FFFFFF"/>
                </a:solidFill>
                <a:latin typeface="DejaVu Sans"/>
              </a:defRPr>
            </a:pPr>
            <a:r>
              <a:t>Concern</a:t>
            </a:r>
          </a:p>
        </p:txBody>
      </p:sp>
      <p:sp>
        <p:nvSpPr>
          <p:cNvPr id="8" name="TextBox 7"/>
          <p:cNvSpPr txBox="1"/>
          <p:nvPr/>
        </p:nvSpPr>
        <p:spPr>
          <a:xfrm>
            <a:off x="4023360" y="2273300"/>
            <a:ext cx="3700272" cy="368300"/>
          </a:xfrm>
          <a:prstGeom prst="rect">
            <a:avLst/>
          </a:prstGeom>
          <a:noFill/>
        </p:spPr>
        <p:txBody>
          <a:bodyPr wrap="none" lIns="0" rIns="0" tIns="0" bIns="0" anchor="t">
            <a:spAutoFit/>
          </a:bodyPr>
          <a:lstStyle/>
          <a:p>
            <a:pPr>
              <a:lnSpc>
                <a:spcPts val="1750"/>
              </a:lnSpc>
              <a:spcBef>
                <a:spcPts val="0"/>
              </a:spcBef>
              <a:spcAft>
                <a:spcPts val="0"/>
              </a:spcAft>
              <a:defRPr sz="1400" b="1">
                <a:solidFill>
                  <a:srgbClr val="FFFFFF"/>
                </a:solidFill>
                <a:latin typeface="DejaVu Sans"/>
              </a:defRPr>
            </a:pPr>
            <a:r>
              <a:t>OpenAPI</a:t>
            </a:r>
          </a:p>
        </p:txBody>
      </p:sp>
      <p:sp>
        <p:nvSpPr>
          <p:cNvPr id="9" name="TextBox 8"/>
          <p:cNvSpPr txBox="1"/>
          <p:nvPr/>
        </p:nvSpPr>
        <p:spPr>
          <a:xfrm>
            <a:off x="8028432" y="2273300"/>
            <a:ext cx="3477768" cy="368300"/>
          </a:xfrm>
          <a:prstGeom prst="rect">
            <a:avLst/>
          </a:prstGeom>
          <a:noFill/>
        </p:spPr>
        <p:txBody>
          <a:bodyPr wrap="none" lIns="0" rIns="0" tIns="0" bIns="0" anchor="t">
            <a:spAutoFit/>
          </a:bodyPr>
          <a:lstStyle/>
          <a:p>
            <a:pPr>
              <a:lnSpc>
                <a:spcPts val="1750"/>
              </a:lnSpc>
              <a:spcBef>
                <a:spcPts val="0"/>
              </a:spcBef>
              <a:spcAft>
                <a:spcPts val="0"/>
              </a:spcAft>
              <a:defRPr sz="1400" b="1">
                <a:solidFill>
                  <a:srgbClr val="FFFFFF"/>
                </a:solidFill>
                <a:latin typeface="DejaVu Sans"/>
              </a:defRPr>
            </a:pPr>
            <a:r>
              <a:t>MCP in this lab</a:t>
            </a:r>
          </a:p>
        </p:txBody>
      </p:sp>
      <p:sp>
        <p:nvSpPr>
          <p:cNvPr id="10" name="Rectangle 9"/>
          <p:cNvSpPr/>
          <p:nvPr/>
        </p:nvSpPr>
        <p:spPr>
          <a:xfrm>
            <a:off x="533400" y="2654300"/>
            <a:ext cx="11125200" cy="7461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743200"/>
            <a:ext cx="3032760"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Describe</a:t>
            </a:r>
          </a:p>
        </p:txBody>
      </p:sp>
      <p:sp>
        <p:nvSpPr>
          <p:cNvPr id="12" name="TextBox 11"/>
          <p:cNvSpPr txBox="1"/>
          <p:nvPr/>
        </p:nvSpPr>
        <p:spPr>
          <a:xfrm>
            <a:off x="4023360" y="2743200"/>
            <a:ext cx="3700272"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HTTP paths, methods, schemas</a:t>
            </a:r>
          </a:p>
        </p:txBody>
      </p:sp>
      <p:sp>
        <p:nvSpPr>
          <p:cNvPr id="13" name="TextBox 12"/>
          <p:cNvSpPr txBox="1"/>
          <p:nvPr/>
        </p:nvSpPr>
        <p:spPr>
          <a:xfrm>
            <a:off x="8028432" y="2743200"/>
            <a:ext cx="3477768"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Named tools + input schemas</a:t>
            </a:r>
          </a:p>
        </p:txBody>
      </p:sp>
      <p:sp>
        <p:nvSpPr>
          <p:cNvPr id="14" name="Rectangle 13"/>
          <p:cNvSpPr/>
          <p:nvPr/>
        </p:nvSpPr>
        <p:spPr>
          <a:xfrm>
            <a:off x="533400" y="3400425"/>
            <a:ext cx="11125200" cy="746125"/>
          </a:xfrm>
          <a:prstGeom prst="rect">
            <a:avLst/>
          </a:prstGeom>
          <a:solidFill>
            <a:srgbClr val="E9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489325"/>
            <a:ext cx="3032760"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Discover</a:t>
            </a:r>
          </a:p>
        </p:txBody>
      </p:sp>
      <p:sp>
        <p:nvSpPr>
          <p:cNvPr id="16" name="TextBox 15"/>
          <p:cNvSpPr txBox="1"/>
          <p:nvPr/>
        </p:nvSpPr>
        <p:spPr>
          <a:xfrm>
            <a:off x="4023360" y="3489325"/>
            <a:ext cx="3700272"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Read a service contract</a:t>
            </a:r>
          </a:p>
        </p:txBody>
      </p:sp>
      <p:sp>
        <p:nvSpPr>
          <p:cNvPr id="17" name="TextBox 16"/>
          <p:cNvSpPr txBox="1"/>
          <p:nvPr/>
        </p:nvSpPr>
        <p:spPr>
          <a:xfrm>
            <a:off x="8028432" y="3489325"/>
            <a:ext cx="3477768"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Initialize, then list tools</a:t>
            </a:r>
          </a:p>
        </p:txBody>
      </p:sp>
      <p:sp>
        <p:nvSpPr>
          <p:cNvPr id="18" name="Rectangle 17"/>
          <p:cNvSpPr/>
          <p:nvPr/>
        </p:nvSpPr>
        <p:spPr>
          <a:xfrm>
            <a:off x="533400" y="4146550"/>
            <a:ext cx="11125200" cy="7461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235450"/>
            <a:ext cx="3032760"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Invoke</a:t>
            </a:r>
          </a:p>
        </p:txBody>
      </p:sp>
      <p:sp>
        <p:nvSpPr>
          <p:cNvPr id="20" name="TextBox 19"/>
          <p:cNvSpPr txBox="1"/>
          <p:nvPr/>
        </p:nvSpPr>
        <p:spPr>
          <a:xfrm>
            <a:off x="4023360" y="4235450"/>
            <a:ext cx="3700272"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Send an HTTP request</a:t>
            </a:r>
          </a:p>
        </p:txBody>
      </p:sp>
      <p:sp>
        <p:nvSpPr>
          <p:cNvPr id="21" name="TextBox 20"/>
          <p:cNvSpPr txBox="1"/>
          <p:nvPr/>
        </p:nvSpPr>
        <p:spPr>
          <a:xfrm>
            <a:off x="8028432" y="4235450"/>
            <a:ext cx="3477768"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Call a tool with arguments</a:t>
            </a:r>
          </a:p>
        </p:txBody>
      </p:sp>
      <p:sp>
        <p:nvSpPr>
          <p:cNvPr id="22" name="Rectangle 21"/>
          <p:cNvSpPr/>
          <p:nvPr/>
        </p:nvSpPr>
        <p:spPr>
          <a:xfrm>
            <a:off x="533400" y="4892675"/>
            <a:ext cx="11125200" cy="746125"/>
          </a:xfrm>
          <a:prstGeom prst="rect">
            <a:avLst/>
          </a:prstGeom>
          <a:solidFill>
            <a:srgbClr val="E9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4981575"/>
            <a:ext cx="3032760"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Govern</a:t>
            </a:r>
          </a:p>
        </p:txBody>
      </p:sp>
      <p:sp>
        <p:nvSpPr>
          <p:cNvPr id="24" name="TextBox 23"/>
          <p:cNvSpPr txBox="1"/>
          <p:nvPr/>
        </p:nvSpPr>
        <p:spPr>
          <a:xfrm>
            <a:off x="4023360" y="4981575"/>
            <a:ext cx="3700272"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Backend/API controls</a:t>
            </a:r>
          </a:p>
        </p:txBody>
      </p:sp>
      <p:sp>
        <p:nvSpPr>
          <p:cNvPr id="25" name="TextBox 24"/>
          <p:cNvSpPr txBox="1"/>
          <p:nvPr/>
        </p:nvSpPr>
        <p:spPr>
          <a:xfrm>
            <a:off x="8028432" y="4981575"/>
            <a:ext cx="3477768"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Preserve downstream controls</a:t>
            </a:r>
          </a:p>
        </p:txBody>
      </p:sp>
      <p:sp>
        <p:nvSpPr>
          <p:cNvPr id="26" name="Rounded Rectangle 25"/>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Generation maps structure; people design capability and intent.</a:t>
            </a:r>
          </a:p>
        </p:txBody>
      </p:sp>
      <p:sp>
        <p:nvSpPr>
          <p:cNvPr id="28" name="TextBox 27"/>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1  /  FICTIONAL LAB</a:t>
            </a:r>
          </a:p>
        </p:txBody>
      </p:sp>
      <p:sp>
        <p:nvSpPr>
          <p:cNvPr id="29" name="TextBox 28"/>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05 / 17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1  /  5–12 MIN</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Follow the generated call</a:t>
            </a:r>
          </a:p>
        </p:txBody>
      </p:sp>
      <p:sp>
        <p:nvSpPr>
          <p:cNvPr id="6" name="Rounded Rectangle 5"/>
          <p:cNvSpPr/>
          <p:nvPr/>
        </p:nvSpPr>
        <p:spPr>
          <a:xfrm>
            <a:off x="533400" y="2451100"/>
            <a:ext cx="2571750" cy="30734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3900" y="2654300"/>
            <a:ext cx="2190750" cy="482600"/>
          </a:xfrm>
          <a:prstGeom prst="rect">
            <a:avLst/>
          </a:prstGeom>
          <a:noFill/>
        </p:spPr>
        <p:txBody>
          <a:bodyPr wrap="none" lIns="0" rIns="0" tIns="0" bIns="0" anchor="t">
            <a:spAutoFit/>
          </a:bodyPr>
          <a:lstStyle/>
          <a:p>
            <a:pPr>
              <a:lnSpc>
                <a:spcPts val="2750"/>
              </a:lnSpc>
              <a:spcBef>
                <a:spcPts val="0"/>
              </a:spcBef>
              <a:spcAft>
                <a:spcPts val="0"/>
              </a:spcAft>
              <a:defRPr sz="2200" b="1">
                <a:solidFill>
                  <a:srgbClr val="007F79"/>
                </a:solidFill>
                <a:latin typeface="DejaVu Sans"/>
              </a:defRPr>
            </a:pPr>
            <a:r>
              <a:t>01</a:t>
            </a:r>
          </a:p>
        </p:txBody>
      </p:sp>
      <p:sp>
        <p:nvSpPr>
          <p:cNvPr id="8" name="TextBox 7"/>
          <p:cNvSpPr txBox="1"/>
          <p:nvPr/>
        </p:nvSpPr>
        <p:spPr>
          <a:xfrm>
            <a:off x="723900" y="3289300"/>
            <a:ext cx="2190750" cy="825500"/>
          </a:xfrm>
          <a:prstGeom prst="rect">
            <a:avLst/>
          </a:prstGeom>
          <a:noFill/>
        </p:spPr>
        <p:txBody>
          <a:bodyPr wrap="none" lIns="0" rIns="0" tIns="0" bIns="0" anchor="t">
            <a:spAutoFit/>
          </a:bodyPr>
          <a:lstStyle/>
          <a:p>
            <a:pPr>
              <a:lnSpc>
                <a:spcPts val="2250"/>
              </a:lnSpc>
              <a:spcBef>
                <a:spcPts val="0"/>
              </a:spcBef>
              <a:spcAft>
                <a:spcPts val="0"/>
              </a:spcAft>
              <a:defRPr sz="1800" b="1">
                <a:solidFill>
                  <a:srgbClr val="163640"/>
                </a:solidFill>
                <a:latin typeface="DejaVu Sans"/>
              </a:defRPr>
            </a:pPr>
            <a:r>
              <a:t>MCP client</a:t>
            </a:r>
          </a:p>
        </p:txBody>
      </p:sp>
      <p:sp>
        <p:nvSpPr>
          <p:cNvPr id="9" name="TextBox 8"/>
          <p:cNvSpPr txBox="1"/>
          <p:nvPr/>
        </p:nvSpPr>
        <p:spPr>
          <a:xfrm>
            <a:off x="723900" y="4140200"/>
            <a:ext cx="2190750" cy="1257300"/>
          </a:xfrm>
          <a:prstGeom prst="rect">
            <a:avLst/>
          </a:prstGeom>
          <a:noFill/>
        </p:spPr>
        <p:txBody>
          <a:bodyPr wrap="none" lIns="0" rIns="0" tIns="0" bIns="0" anchor="t">
            <a:spAutoFit/>
          </a:bodyPr>
          <a:lstStyle/>
          <a:p>
            <a:pPr>
              <a:lnSpc>
                <a:spcPts val="2125"/>
              </a:lnSpc>
              <a:spcBef>
                <a:spcPts val="0"/>
              </a:spcBef>
              <a:spcAft>
                <a:spcPts val="0"/>
              </a:spcAft>
              <a:defRPr sz="1700" b="0">
                <a:solidFill>
                  <a:srgbClr val="163640"/>
                </a:solidFill>
                <a:latin typeface="DejaVu Sans"/>
              </a:defRPr>
            </a:pPr>
            <a:r>
              <a:t>Initialize → discover</a:t>
            </a:r>
          </a:p>
          <a:p>
            <a:pPr>
              <a:lnSpc>
                <a:spcPts val="2125"/>
              </a:lnSpc>
              <a:spcBef>
                <a:spcPts val="0"/>
              </a:spcBef>
              <a:spcAft>
                <a:spcPts val="0"/>
              </a:spcAft>
              <a:defRPr sz="1700" b="0">
                <a:solidFill>
                  <a:srgbClr val="163640"/>
                </a:solidFill>
                <a:latin typeface="DejaVu Sans"/>
              </a:defRPr>
            </a:pPr>
            <a:r>
              <a:t>→ invoke</a:t>
            </a:r>
          </a:p>
        </p:txBody>
      </p:sp>
      <p:sp>
        <p:nvSpPr>
          <p:cNvPr id="10" name="TextBox 9"/>
          <p:cNvSpPr txBox="1"/>
          <p:nvPr/>
        </p:nvSpPr>
        <p:spPr>
          <a:xfrm>
            <a:off x="3143250" y="3556000"/>
            <a:ext cx="254000" cy="330200"/>
          </a:xfrm>
          <a:prstGeom prst="rect">
            <a:avLst/>
          </a:prstGeom>
          <a:noFill/>
        </p:spPr>
        <p:txBody>
          <a:bodyPr wrap="none" lIns="0" rIns="0" tIns="0" bIns="0" anchor="t">
            <a:spAutoFit/>
          </a:bodyPr>
          <a:lstStyle/>
          <a:p>
            <a:pPr>
              <a:lnSpc>
                <a:spcPts val="2187"/>
              </a:lnSpc>
              <a:spcBef>
                <a:spcPts val="0"/>
              </a:spcBef>
              <a:spcAft>
                <a:spcPts val="0"/>
              </a:spcAft>
              <a:defRPr sz="1750" b="0">
                <a:solidFill>
                  <a:srgbClr val="007F79"/>
                </a:solidFill>
                <a:latin typeface="DejaVu Sans"/>
              </a:defRPr>
            </a:pPr>
            <a:r>
              <a:t>→</a:t>
            </a:r>
          </a:p>
        </p:txBody>
      </p:sp>
      <p:sp>
        <p:nvSpPr>
          <p:cNvPr id="11" name="Rounded Rectangle 10"/>
          <p:cNvSpPr/>
          <p:nvPr/>
        </p:nvSpPr>
        <p:spPr>
          <a:xfrm>
            <a:off x="3384550" y="2451100"/>
            <a:ext cx="2571750" cy="30734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75050" y="2654300"/>
            <a:ext cx="2190750" cy="482600"/>
          </a:xfrm>
          <a:prstGeom prst="rect">
            <a:avLst/>
          </a:prstGeom>
          <a:noFill/>
        </p:spPr>
        <p:txBody>
          <a:bodyPr wrap="none" lIns="0" rIns="0" tIns="0" bIns="0" anchor="t">
            <a:spAutoFit/>
          </a:bodyPr>
          <a:lstStyle/>
          <a:p>
            <a:pPr>
              <a:lnSpc>
                <a:spcPts val="2750"/>
              </a:lnSpc>
              <a:spcBef>
                <a:spcPts val="0"/>
              </a:spcBef>
              <a:spcAft>
                <a:spcPts val="0"/>
              </a:spcAft>
              <a:defRPr sz="2200" b="1">
                <a:solidFill>
                  <a:srgbClr val="007F79"/>
                </a:solidFill>
                <a:latin typeface="DejaVu Sans"/>
              </a:defRPr>
            </a:pPr>
            <a:r>
              <a:t>02</a:t>
            </a:r>
          </a:p>
        </p:txBody>
      </p:sp>
      <p:sp>
        <p:nvSpPr>
          <p:cNvPr id="13" name="TextBox 12"/>
          <p:cNvSpPr txBox="1"/>
          <p:nvPr/>
        </p:nvSpPr>
        <p:spPr>
          <a:xfrm>
            <a:off x="3575050" y="3289300"/>
            <a:ext cx="2190750" cy="825500"/>
          </a:xfrm>
          <a:prstGeom prst="rect">
            <a:avLst/>
          </a:prstGeom>
          <a:noFill/>
        </p:spPr>
        <p:txBody>
          <a:bodyPr wrap="none" lIns="0" rIns="0" tIns="0" bIns="0" anchor="t">
            <a:spAutoFit/>
          </a:bodyPr>
          <a:lstStyle/>
          <a:p>
            <a:pPr>
              <a:lnSpc>
                <a:spcPts val="2250"/>
              </a:lnSpc>
              <a:spcBef>
                <a:spcPts val="0"/>
              </a:spcBef>
              <a:spcAft>
                <a:spcPts val="0"/>
              </a:spcAft>
              <a:defRPr sz="1800" b="1">
                <a:solidFill>
                  <a:srgbClr val="163640"/>
                </a:solidFill>
                <a:latin typeface="DejaVu Sans"/>
              </a:defRPr>
            </a:pPr>
            <a:r>
              <a:t>APISIX / MCP</a:t>
            </a:r>
          </a:p>
        </p:txBody>
      </p:sp>
      <p:sp>
        <p:nvSpPr>
          <p:cNvPr id="14" name="TextBox 13"/>
          <p:cNvSpPr txBox="1"/>
          <p:nvPr/>
        </p:nvSpPr>
        <p:spPr>
          <a:xfrm>
            <a:off x="3575050" y="4140200"/>
            <a:ext cx="2190750" cy="1257300"/>
          </a:xfrm>
          <a:prstGeom prst="rect">
            <a:avLst/>
          </a:prstGeom>
          <a:noFill/>
        </p:spPr>
        <p:txBody>
          <a:bodyPr wrap="none" lIns="0" rIns="0" tIns="0" bIns="0" anchor="t">
            <a:spAutoFit/>
          </a:bodyPr>
          <a:lstStyle/>
          <a:p>
            <a:pPr>
              <a:lnSpc>
                <a:spcPts val="2125"/>
              </a:lnSpc>
              <a:spcBef>
                <a:spcPts val="0"/>
              </a:spcBef>
              <a:spcAft>
                <a:spcPts val="0"/>
              </a:spcAft>
              <a:defRPr sz="1700" b="0">
                <a:solidFill>
                  <a:srgbClr val="163640"/>
                </a:solidFill>
                <a:latin typeface="DejaVu Sans"/>
              </a:defRPr>
            </a:pPr>
            <a:r>
              <a:t>Translate the</a:t>
            </a:r>
          </a:p>
          <a:p>
            <a:pPr>
              <a:lnSpc>
                <a:spcPts val="2125"/>
              </a:lnSpc>
              <a:spcBef>
                <a:spcPts val="0"/>
              </a:spcBef>
              <a:spcAft>
                <a:spcPts val="0"/>
              </a:spcAft>
              <a:defRPr sz="1700" b="0">
                <a:solidFill>
                  <a:srgbClr val="163640"/>
                </a:solidFill>
                <a:latin typeface="DejaVu Sans"/>
              </a:defRPr>
            </a:pPr>
            <a:r>
              <a:t>selected tool</a:t>
            </a:r>
          </a:p>
        </p:txBody>
      </p:sp>
      <p:sp>
        <p:nvSpPr>
          <p:cNvPr id="15" name="TextBox 14"/>
          <p:cNvSpPr txBox="1"/>
          <p:nvPr/>
        </p:nvSpPr>
        <p:spPr>
          <a:xfrm>
            <a:off x="5994400" y="3556000"/>
            <a:ext cx="254000" cy="330200"/>
          </a:xfrm>
          <a:prstGeom prst="rect">
            <a:avLst/>
          </a:prstGeom>
          <a:noFill/>
        </p:spPr>
        <p:txBody>
          <a:bodyPr wrap="none" lIns="0" rIns="0" tIns="0" bIns="0" anchor="t">
            <a:spAutoFit/>
          </a:bodyPr>
          <a:lstStyle/>
          <a:p>
            <a:pPr>
              <a:lnSpc>
                <a:spcPts val="2187"/>
              </a:lnSpc>
              <a:spcBef>
                <a:spcPts val="0"/>
              </a:spcBef>
              <a:spcAft>
                <a:spcPts val="0"/>
              </a:spcAft>
              <a:defRPr sz="1750" b="0">
                <a:solidFill>
                  <a:srgbClr val="007F79"/>
                </a:solidFill>
                <a:latin typeface="DejaVu Sans"/>
              </a:defRPr>
            </a:pPr>
            <a:r>
              <a:t>→</a:t>
            </a:r>
          </a:p>
        </p:txBody>
      </p:sp>
      <p:sp>
        <p:nvSpPr>
          <p:cNvPr id="16" name="Rounded Rectangle 15"/>
          <p:cNvSpPr/>
          <p:nvPr/>
        </p:nvSpPr>
        <p:spPr>
          <a:xfrm>
            <a:off x="6235700" y="2451100"/>
            <a:ext cx="2571750" cy="30734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6200" y="2654300"/>
            <a:ext cx="2190750" cy="482600"/>
          </a:xfrm>
          <a:prstGeom prst="rect">
            <a:avLst/>
          </a:prstGeom>
          <a:noFill/>
        </p:spPr>
        <p:txBody>
          <a:bodyPr wrap="none" lIns="0" rIns="0" tIns="0" bIns="0" anchor="t">
            <a:spAutoFit/>
          </a:bodyPr>
          <a:lstStyle/>
          <a:p>
            <a:pPr>
              <a:lnSpc>
                <a:spcPts val="2750"/>
              </a:lnSpc>
              <a:spcBef>
                <a:spcPts val="0"/>
              </a:spcBef>
              <a:spcAft>
                <a:spcPts val="0"/>
              </a:spcAft>
              <a:defRPr sz="2200" b="1">
                <a:solidFill>
                  <a:srgbClr val="007F79"/>
                </a:solidFill>
                <a:latin typeface="DejaVu Sans"/>
              </a:defRPr>
            </a:pPr>
            <a:r>
              <a:t>03</a:t>
            </a:r>
          </a:p>
        </p:txBody>
      </p:sp>
      <p:sp>
        <p:nvSpPr>
          <p:cNvPr id="18" name="TextBox 17"/>
          <p:cNvSpPr txBox="1"/>
          <p:nvPr/>
        </p:nvSpPr>
        <p:spPr>
          <a:xfrm>
            <a:off x="6426200" y="3289300"/>
            <a:ext cx="2190750" cy="825500"/>
          </a:xfrm>
          <a:prstGeom prst="rect">
            <a:avLst/>
          </a:prstGeom>
          <a:noFill/>
        </p:spPr>
        <p:txBody>
          <a:bodyPr wrap="none" lIns="0" rIns="0" tIns="0" bIns="0" anchor="t">
            <a:spAutoFit/>
          </a:bodyPr>
          <a:lstStyle/>
          <a:p>
            <a:pPr>
              <a:lnSpc>
                <a:spcPts val="2250"/>
              </a:lnSpc>
              <a:spcBef>
                <a:spcPts val="0"/>
              </a:spcBef>
              <a:spcAft>
                <a:spcPts val="0"/>
              </a:spcAft>
              <a:defRPr sz="1800" b="1">
                <a:solidFill>
                  <a:srgbClr val="163640"/>
                </a:solidFill>
                <a:latin typeface="DejaVu Sans"/>
              </a:defRPr>
            </a:pPr>
            <a:r>
              <a:t>APISIX / Gate 3</a:t>
            </a:r>
          </a:p>
        </p:txBody>
      </p:sp>
      <p:sp>
        <p:nvSpPr>
          <p:cNvPr id="19" name="TextBox 18"/>
          <p:cNvSpPr txBox="1"/>
          <p:nvPr/>
        </p:nvSpPr>
        <p:spPr>
          <a:xfrm>
            <a:off x="6426200" y="4140200"/>
            <a:ext cx="2190750" cy="1257300"/>
          </a:xfrm>
          <a:prstGeom prst="rect">
            <a:avLst/>
          </a:prstGeom>
          <a:noFill/>
        </p:spPr>
        <p:txBody>
          <a:bodyPr wrap="none" lIns="0" rIns="0" tIns="0" bIns="0" anchor="t">
            <a:spAutoFit/>
          </a:bodyPr>
          <a:lstStyle/>
          <a:p>
            <a:pPr>
              <a:lnSpc>
                <a:spcPts val="2125"/>
              </a:lnSpc>
              <a:spcBef>
                <a:spcPts val="0"/>
              </a:spcBef>
              <a:spcAft>
                <a:spcPts val="0"/>
              </a:spcAft>
              <a:defRPr sz="1700" b="0">
                <a:solidFill>
                  <a:srgbClr val="163640"/>
                </a:solidFill>
                <a:latin typeface="DejaVu Sans"/>
              </a:defRPr>
            </a:pPr>
            <a:r>
              <a:t>Validate API</a:t>
            </a:r>
          </a:p>
          <a:p>
            <a:pPr>
              <a:lnSpc>
                <a:spcPts val="2125"/>
              </a:lnSpc>
              <a:spcBef>
                <a:spcPts val="0"/>
              </a:spcBef>
              <a:spcAft>
                <a:spcPts val="0"/>
              </a:spcAft>
              <a:defRPr sz="1700" b="0">
                <a:solidFill>
                  <a:srgbClr val="163640"/>
                </a:solidFill>
                <a:latin typeface="DejaVu Sans"/>
              </a:defRPr>
            </a:pPr>
            <a:r>
              <a:t>credentials</a:t>
            </a:r>
          </a:p>
        </p:txBody>
      </p:sp>
      <p:sp>
        <p:nvSpPr>
          <p:cNvPr id="20" name="TextBox 19"/>
          <p:cNvSpPr txBox="1"/>
          <p:nvPr/>
        </p:nvSpPr>
        <p:spPr>
          <a:xfrm>
            <a:off x="8845550" y="3556000"/>
            <a:ext cx="254000" cy="330200"/>
          </a:xfrm>
          <a:prstGeom prst="rect">
            <a:avLst/>
          </a:prstGeom>
          <a:noFill/>
        </p:spPr>
        <p:txBody>
          <a:bodyPr wrap="none" lIns="0" rIns="0" tIns="0" bIns="0" anchor="t">
            <a:spAutoFit/>
          </a:bodyPr>
          <a:lstStyle/>
          <a:p>
            <a:pPr>
              <a:lnSpc>
                <a:spcPts val="2187"/>
              </a:lnSpc>
              <a:spcBef>
                <a:spcPts val="0"/>
              </a:spcBef>
              <a:spcAft>
                <a:spcPts val="0"/>
              </a:spcAft>
              <a:defRPr sz="1750" b="0">
                <a:solidFill>
                  <a:srgbClr val="007F79"/>
                </a:solidFill>
                <a:latin typeface="DejaVu Sans"/>
              </a:defRPr>
            </a:pPr>
            <a:r>
              <a:t>→</a:t>
            </a:r>
          </a:p>
        </p:txBody>
      </p:sp>
      <p:sp>
        <p:nvSpPr>
          <p:cNvPr id="21" name="Rounded Rectangle 20"/>
          <p:cNvSpPr/>
          <p:nvPr/>
        </p:nvSpPr>
        <p:spPr>
          <a:xfrm>
            <a:off x="9086850" y="2451100"/>
            <a:ext cx="2571750" cy="30734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77350" y="2654300"/>
            <a:ext cx="2190750" cy="482600"/>
          </a:xfrm>
          <a:prstGeom prst="rect">
            <a:avLst/>
          </a:prstGeom>
          <a:noFill/>
        </p:spPr>
        <p:txBody>
          <a:bodyPr wrap="none" lIns="0" rIns="0" tIns="0" bIns="0" anchor="t">
            <a:spAutoFit/>
          </a:bodyPr>
          <a:lstStyle/>
          <a:p>
            <a:pPr>
              <a:lnSpc>
                <a:spcPts val="2750"/>
              </a:lnSpc>
              <a:spcBef>
                <a:spcPts val="0"/>
              </a:spcBef>
              <a:spcAft>
                <a:spcPts val="0"/>
              </a:spcAft>
              <a:defRPr sz="2200" b="1">
                <a:solidFill>
                  <a:srgbClr val="007F79"/>
                </a:solidFill>
                <a:latin typeface="DejaVu Sans"/>
              </a:defRPr>
            </a:pPr>
            <a:r>
              <a:t>04</a:t>
            </a:r>
          </a:p>
        </p:txBody>
      </p:sp>
      <p:sp>
        <p:nvSpPr>
          <p:cNvPr id="23" name="TextBox 22"/>
          <p:cNvSpPr txBox="1"/>
          <p:nvPr/>
        </p:nvSpPr>
        <p:spPr>
          <a:xfrm>
            <a:off x="9277350" y="3289300"/>
            <a:ext cx="2190750" cy="825500"/>
          </a:xfrm>
          <a:prstGeom prst="rect">
            <a:avLst/>
          </a:prstGeom>
          <a:noFill/>
        </p:spPr>
        <p:txBody>
          <a:bodyPr wrap="none" lIns="0" rIns="0" tIns="0" bIns="0" anchor="t">
            <a:spAutoFit/>
          </a:bodyPr>
          <a:lstStyle/>
          <a:p>
            <a:pPr>
              <a:lnSpc>
                <a:spcPts val="2250"/>
              </a:lnSpc>
              <a:spcBef>
                <a:spcPts val="0"/>
              </a:spcBef>
              <a:spcAft>
                <a:spcPts val="0"/>
              </a:spcAft>
              <a:defRPr sz="1800" b="1">
                <a:solidFill>
                  <a:srgbClr val="163640"/>
                </a:solidFill>
                <a:latin typeface="DejaVu Sans"/>
              </a:defRPr>
            </a:pPr>
            <a:r>
              <a:t>Banking API</a:t>
            </a:r>
          </a:p>
        </p:txBody>
      </p:sp>
      <p:sp>
        <p:nvSpPr>
          <p:cNvPr id="24" name="TextBox 23"/>
          <p:cNvSpPr txBox="1"/>
          <p:nvPr/>
        </p:nvSpPr>
        <p:spPr>
          <a:xfrm>
            <a:off x="9277350" y="4140200"/>
            <a:ext cx="2190750" cy="1257300"/>
          </a:xfrm>
          <a:prstGeom prst="rect">
            <a:avLst/>
          </a:prstGeom>
          <a:noFill/>
        </p:spPr>
        <p:txBody>
          <a:bodyPr wrap="none" lIns="0" rIns="0" tIns="0" bIns="0" anchor="t">
            <a:spAutoFit/>
          </a:bodyPr>
          <a:lstStyle/>
          <a:p>
            <a:pPr>
              <a:lnSpc>
                <a:spcPts val="2125"/>
              </a:lnSpc>
              <a:spcBef>
                <a:spcPts val="0"/>
              </a:spcBef>
              <a:spcAft>
                <a:spcPts val="0"/>
              </a:spcAft>
              <a:defRPr sz="1700" b="0">
                <a:solidFill>
                  <a:srgbClr val="163640"/>
                </a:solidFill>
                <a:latin typeface="DejaVu Sans"/>
              </a:defRPr>
            </a:pPr>
            <a:r>
              <a:t>Read business data</a:t>
            </a:r>
          </a:p>
        </p:txBody>
      </p:sp>
      <p:sp>
        <p:nvSpPr>
          <p:cNvPr id="25" name="Rounded Rectangle 24"/>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A translated tool call must re-enter the API enforcement path.</a:t>
            </a:r>
          </a:p>
        </p:txBody>
      </p:sp>
      <p:sp>
        <p:nvSpPr>
          <p:cNvPr id="27" name="TextBox 26"/>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1  /  FICTIONAL LAB</a:t>
            </a:r>
          </a:p>
        </p:txBody>
      </p:sp>
      <p:sp>
        <p:nvSpPr>
          <p:cNvPr id="28" name="TextBox 27"/>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06 / 17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1  /  12–22 MIN</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Demo: initialize and discover</a:t>
            </a:r>
          </a:p>
        </p:txBody>
      </p:sp>
      <p:sp>
        <p:nvSpPr>
          <p:cNvPr id="6" name="TextBox 5"/>
          <p:cNvSpPr txBox="1"/>
          <p:nvPr/>
        </p:nvSpPr>
        <p:spPr>
          <a:xfrm>
            <a:off x="546100" y="1841500"/>
            <a:ext cx="11061700" cy="736600"/>
          </a:xfrm>
          <a:prstGeom prst="rect">
            <a:avLst/>
          </a:prstGeom>
          <a:noFill/>
        </p:spPr>
        <p:txBody>
          <a:bodyPr wrap="none" lIns="0" rIns="0" tIns="0" bIns="0" anchor="t">
            <a:spAutoFit/>
          </a:bodyPr>
          <a:lstStyle/>
          <a:p>
            <a:pPr>
              <a:lnSpc>
                <a:spcPts val="2250"/>
              </a:lnSpc>
              <a:spcBef>
                <a:spcPts val="0"/>
              </a:spcBef>
              <a:spcAft>
                <a:spcPts val="0"/>
              </a:spcAft>
              <a:defRPr sz="1800" b="0">
                <a:solidFill>
                  <a:srgbClr val="536B73"/>
                </a:solidFill>
                <a:latin typeface="DejaVu Sans"/>
              </a:defRPr>
            </a:pPr>
            <a:r>
              <a:t>Inspect the actual catalog returned by the running gateway.</a:t>
            </a:r>
          </a:p>
        </p:txBody>
      </p:sp>
      <p:sp>
        <p:nvSpPr>
          <p:cNvPr id="7" name="Rounded Rectangle 6"/>
          <p:cNvSpPr/>
          <p:nvPr/>
        </p:nvSpPr>
        <p:spPr>
          <a:xfrm>
            <a:off x="533400" y="2730500"/>
            <a:ext cx="11125200" cy="2908300"/>
          </a:xfrm>
          <a:prstGeom prst="roundRect">
            <a:avLst>
              <a:gd name="adj" fmla="val 6000"/>
            </a:avLst>
          </a:prstGeom>
          <a:solidFill>
            <a:srgbClr val="102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4700" y="2921000"/>
            <a:ext cx="10414000" cy="317500"/>
          </a:xfrm>
          <a:prstGeom prst="rect">
            <a:avLst/>
          </a:prstGeom>
          <a:noFill/>
        </p:spPr>
        <p:txBody>
          <a:bodyPr wrap="none" lIns="0" rIns="0" tIns="0" bIns="0" anchor="t">
            <a:spAutoFit/>
          </a:bodyPr>
          <a:lstStyle/>
          <a:p>
            <a:pPr>
              <a:lnSpc>
                <a:spcPts val="1250"/>
              </a:lnSpc>
              <a:spcBef>
                <a:spcPts val="0"/>
              </a:spcBef>
              <a:spcAft>
                <a:spcPts val="0"/>
              </a:spcAft>
              <a:defRPr sz="1000" b="1">
                <a:solidFill>
                  <a:srgbClr val="37D7BD"/>
                </a:solidFill>
                <a:latin typeface="DejaVu Sans"/>
              </a:defRPr>
            </a:pPr>
            <a:r>
              <a:t>TERMINAL  /  FROM REPOSITORY ROOT</a:t>
            </a:r>
          </a:p>
        </p:txBody>
      </p:sp>
      <p:sp>
        <p:nvSpPr>
          <p:cNvPr id="9" name="TextBox 8"/>
          <p:cNvSpPr txBox="1"/>
          <p:nvPr/>
        </p:nvSpPr>
        <p:spPr>
          <a:xfrm>
            <a:off x="774700" y="3416300"/>
            <a:ext cx="10629900" cy="2032000"/>
          </a:xfrm>
          <a:prstGeom prst="rect">
            <a:avLst/>
          </a:prstGeom>
          <a:noFill/>
        </p:spPr>
        <p:txBody>
          <a:bodyPr wrap="none" lIns="0" rIns="0" tIns="0" bIns="0" anchor="t">
            <a:spAutoFit/>
          </a:bodyPr>
          <a:lstStyle/>
          <a:p>
            <a:pPr>
              <a:lnSpc>
                <a:spcPts val="2379"/>
              </a:lnSpc>
              <a:spcBef>
                <a:spcPts val="0"/>
              </a:spcBef>
              <a:spcAft>
                <a:spcPts val="0"/>
              </a:spcAft>
              <a:defRPr sz="1700" b="0">
                <a:solidFill>
                  <a:srgbClr val="FFFFFF"/>
                </a:solidFill>
                <a:latin typeface="DejaVu Sans Mono"/>
              </a:defRPr>
            </a:pPr>
            <a:r>
              <a:t>.venv/bin/python workshops/w1/client.py init</a:t>
            </a:r>
          </a:p>
          <a:p>
            <a:pPr>
              <a:lnSpc>
                <a:spcPts val="2379"/>
              </a:lnSpc>
              <a:spcBef>
                <a:spcPts val="0"/>
              </a:spcBef>
              <a:spcAft>
                <a:spcPts val="0"/>
              </a:spcAft>
              <a:defRPr sz="1700" b="0">
                <a:solidFill>
                  <a:srgbClr val="FFFFFF"/>
                </a:solidFill>
                <a:latin typeface="DejaVu Sans Mono"/>
              </a:defRPr>
            </a:pPr>
            <a:r>
              <a:t>.venv/bin/python workshops/w1/client.py list</a:t>
            </a:r>
          </a:p>
        </p:txBody>
      </p:sp>
      <p:sp>
        <p:nvSpPr>
          <p:cNvPr id="10" name="Rounded Rectangle 9"/>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Record today's tool count. Find reads, payments and administrative operations.</a:t>
            </a:r>
          </a:p>
        </p:txBody>
      </p:sp>
      <p:sp>
        <p:nvSpPr>
          <p:cNvPr id="12" name="TextBox 11"/>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1  /  FICTIONAL LAB</a:t>
            </a:r>
          </a:p>
        </p:txBody>
      </p:sp>
      <p:sp>
        <p:nvSpPr>
          <p:cNvPr id="13" name="TextBox 12"/>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07 / 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1  /  12–22 MIN</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Generated correctly. Scoped too broadly.</a:t>
            </a:r>
          </a:p>
        </p:txBody>
      </p:sp>
      <p:sp>
        <p:nvSpPr>
          <p:cNvPr id="6" name="Rounded Rectangle 5"/>
          <p:cNvSpPr/>
          <p:nvPr/>
        </p:nvSpPr>
        <p:spPr>
          <a:xfrm>
            <a:off x="533400" y="2146300"/>
            <a:ext cx="3539066" cy="34925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4700" y="24003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4700" y="26797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READ</a:t>
            </a:r>
          </a:p>
        </p:txBody>
      </p:sp>
      <p:sp>
        <p:nvSpPr>
          <p:cNvPr id="9" name="TextBox 8"/>
          <p:cNvSpPr txBox="1"/>
          <p:nvPr/>
        </p:nvSpPr>
        <p:spPr>
          <a:xfrm>
            <a:off x="774700" y="3467100"/>
            <a:ext cx="3056466" cy="2006600"/>
          </a:xfrm>
          <a:prstGeom prst="rect">
            <a:avLst/>
          </a:prstGeom>
          <a:noFill/>
        </p:spPr>
        <p:txBody>
          <a:bodyPr wrap="none" lIns="0" rIns="0" tIns="0" bIns="0" anchor="t">
            <a:spAutoFit/>
          </a:bodyPr>
          <a:lstStyle/>
          <a:p>
            <a:pPr>
              <a:lnSpc>
                <a:spcPts val="2625"/>
              </a:lnSpc>
              <a:spcBef>
                <a:spcPts val="0"/>
              </a:spcBef>
              <a:spcAft>
                <a:spcPts val="0"/>
              </a:spcAft>
              <a:defRPr sz="2100" b="0">
                <a:solidFill>
                  <a:srgbClr val="163640"/>
                </a:solidFill>
                <a:latin typeface="DejaVu Sans"/>
              </a:defRPr>
            </a:pPr>
            <a:r>
              <a:t>Account and case</a:t>
            </a:r>
          </a:p>
          <a:p>
            <a:pPr>
              <a:lnSpc>
                <a:spcPts val="2625"/>
              </a:lnSpc>
              <a:spcBef>
                <a:spcPts val="0"/>
              </a:spcBef>
              <a:spcAft>
                <a:spcPts val="0"/>
              </a:spcAft>
              <a:defRPr sz="2100" b="0">
                <a:solidFill>
                  <a:srgbClr val="163640"/>
                </a:solidFill>
                <a:latin typeface="DejaVu Sans"/>
              </a:defRPr>
            </a:pPr>
            <a:r>
              <a:t>queries match the</a:t>
            </a:r>
          </a:p>
          <a:p>
            <a:pPr>
              <a:lnSpc>
                <a:spcPts val="2625"/>
              </a:lnSpc>
              <a:spcBef>
                <a:spcPts val="0"/>
              </a:spcBef>
              <a:spcAft>
                <a:spcPts val="0"/>
              </a:spcAft>
              <a:defRPr sz="2100" b="0">
                <a:solidFill>
                  <a:srgbClr val="163640"/>
                </a:solidFill>
                <a:latin typeface="DejaVu Sans"/>
              </a:defRPr>
            </a:pPr>
            <a:r>
              <a:t>support request.</a:t>
            </a:r>
          </a:p>
        </p:txBody>
      </p:sp>
      <p:sp>
        <p:nvSpPr>
          <p:cNvPr id="10" name="Rounded Rectangle 9"/>
          <p:cNvSpPr/>
          <p:nvPr/>
        </p:nvSpPr>
        <p:spPr>
          <a:xfrm>
            <a:off x="4326466" y="2146300"/>
            <a:ext cx="3539066" cy="34925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67766" y="24003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67766" y="26797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MOVE MONEY</a:t>
            </a:r>
          </a:p>
        </p:txBody>
      </p:sp>
      <p:sp>
        <p:nvSpPr>
          <p:cNvPr id="13" name="TextBox 12"/>
          <p:cNvSpPr txBox="1"/>
          <p:nvPr/>
        </p:nvSpPr>
        <p:spPr>
          <a:xfrm>
            <a:off x="4567766" y="3467100"/>
            <a:ext cx="3056466" cy="2006600"/>
          </a:xfrm>
          <a:prstGeom prst="rect">
            <a:avLst/>
          </a:prstGeom>
          <a:noFill/>
        </p:spPr>
        <p:txBody>
          <a:bodyPr wrap="none" lIns="0" rIns="0" tIns="0" bIns="0" anchor="t">
            <a:spAutoFit/>
          </a:bodyPr>
          <a:lstStyle/>
          <a:p>
            <a:pPr>
              <a:lnSpc>
                <a:spcPts val="2625"/>
              </a:lnSpc>
              <a:spcBef>
                <a:spcPts val="0"/>
              </a:spcBef>
              <a:spcAft>
                <a:spcPts val="0"/>
              </a:spcAft>
              <a:defRPr sz="2100" b="0">
                <a:solidFill>
                  <a:srgbClr val="163640"/>
                </a:solidFill>
                <a:latin typeface="DejaVu Sans"/>
              </a:defRPr>
            </a:pPr>
            <a:r>
              <a:t>A payment mutation</a:t>
            </a:r>
          </a:p>
          <a:p>
            <a:pPr>
              <a:lnSpc>
                <a:spcPts val="2625"/>
              </a:lnSpc>
              <a:spcBef>
                <a:spcPts val="0"/>
              </a:spcBef>
              <a:spcAft>
                <a:spcPts val="0"/>
              </a:spcAft>
              <a:defRPr sz="2100" b="0">
                <a:solidFill>
                  <a:srgbClr val="163640"/>
                </a:solidFill>
                <a:latin typeface="DejaVu Sans"/>
              </a:defRPr>
            </a:pPr>
            <a:r>
              <a:t>changes the</a:t>
            </a:r>
          </a:p>
          <a:p>
            <a:pPr>
              <a:lnSpc>
                <a:spcPts val="2625"/>
              </a:lnSpc>
              <a:spcBef>
                <a:spcPts val="0"/>
              </a:spcBef>
              <a:spcAft>
                <a:spcPts val="0"/>
              </a:spcAft>
              <a:defRPr sz="2100" b="0">
                <a:solidFill>
                  <a:srgbClr val="163640"/>
                </a:solidFill>
                <a:latin typeface="DejaVu Sans"/>
              </a:defRPr>
            </a:pPr>
            <a:r>
              <a:t>consequence of a</a:t>
            </a:r>
          </a:p>
          <a:p>
            <a:pPr>
              <a:lnSpc>
                <a:spcPts val="2625"/>
              </a:lnSpc>
              <a:spcBef>
                <a:spcPts val="0"/>
              </a:spcBef>
              <a:spcAft>
                <a:spcPts val="0"/>
              </a:spcAft>
              <a:defRPr sz="2100" b="0">
                <a:solidFill>
                  <a:srgbClr val="163640"/>
                </a:solidFill>
                <a:latin typeface="DejaVu Sans"/>
              </a:defRPr>
            </a:pPr>
            <a:r>
              <a:t>mistaken tool choice.</a:t>
            </a:r>
          </a:p>
        </p:txBody>
      </p:sp>
      <p:sp>
        <p:nvSpPr>
          <p:cNvPr id="14" name="Rounded Rectangle 13"/>
          <p:cNvSpPr/>
          <p:nvPr/>
        </p:nvSpPr>
        <p:spPr>
          <a:xfrm>
            <a:off x="8119533" y="2146300"/>
            <a:ext cx="3539066" cy="34925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60833" y="24003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60833" y="26797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ADMINISTER</a:t>
            </a:r>
          </a:p>
        </p:txBody>
      </p:sp>
      <p:sp>
        <p:nvSpPr>
          <p:cNvPr id="17" name="TextBox 16"/>
          <p:cNvSpPr txBox="1"/>
          <p:nvPr/>
        </p:nvSpPr>
        <p:spPr>
          <a:xfrm>
            <a:off x="8360833" y="3467100"/>
            <a:ext cx="3056466" cy="2006600"/>
          </a:xfrm>
          <a:prstGeom prst="rect">
            <a:avLst/>
          </a:prstGeom>
          <a:noFill/>
        </p:spPr>
        <p:txBody>
          <a:bodyPr wrap="none" lIns="0" rIns="0" tIns="0" bIns="0" anchor="t">
            <a:spAutoFit/>
          </a:bodyPr>
          <a:lstStyle/>
          <a:p>
            <a:pPr>
              <a:lnSpc>
                <a:spcPts val="2625"/>
              </a:lnSpc>
              <a:spcBef>
                <a:spcPts val="0"/>
              </a:spcBef>
              <a:spcAft>
                <a:spcPts val="0"/>
              </a:spcAft>
              <a:defRPr sz="2100" b="0">
                <a:solidFill>
                  <a:srgbClr val="163640"/>
                </a:solidFill>
                <a:latin typeface="DejaVu Sans"/>
              </a:defRPr>
            </a:pPr>
            <a:r>
              <a:t>A reset operation</a:t>
            </a:r>
          </a:p>
          <a:p>
            <a:pPr>
              <a:lnSpc>
                <a:spcPts val="2625"/>
              </a:lnSpc>
              <a:spcBef>
                <a:spcPts val="0"/>
              </a:spcBef>
              <a:spcAft>
                <a:spcPts val="0"/>
              </a:spcAft>
              <a:defRPr sz="2100" b="0">
                <a:solidFill>
                  <a:srgbClr val="163640"/>
                </a:solidFill>
                <a:latin typeface="DejaVu Sans"/>
              </a:defRPr>
            </a:pPr>
            <a:r>
              <a:t>belongs to lab</a:t>
            </a:r>
          </a:p>
          <a:p>
            <a:pPr>
              <a:lnSpc>
                <a:spcPts val="2625"/>
              </a:lnSpc>
              <a:spcBef>
                <a:spcPts val="0"/>
              </a:spcBef>
              <a:spcAft>
                <a:spcPts val="0"/>
              </a:spcAft>
              <a:defRPr sz="2100" b="0">
                <a:solidFill>
                  <a:srgbClr val="163640"/>
                </a:solidFill>
                <a:latin typeface="DejaVu Sans"/>
              </a:defRPr>
            </a:pPr>
            <a:r>
              <a:t>administration,</a:t>
            </a:r>
          </a:p>
          <a:p>
            <a:pPr>
              <a:lnSpc>
                <a:spcPts val="2625"/>
              </a:lnSpc>
              <a:spcBef>
                <a:spcPts val="0"/>
              </a:spcBef>
              <a:spcAft>
                <a:spcPts val="0"/>
              </a:spcAft>
              <a:defRPr sz="2100" b="0">
                <a:solidFill>
                  <a:srgbClr val="163640"/>
                </a:solidFill>
                <a:latin typeface="DejaVu Sans"/>
              </a:defRPr>
            </a:pPr>
            <a:r>
              <a:t>outside support work.</a:t>
            </a:r>
          </a:p>
        </p:txBody>
      </p:sp>
      <p:sp>
        <p:nvSpPr>
          <p:cNvPr id="18" name="Rounded Rectangle 17"/>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Pair prompt: retain, remove or rename each capability.</a:t>
            </a:r>
          </a:p>
        </p:txBody>
      </p:sp>
      <p:sp>
        <p:nvSpPr>
          <p:cNvPr id="20" name="TextBox 19"/>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1  /  FICTIONAL LAB</a:t>
            </a:r>
          </a:p>
        </p:txBody>
      </p:sp>
      <p:sp>
        <p:nvSpPr>
          <p:cNvPr id="21" name="TextBox 20"/>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08 / 17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1  /  22–32 MIN</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Design two tools that explain their job</a:t>
            </a:r>
          </a:p>
        </p:txBody>
      </p:sp>
      <p:sp>
        <p:nvSpPr>
          <p:cNvPr id="6" name="Rounded Rectangle 5"/>
          <p:cNvSpPr/>
          <p:nvPr/>
        </p:nvSpPr>
        <p:spPr>
          <a:xfrm>
            <a:off x="533400" y="2146300"/>
            <a:ext cx="3539066" cy="34925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4700" y="24003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4700" y="26797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get_account</a:t>
            </a:r>
          </a:p>
        </p:txBody>
      </p:sp>
      <p:sp>
        <p:nvSpPr>
          <p:cNvPr id="9" name="TextBox 8"/>
          <p:cNvSpPr txBox="1"/>
          <p:nvPr/>
        </p:nvSpPr>
        <p:spPr>
          <a:xfrm>
            <a:off x="774700" y="3467100"/>
            <a:ext cx="3056466" cy="2006600"/>
          </a:xfrm>
          <a:prstGeom prst="rect">
            <a:avLst/>
          </a:prstGeom>
          <a:noFill/>
        </p:spPr>
        <p:txBody>
          <a:bodyPr wrap="none" lIns="0" rIns="0" tIns="0" bIns="0" anchor="t">
            <a:spAutoFit/>
          </a:bodyPr>
          <a:lstStyle/>
          <a:p>
            <a:pPr>
              <a:lnSpc>
                <a:spcPts val="2625"/>
              </a:lnSpc>
              <a:spcBef>
                <a:spcPts val="0"/>
              </a:spcBef>
              <a:spcAft>
                <a:spcPts val="0"/>
              </a:spcAft>
              <a:defRPr sz="2100" b="0">
                <a:solidFill>
                  <a:srgbClr val="163640"/>
                </a:solidFill>
                <a:latin typeface="DejaVu Sans"/>
              </a:defRPr>
            </a:pPr>
            <a:r>
              <a:t>Read one account</a:t>
            </a:r>
          </a:p>
          <a:p>
            <a:pPr>
              <a:lnSpc>
                <a:spcPts val="2625"/>
              </a:lnSpc>
              <a:spcBef>
                <a:spcPts val="0"/>
              </a:spcBef>
              <a:spcAft>
                <a:spcPts val="0"/>
              </a:spcAft>
              <a:defRPr sz="2100" b="0">
                <a:solidFill>
                  <a:srgbClr val="163640"/>
                </a:solidFill>
                <a:latin typeface="DejaVu Sans"/>
              </a:defRPr>
            </a:pPr>
            <a:r>
              <a:t>using its ID. Make</a:t>
            </a:r>
          </a:p>
          <a:p>
            <a:pPr>
              <a:lnSpc>
                <a:spcPts val="2625"/>
              </a:lnSpc>
              <a:spcBef>
                <a:spcPts val="0"/>
              </a:spcBef>
              <a:spcAft>
                <a:spcPts val="0"/>
              </a:spcAft>
              <a:defRPr sz="2100" b="0">
                <a:solidFill>
                  <a:srgbClr val="163640"/>
                </a:solidFill>
                <a:latin typeface="DejaVu Sans"/>
              </a:defRPr>
            </a:pPr>
            <a:r>
              <a:t>balance units and</a:t>
            </a:r>
          </a:p>
          <a:p>
            <a:pPr>
              <a:lnSpc>
                <a:spcPts val="2625"/>
              </a:lnSpc>
              <a:spcBef>
                <a:spcPts val="0"/>
              </a:spcBef>
              <a:spcAft>
                <a:spcPts val="0"/>
              </a:spcAft>
              <a:defRPr sz="2100" b="0">
                <a:solidFill>
                  <a:srgbClr val="163640"/>
                </a:solidFill>
                <a:latin typeface="DejaVu Sans"/>
              </a:defRPr>
            </a:pPr>
            <a:r>
              <a:t>currency explicit.</a:t>
            </a:r>
          </a:p>
        </p:txBody>
      </p:sp>
      <p:sp>
        <p:nvSpPr>
          <p:cNvPr id="10" name="Rounded Rectangle 9"/>
          <p:cNvSpPr/>
          <p:nvPr/>
        </p:nvSpPr>
        <p:spPr>
          <a:xfrm>
            <a:off x="4326466" y="2146300"/>
            <a:ext cx="3539066" cy="34925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67766" y="24003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67766" y="26797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get_case</a:t>
            </a:r>
          </a:p>
        </p:txBody>
      </p:sp>
      <p:sp>
        <p:nvSpPr>
          <p:cNvPr id="13" name="TextBox 12"/>
          <p:cNvSpPr txBox="1"/>
          <p:nvPr/>
        </p:nvSpPr>
        <p:spPr>
          <a:xfrm>
            <a:off x="4567766" y="3467100"/>
            <a:ext cx="3056466" cy="2006600"/>
          </a:xfrm>
          <a:prstGeom prst="rect">
            <a:avLst/>
          </a:prstGeom>
          <a:noFill/>
        </p:spPr>
        <p:txBody>
          <a:bodyPr wrap="none" lIns="0" rIns="0" tIns="0" bIns="0" anchor="t">
            <a:spAutoFit/>
          </a:bodyPr>
          <a:lstStyle/>
          <a:p>
            <a:pPr>
              <a:lnSpc>
                <a:spcPts val="2625"/>
              </a:lnSpc>
              <a:spcBef>
                <a:spcPts val="0"/>
              </a:spcBef>
              <a:spcAft>
                <a:spcPts val="0"/>
              </a:spcAft>
              <a:defRPr sz="2100" b="0">
                <a:solidFill>
                  <a:srgbClr val="163640"/>
                </a:solidFill>
                <a:latin typeface="DejaVu Sans"/>
              </a:defRPr>
            </a:pPr>
            <a:r>
              <a:t>Read one support</a:t>
            </a:r>
          </a:p>
          <a:p>
            <a:pPr>
              <a:lnSpc>
                <a:spcPts val="2625"/>
              </a:lnSpc>
              <a:spcBef>
                <a:spcPts val="0"/>
              </a:spcBef>
              <a:spcAft>
                <a:spcPts val="0"/>
              </a:spcAft>
              <a:defRPr sz="2100" b="0">
                <a:solidFill>
                  <a:srgbClr val="163640"/>
                </a:solidFill>
                <a:latin typeface="DejaVu Sans"/>
              </a:defRPr>
            </a:pPr>
            <a:r>
              <a:t>case using its ID.</a:t>
            </a:r>
          </a:p>
          <a:p>
            <a:pPr>
              <a:lnSpc>
                <a:spcPts val="2625"/>
              </a:lnSpc>
              <a:spcBef>
                <a:spcPts val="0"/>
              </a:spcBef>
              <a:spcAft>
                <a:spcPts val="0"/>
              </a:spcAft>
              <a:defRPr sz="2100" b="0">
                <a:solidFill>
                  <a:srgbClr val="163640"/>
                </a:solidFill>
                <a:latin typeface="DejaVu Sans"/>
              </a:defRPr>
            </a:pPr>
            <a:r>
              <a:t>Treat returned case</a:t>
            </a:r>
          </a:p>
          <a:p>
            <a:pPr>
              <a:lnSpc>
                <a:spcPts val="2625"/>
              </a:lnSpc>
              <a:spcBef>
                <a:spcPts val="0"/>
              </a:spcBef>
              <a:spcAft>
                <a:spcPts val="0"/>
              </a:spcAft>
              <a:defRPr sz="2100" b="0">
                <a:solidFill>
                  <a:srgbClr val="163640"/>
                </a:solidFill>
                <a:latin typeface="DejaVu Sans"/>
              </a:defRPr>
            </a:pPr>
            <a:r>
              <a:t>text as data.</a:t>
            </a:r>
          </a:p>
        </p:txBody>
      </p:sp>
      <p:sp>
        <p:nvSpPr>
          <p:cNvPr id="14" name="Rounded Rectangle 13"/>
          <p:cNvSpPr/>
          <p:nvPr/>
        </p:nvSpPr>
        <p:spPr>
          <a:xfrm>
            <a:off x="8119533" y="2146300"/>
            <a:ext cx="3539066" cy="34925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60833" y="24003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60833" y="26797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EXCLUDE</a:t>
            </a:r>
          </a:p>
        </p:txBody>
      </p:sp>
      <p:sp>
        <p:nvSpPr>
          <p:cNvPr id="17" name="TextBox 16"/>
          <p:cNvSpPr txBox="1"/>
          <p:nvPr/>
        </p:nvSpPr>
        <p:spPr>
          <a:xfrm>
            <a:off x="8360833" y="3467100"/>
            <a:ext cx="3056466" cy="2006600"/>
          </a:xfrm>
          <a:prstGeom prst="rect">
            <a:avLst/>
          </a:prstGeom>
          <a:noFill/>
        </p:spPr>
        <p:txBody>
          <a:bodyPr wrap="none" lIns="0" rIns="0" tIns="0" bIns="0" anchor="t">
            <a:spAutoFit/>
          </a:bodyPr>
          <a:lstStyle/>
          <a:p>
            <a:pPr>
              <a:lnSpc>
                <a:spcPts val="2625"/>
              </a:lnSpc>
              <a:spcBef>
                <a:spcPts val="0"/>
              </a:spcBef>
              <a:spcAft>
                <a:spcPts val="0"/>
              </a:spcAft>
              <a:defRPr sz="2100" b="0">
                <a:solidFill>
                  <a:srgbClr val="163640"/>
                </a:solidFill>
                <a:latin typeface="DejaVu Sans"/>
              </a:defRPr>
            </a:pPr>
            <a:r>
              <a:t>Remove unrelated</a:t>
            </a:r>
          </a:p>
          <a:p>
            <a:pPr>
              <a:lnSpc>
                <a:spcPts val="2625"/>
              </a:lnSpc>
              <a:spcBef>
                <a:spcPts val="0"/>
              </a:spcBef>
              <a:spcAft>
                <a:spcPts val="0"/>
              </a:spcAft>
              <a:defRPr sz="2100" b="0">
                <a:solidFill>
                  <a:srgbClr val="163640"/>
                </a:solidFill>
                <a:latin typeface="DejaVu Sans"/>
              </a:defRPr>
            </a:pPr>
            <a:r>
              <a:t>payment and</a:t>
            </a:r>
          </a:p>
          <a:p>
            <a:pPr>
              <a:lnSpc>
                <a:spcPts val="2625"/>
              </a:lnSpc>
              <a:spcBef>
                <a:spcPts val="0"/>
              </a:spcBef>
              <a:spcAft>
                <a:spcPts val="0"/>
              </a:spcAft>
              <a:defRPr sz="2100" b="0">
                <a:solidFill>
                  <a:srgbClr val="163640"/>
                </a:solidFill>
                <a:latin typeface="DejaVu Sans"/>
              </a:defRPr>
            </a:pPr>
            <a:r>
              <a:t>administrative</a:t>
            </a:r>
          </a:p>
          <a:p>
            <a:pPr>
              <a:lnSpc>
                <a:spcPts val="2625"/>
              </a:lnSpc>
              <a:spcBef>
                <a:spcPts val="0"/>
              </a:spcBef>
              <a:spcAft>
                <a:spcPts val="0"/>
              </a:spcAft>
              <a:defRPr sz="2100" b="0">
                <a:solidFill>
                  <a:srgbClr val="163640"/>
                </a:solidFill>
                <a:latin typeface="DejaVu Sans"/>
              </a:defRPr>
            </a:pPr>
            <a:r>
              <a:t>operations from this</a:t>
            </a:r>
          </a:p>
          <a:p>
            <a:pPr>
              <a:lnSpc>
                <a:spcPts val="2625"/>
              </a:lnSpc>
              <a:spcBef>
                <a:spcPts val="0"/>
              </a:spcBef>
              <a:spcAft>
                <a:spcPts val="0"/>
              </a:spcAft>
              <a:defRPr sz="2100" b="0">
                <a:solidFill>
                  <a:srgbClr val="163640"/>
                </a:solidFill>
                <a:latin typeface="DejaVu Sans"/>
              </a:defRPr>
            </a:pPr>
            <a:r>
              <a:t>catalog.</a:t>
            </a:r>
          </a:p>
        </p:txBody>
      </p:sp>
      <p:sp>
        <p:nvSpPr>
          <p:cNvPr id="18" name="Rounded Rectangle 17"/>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Clear semantics guide selection. Server controls enforce access.</a:t>
            </a:r>
          </a:p>
        </p:txBody>
      </p:sp>
      <p:sp>
        <p:nvSpPr>
          <p:cNvPr id="20" name="TextBox 19"/>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1  /  FICTIONAL LAB</a:t>
            </a:r>
          </a:p>
        </p:txBody>
      </p:sp>
      <p:sp>
        <p:nvSpPr>
          <p:cNvPr id="21" name="TextBox 20"/>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09 / 17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1  /  22–32 MIN</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Exercise: curate the support contract</a:t>
            </a:r>
          </a:p>
        </p:txBody>
      </p:sp>
      <p:sp>
        <p:nvSpPr>
          <p:cNvPr id="6" name="Rounded Rectangle 5"/>
          <p:cNvSpPr/>
          <p:nvPr/>
        </p:nvSpPr>
        <p:spPr>
          <a:xfrm>
            <a:off x="533400" y="2451100"/>
            <a:ext cx="2571750" cy="30734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3900" y="2654300"/>
            <a:ext cx="2190750" cy="482600"/>
          </a:xfrm>
          <a:prstGeom prst="rect">
            <a:avLst/>
          </a:prstGeom>
          <a:noFill/>
        </p:spPr>
        <p:txBody>
          <a:bodyPr wrap="none" lIns="0" rIns="0" tIns="0" bIns="0" anchor="t">
            <a:spAutoFit/>
          </a:bodyPr>
          <a:lstStyle/>
          <a:p>
            <a:pPr>
              <a:lnSpc>
                <a:spcPts val="2750"/>
              </a:lnSpc>
              <a:spcBef>
                <a:spcPts val="0"/>
              </a:spcBef>
              <a:spcAft>
                <a:spcPts val="0"/>
              </a:spcAft>
              <a:defRPr sz="2200" b="1">
                <a:solidFill>
                  <a:srgbClr val="007F79"/>
                </a:solidFill>
                <a:latin typeface="DejaVu Sans"/>
              </a:defRPr>
            </a:pPr>
            <a:r>
              <a:t>01</a:t>
            </a:r>
          </a:p>
        </p:txBody>
      </p:sp>
      <p:sp>
        <p:nvSpPr>
          <p:cNvPr id="8" name="TextBox 7"/>
          <p:cNvSpPr txBox="1"/>
          <p:nvPr/>
        </p:nvSpPr>
        <p:spPr>
          <a:xfrm>
            <a:off x="723900" y="3289300"/>
            <a:ext cx="2190750" cy="825500"/>
          </a:xfrm>
          <a:prstGeom prst="rect">
            <a:avLst/>
          </a:prstGeom>
          <a:noFill/>
        </p:spPr>
        <p:txBody>
          <a:bodyPr wrap="none" lIns="0" rIns="0" tIns="0" bIns="0" anchor="t">
            <a:spAutoFit/>
          </a:bodyPr>
          <a:lstStyle/>
          <a:p>
            <a:pPr>
              <a:lnSpc>
                <a:spcPts val="2250"/>
              </a:lnSpc>
              <a:spcBef>
                <a:spcPts val="0"/>
              </a:spcBef>
              <a:spcAft>
                <a:spcPts val="0"/>
              </a:spcAft>
              <a:defRPr sz="1800" b="1">
                <a:solidFill>
                  <a:srgbClr val="163640"/>
                </a:solidFill>
                <a:latin typeface="DejaVu Sans"/>
              </a:defRPr>
            </a:pPr>
            <a:r>
              <a:t>Inspect</a:t>
            </a:r>
          </a:p>
        </p:txBody>
      </p:sp>
      <p:sp>
        <p:nvSpPr>
          <p:cNvPr id="9" name="TextBox 8"/>
          <p:cNvSpPr txBox="1"/>
          <p:nvPr/>
        </p:nvSpPr>
        <p:spPr>
          <a:xfrm>
            <a:off x="723900" y="4140200"/>
            <a:ext cx="2190750" cy="1257300"/>
          </a:xfrm>
          <a:prstGeom prst="rect">
            <a:avLst/>
          </a:prstGeom>
          <a:noFill/>
        </p:spPr>
        <p:txBody>
          <a:bodyPr wrap="none" lIns="0" rIns="0" tIns="0" bIns="0" anchor="t">
            <a:spAutoFit/>
          </a:bodyPr>
          <a:lstStyle/>
          <a:p>
            <a:pPr>
              <a:lnSpc>
                <a:spcPts val="2125"/>
              </a:lnSpc>
              <a:spcBef>
                <a:spcPts val="0"/>
              </a:spcBef>
              <a:spcAft>
                <a:spcPts val="0"/>
              </a:spcAft>
              <a:defRPr sz="1700" b="0">
                <a:solidFill>
                  <a:srgbClr val="163640"/>
                </a:solidFill>
                <a:latin typeface="DejaVu Sans"/>
              </a:defRPr>
            </a:pPr>
            <a:r>
              <a:t>Compare broad</a:t>
            </a:r>
          </a:p>
          <a:p>
            <a:pPr>
              <a:lnSpc>
                <a:spcPts val="2125"/>
              </a:lnSpc>
              <a:spcBef>
                <a:spcPts val="0"/>
              </a:spcBef>
              <a:spcAft>
                <a:spcPts val="0"/>
              </a:spcAft>
              <a:defRPr sz="1700" b="0">
                <a:solidFill>
                  <a:srgbClr val="163640"/>
                </a:solidFill>
                <a:latin typeface="DejaVu Sans"/>
              </a:defRPr>
            </a:pPr>
            <a:r>
              <a:t>and completed</a:t>
            </a:r>
          </a:p>
          <a:p>
            <a:pPr>
              <a:lnSpc>
                <a:spcPts val="2125"/>
              </a:lnSpc>
              <a:spcBef>
                <a:spcPts val="0"/>
              </a:spcBef>
              <a:spcAft>
                <a:spcPts val="0"/>
              </a:spcAft>
              <a:defRPr sz="1700" b="0">
                <a:solidFill>
                  <a:srgbClr val="163640"/>
                </a:solidFill>
                <a:latin typeface="DejaVu Sans"/>
              </a:defRPr>
            </a:pPr>
            <a:r>
              <a:t>contracts</a:t>
            </a:r>
          </a:p>
        </p:txBody>
      </p:sp>
      <p:sp>
        <p:nvSpPr>
          <p:cNvPr id="10" name="TextBox 9"/>
          <p:cNvSpPr txBox="1"/>
          <p:nvPr/>
        </p:nvSpPr>
        <p:spPr>
          <a:xfrm>
            <a:off x="3143250" y="3556000"/>
            <a:ext cx="254000" cy="330200"/>
          </a:xfrm>
          <a:prstGeom prst="rect">
            <a:avLst/>
          </a:prstGeom>
          <a:noFill/>
        </p:spPr>
        <p:txBody>
          <a:bodyPr wrap="none" lIns="0" rIns="0" tIns="0" bIns="0" anchor="t">
            <a:spAutoFit/>
          </a:bodyPr>
          <a:lstStyle/>
          <a:p>
            <a:pPr>
              <a:lnSpc>
                <a:spcPts val="2187"/>
              </a:lnSpc>
              <a:spcBef>
                <a:spcPts val="0"/>
              </a:spcBef>
              <a:spcAft>
                <a:spcPts val="0"/>
              </a:spcAft>
              <a:defRPr sz="1750" b="0">
                <a:solidFill>
                  <a:srgbClr val="007F79"/>
                </a:solidFill>
                <a:latin typeface="DejaVu Sans"/>
              </a:defRPr>
            </a:pPr>
            <a:r>
              <a:t>→</a:t>
            </a:r>
          </a:p>
        </p:txBody>
      </p:sp>
      <p:sp>
        <p:nvSpPr>
          <p:cNvPr id="11" name="Rounded Rectangle 10"/>
          <p:cNvSpPr/>
          <p:nvPr/>
        </p:nvSpPr>
        <p:spPr>
          <a:xfrm>
            <a:off x="3384550" y="2451100"/>
            <a:ext cx="2571750" cy="30734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75050" y="2654300"/>
            <a:ext cx="2190750" cy="482600"/>
          </a:xfrm>
          <a:prstGeom prst="rect">
            <a:avLst/>
          </a:prstGeom>
          <a:noFill/>
        </p:spPr>
        <p:txBody>
          <a:bodyPr wrap="none" lIns="0" rIns="0" tIns="0" bIns="0" anchor="t">
            <a:spAutoFit/>
          </a:bodyPr>
          <a:lstStyle/>
          <a:p>
            <a:pPr>
              <a:lnSpc>
                <a:spcPts val="2750"/>
              </a:lnSpc>
              <a:spcBef>
                <a:spcPts val="0"/>
              </a:spcBef>
              <a:spcAft>
                <a:spcPts val="0"/>
              </a:spcAft>
              <a:defRPr sz="2200" b="1">
                <a:solidFill>
                  <a:srgbClr val="007F79"/>
                </a:solidFill>
                <a:latin typeface="DejaVu Sans"/>
              </a:defRPr>
            </a:pPr>
            <a:r>
              <a:t>02</a:t>
            </a:r>
          </a:p>
        </p:txBody>
      </p:sp>
      <p:sp>
        <p:nvSpPr>
          <p:cNvPr id="13" name="TextBox 12"/>
          <p:cNvSpPr txBox="1"/>
          <p:nvPr/>
        </p:nvSpPr>
        <p:spPr>
          <a:xfrm>
            <a:off x="3575050" y="3289300"/>
            <a:ext cx="2190750" cy="825500"/>
          </a:xfrm>
          <a:prstGeom prst="rect">
            <a:avLst/>
          </a:prstGeom>
          <a:noFill/>
        </p:spPr>
        <p:txBody>
          <a:bodyPr wrap="none" lIns="0" rIns="0" tIns="0" bIns="0" anchor="t">
            <a:spAutoFit/>
          </a:bodyPr>
          <a:lstStyle/>
          <a:p>
            <a:pPr>
              <a:lnSpc>
                <a:spcPts val="2250"/>
              </a:lnSpc>
              <a:spcBef>
                <a:spcPts val="0"/>
              </a:spcBef>
              <a:spcAft>
                <a:spcPts val="0"/>
              </a:spcAft>
              <a:defRPr sz="1800" b="1">
                <a:solidFill>
                  <a:srgbClr val="163640"/>
                </a:solidFill>
                <a:latin typeface="DejaVu Sans"/>
              </a:defRPr>
            </a:pPr>
            <a:r>
              <a:t>Choose</a:t>
            </a:r>
          </a:p>
        </p:txBody>
      </p:sp>
      <p:sp>
        <p:nvSpPr>
          <p:cNvPr id="14" name="TextBox 13"/>
          <p:cNvSpPr txBox="1"/>
          <p:nvPr/>
        </p:nvSpPr>
        <p:spPr>
          <a:xfrm>
            <a:off x="3575050" y="4140200"/>
            <a:ext cx="2190750" cy="1257300"/>
          </a:xfrm>
          <a:prstGeom prst="rect">
            <a:avLst/>
          </a:prstGeom>
          <a:noFill/>
        </p:spPr>
        <p:txBody>
          <a:bodyPr wrap="none" lIns="0" rIns="0" tIns="0" bIns="0" anchor="t">
            <a:spAutoFit/>
          </a:bodyPr>
          <a:lstStyle/>
          <a:p>
            <a:pPr>
              <a:lnSpc>
                <a:spcPts val="2125"/>
              </a:lnSpc>
              <a:spcBef>
                <a:spcPts val="0"/>
              </a:spcBef>
              <a:spcAft>
                <a:spcPts val="0"/>
              </a:spcAft>
              <a:defRPr sz="1700" b="0">
                <a:solidFill>
                  <a:srgbClr val="163640"/>
                </a:solidFill>
                <a:latin typeface="DejaVu Sans"/>
              </a:defRPr>
            </a:pPr>
            <a:r>
              <a:t>Keep account +</a:t>
            </a:r>
          </a:p>
          <a:p>
            <a:pPr>
              <a:lnSpc>
                <a:spcPts val="2125"/>
              </a:lnSpc>
              <a:spcBef>
                <a:spcPts val="0"/>
              </a:spcBef>
              <a:spcAft>
                <a:spcPts val="0"/>
              </a:spcAft>
              <a:defRPr sz="1700" b="0">
                <a:solidFill>
                  <a:srgbClr val="163640"/>
                </a:solidFill>
                <a:latin typeface="DejaVu Sans"/>
              </a:defRPr>
            </a:pPr>
            <a:r>
              <a:t>case reads</a:t>
            </a:r>
          </a:p>
        </p:txBody>
      </p:sp>
      <p:sp>
        <p:nvSpPr>
          <p:cNvPr id="15" name="TextBox 14"/>
          <p:cNvSpPr txBox="1"/>
          <p:nvPr/>
        </p:nvSpPr>
        <p:spPr>
          <a:xfrm>
            <a:off x="5994400" y="3556000"/>
            <a:ext cx="254000" cy="330200"/>
          </a:xfrm>
          <a:prstGeom prst="rect">
            <a:avLst/>
          </a:prstGeom>
          <a:noFill/>
        </p:spPr>
        <p:txBody>
          <a:bodyPr wrap="none" lIns="0" rIns="0" tIns="0" bIns="0" anchor="t">
            <a:spAutoFit/>
          </a:bodyPr>
          <a:lstStyle/>
          <a:p>
            <a:pPr>
              <a:lnSpc>
                <a:spcPts val="2187"/>
              </a:lnSpc>
              <a:spcBef>
                <a:spcPts val="0"/>
              </a:spcBef>
              <a:spcAft>
                <a:spcPts val="0"/>
              </a:spcAft>
              <a:defRPr sz="1750" b="0">
                <a:solidFill>
                  <a:srgbClr val="007F79"/>
                </a:solidFill>
                <a:latin typeface="DejaVu Sans"/>
              </a:defRPr>
            </a:pPr>
            <a:r>
              <a:t>→</a:t>
            </a:r>
          </a:p>
        </p:txBody>
      </p:sp>
      <p:sp>
        <p:nvSpPr>
          <p:cNvPr id="16" name="Rounded Rectangle 15"/>
          <p:cNvSpPr/>
          <p:nvPr/>
        </p:nvSpPr>
        <p:spPr>
          <a:xfrm>
            <a:off x="6235700" y="2451100"/>
            <a:ext cx="2571750" cy="30734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6200" y="2654300"/>
            <a:ext cx="2190750" cy="482600"/>
          </a:xfrm>
          <a:prstGeom prst="rect">
            <a:avLst/>
          </a:prstGeom>
          <a:noFill/>
        </p:spPr>
        <p:txBody>
          <a:bodyPr wrap="none" lIns="0" rIns="0" tIns="0" bIns="0" anchor="t">
            <a:spAutoFit/>
          </a:bodyPr>
          <a:lstStyle/>
          <a:p>
            <a:pPr>
              <a:lnSpc>
                <a:spcPts val="2750"/>
              </a:lnSpc>
              <a:spcBef>
                <a:spcPts val="0"/>
              </a:spcBef>
              <a:spcAft>
                <a:spcPts val="0"/>
              </a:spcAft>
              <a:defRPr sz="2200" b="1">
                <a:solidFill>
                  <a:srgbClr val="007F79"/>
                </a:solidFill>
                <a:latin typeface="DejaVu Sans"/>
              </a:defRPr>
            </a:pPr>
            <a:r>
              <a:t>03</a:t>
            </a:r>
          </a:p>
        </p:txBody>
      </p:sp>
      <p:sp>
        <p:nvSpPr>
          <p:cNvPr id="18" name="TextBox 17"/>
          <p:cNvSpPr txBox="1"/>
          <p:nvPr/>
        </p:nvSpPr>
        <p:spPr>
          <a:xfrm>
            <a:off x="6426200" y="3289300"/>
            <a:ext cx="2190750" cy="825500"/>
          </a:xfrm>
          <a:prstGeom prst="rect">
            <a:avLst/>
          </a:prstGeom>
          <a:noFill/>
        </p:spPr>
        <p:txBody>
          <a:bodyPr wrap="none" lIns="0" rIns="0" tIns="0" bIns="0" anchor="t">
            <a:spAutoFit/>
          </a:bodyPr>
          <a:lstStyle/>
          <a:p>
            <a:pPr>
              <a:lnSpc>
                <a:spcPts val="2250"/>
              </a:lnSpc>
              <a:spcBef>
                <a:spcPts val="0"/>
              </a:spcBef>
              <a:spcAft>
                <a:spcPts val="0"/>
              </a:spcAft>
              <a:defRPr sz="1800" b="1">
                <a:solidFill>
                  <a:srgbClr val="163640"/>
                </a:solidFill>
                <a:latin typeface="DejaVu Sans"/>
              </a:defRPr>
            </a:pPr>
            <a:r>
              <a:t>Explain</a:t>
            </a:r>
          </a:p>
        </p:txBody>
      </p:sp>
      <p:sp>
        <p:nvSpPr>
          <p:cNvPr id="19" name="TextBox 18"/>
          <p:cNvSpPr txBox="1"/>
          <p:nvPr/>
        </p:nvSpPr>
        <p:spPr>
          <a:xfrm>
            <a:off x="6426200" y="4140200"/>
            <a:ext cx="2190750" cy="1257300"/>
          </a:xfrm>
          <a:prstGeom prst="rect">
            <a:avLst/>
          </a:prstGeom>
          <a:noFill/>
        </p:spPr>
        <p:txBody>
          <a:bodyPr wrap="none" lIns="0" rIns="0" tIns="0" bIns="0" anchor="t">
            <a:spAutoFit/>
          </a:bodyPr>
          <a:lstStyle/>
          <a:p>
            <a:pPr>
              <a:lnSpc>
                <a:spcPts val="2125"/>
              </a:lnSpc>
              <a:spcBef>
                <a:spcPts val="0"/>
              </a:spcBef>
              <a:spcAft>
                <a:spcPts val="0"/>
              </a:spcAft>
              <a:defRPr sz="1700" b="0">
                <a:solidFill>
                  <a:srgbClr val="163640"/>
                </a:solidFill>
                <a:latin typeface="DejaVu Sans"/>
              </a:defRPr>
            </a:pPr>
            <a:r>
              <a:t>Improve one tool</a:t>
            </a:r>
          </a:p>
          <a:p>
            <a:pPr>
              <a:lnSpc>
                <a:spcPts val="2125"/>
              </a:lnSpc>
              <a:spcBef>
                <a:spcPts val="0"/>
              </a:spcBef>
              <a:spcAft>
                <a:spcPts val="0"/>
              </a:spcAft>
              <a:defRPr sz="1700" b="0">
                <a:solidFill>
                  <a:srgbClr val="163640"/>
                </a:solidFill>
                <a:latin typeface="DejaVu Sans"/>
              </a:defRPr>
            </a:pPr>
            <a:r>
              <a:t>description</a:t>
            </a:r>
          </a:p>
        </p:txBody>
      </p:sp>
      <p:sp>
        <p:nvSpPr>
          <p:cNvPr id="20" name="TextBox 19"/>
          <p:cNvSpPr txBox="1"/>
          <p:nvPr/>
        </p:nvSpPr>
        <p:spPr>
          <a:xfrm>
            <a:off x="8845550" y="3556000"/>
            <a:ext cx="254000" cy="330200"/>
          </a:xfrm>
          <a:prstGeom prst="rect">
            <a:avLst/>
          </a:prstGeom>
          <a:noFill/>
        </p:spPr>
        <p:txBody>
          <a:bodyPr wrap="none" lIns="0" rIns="0" tIns="0" bIns="0" anchor="t">
            <a:spAutoFit/>
          </a:bodyPr>
          <a:lstStyle/>
          <a:p>
            <a:pPr>
              <a:lnSpc>
                <a:spcPts val="2187"/>
              </a:lnSpc>
              <a:spcBef>
                <a:spcPts val="0"/>
              </a:spcBef>
              <a:spcAft>
                <a:spcPts val="0"/>
              </a:spcAft>
              <a:defRPr sz="1750" b="0">
                <a:solidFill>
                  <a:srgbClr val="007F79"/>
                </a:solidFill>
                <a:latin typeface="DejaVu Sans"/>
              </a:defRPr>
            </a:pPr>
            <a:r>
              <a:t>→</a:t>
            </a:r>
          </a:p>
        </p:txBody>
      </p:sp>
      <p:sp>
        <p:nvSpPr>
          <p:cNvPr id="21" name="Rounded Rectangle 20"/>
          <p:cNvSpPr/>
          <p:nvPr/>
        </p:nvSpPr>
        <p:spPr>
          <a:xfrm>
            <a:off x="9086850" y="2451100"/>
            <a:ext cx="2571750" cy="30734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77350" y="2654300"/>
            <a:ext cx="2190750" cy="482600"/>
          </a:xfrm>
          <a:prstGeom prst="rect">
            <a:avLst/>
          </a:prstGeom>
          <a:noFill/>
        </p:spPr>
        <p:txBody>
          <a:bodyPr wrap="none" lIns="0" rIns="0" tIns="0" bIns="0" anchor="t">
            <a:spAutoFit/>
          </a:bodyPr>
          <a:lstStyle/>
          <a:p>
            <a:pPr>
              <a:lnSpc>
                <a:spcPts val="2750"/>
              </a:lnSpc>
              <a:spcBef>
                <a:spcPts val="0"/>
              </a:spcBef>
              <a:spcAft>
                <a:spcPts val="0"/>
              </a:spcAft>
              <a:defRPr sz="2200" b="1">
                <a:solidFill>
                  <a:srgbClr val="007F79"/>
                </a:solidFill>
                <a:latin typeface="DejaVu Sans"/>
              </a:defRPr>
            </a:pPr>
            <a:r>
              <a:t>04</a:t>
            </a:r>
          </a:p>
        </p:txBody>
      </p:sp>
      <p:sp>
        <p:nvSpPr>
          <p:cNvPr id="23" name="TextBox 22"/>
          <p:cNvSpPr txBox="1"/>
          <p:nvPr/>
        </p:nvSpPr>
        <p:spPr>
          <a:xfrm>
            <a:off x="9277350" y="3289300"/>
            <a:ext cx="2190750" cy="825500"/>
          </a:xfrm>
          <a:prstGeom prst="rect">
            <a:avLst/>
          </a:prstGeom>
          <a:noFill/>
        </p:spPr>
        <p:txBody>
          <a:bodyPr wrap="none" lIns="0" rIns="0" tIns="0" bIns="0" anchor="t">
            <a:spAutoFit/>
          </a:bodyPr>
          <a:lstStyle/>
          <a:p>
            <a:pPr>
              <a:lnSpc>
                <a:spcPts val="2250"/>
              </a:lnSpc>
              <a:spcBef>
                <a:spcPts val="0"/>
              </a:spcBef>
              <a:spcAft>
                <a:spcPts val="0"/>
              </a:spcAft>
              <a:defRPr sz="1800" b="1">
                <a:solidFill>
                  <a:srgbClr val="163640"/>
                </a:solidFill>
                <a:latin typeface="DejaVu Sans"/>
              </a:defRPr>
            </a:pPr>
            <a:r>
              <a:t>Verify</a:t>
            </a:r>
          </a:p>
        </p:txBody>
      </p:sp>
      <p:sp>
        <p:nvSpPr>
          <p:cNvPr id="24" name="TextBox 23"/>
          <p:cNvSpPr txBox="1"/>
          <p:nvPr/>
        </p:nvSpPr>
        <p:spPr>
          <a:xfrm>
            <a:off x="9277350" y="4140200"/>
            <a:ext cx="2190750" cy="1257300"/>
          </a:xfrm>
          <a:prstGeom prst="rect">
            <a:avLst/>
          </a:prstGeom>
          <a:noFill/>
        </p:spPr>
        <p:txBody>
          <a:bodyPr wrap="none" lIns="0" rIns="0" tIns="0" bIns="0" anchor="t">
            <a:spAutoFit/>
          </a:bodyPr>
          <a:lstStyle/>
          <a:p>
            <a:pPr>
              <a:lnSpc>
                <a:spcPts val="2125"/>
              </a:lnSpc>
              <a:spcBef>
                <a:spcPts val="0"/>
              </a:spcBef>
              <a:spcAft>
                <a:spcPts val="0"/>
              </a:spcAft>
              <a:defRPr sz="1700" b="0">
                <a:solidFill>
                  <a:srgbClr val="163640"/>
                </a:solidFill>
                <a:latin typeface="DejaVu Sans"/>
              </a:defRPr>
            </a:pPr>
            <a:r>
              <a:t>Check the served</a:t>
            </a:r>
          </a:p>
          <a:p>
            <a:pPr>
              <a:lnSpc>
                <a:spcPts val="2125"/>
              </a:lnSpc>
              <a:spcBef>
                <a:spcPts val="0"/>
              </a:spcBef>
              <a:spcAft>
                <a:spcPts val="0"/>
              </a:spcAft>
              <a:defRPr sz="1700" b="0">
                <a:solidFill>
                  <a:srgbClr val="163640"/>
                </a:solidFill>
                <a:latin typeface="DejaVu Sans"/>
              </a:defRPr>
            </a:pPr>
            <a:r>
              <a:t>curated catalog</a:t>
            </a:r>
          </a:p>
        </p:txBody>
      </p:sp>
      <p:sp>
        <p:nvSpPr>
          <p:cNvPr id="25" name="Rounded Rectangle 24"/>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Deliverable: one removed operation, one improved description, discovery evidence.</a:t>
            </a:r>
          </a:p>
        </p:txBody>
      </p:sp>
      <p:sp>
        <p:nvSpPr>
          <p:cNvPr id="27" name="TextBox 26"/>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1  /  FICTIONAL LAB</a:t>
            </a:r>
          </a:p>
        </p:txBody>
      </p:sp>
      <p:sp>
        <p:nvSpPr>
          <p:cNvPr id="28" name="TextBox 27"/>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10 / 17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1  /  22–32 MIN</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Demo: a useful account read</a:t>
            </a:r>
          </a:p>
        </p:txBody>
      </p:sp>
      <p:sp>
        <p:nvSpPr>
          <p:cNvPr id="6" name="TextBox 5"/>
          <p:cNvSpPr txBox="1"/>
          <p:nvPr/>
        </p:nvSpPr>
        <p:spPr>
          <a:xfrm>
            <a:off x="546100" y="1841500"/>
            <a:ext cx="11061700" cy="736600"/>
          </a:xfrm>
          <a:prstGeom prst="rect">
            <a:avLst/>
          </a:prstGeom>
          <a:noFill/>
        </p:spPr>
        <p:txBody>
          <a:bodyPr wrap="none" lIns="0" rIns="0" tIns="0" bIns="0" anchor="t">
            <a:spAutoFit/>
          </a:bodyPr>
          <a:lstStyle/>
          <a:p>
            <a:pPr>
              <a:lnSpc>
                <a:spcPts val="2250"/>
              </a:lnSpc>
              <a:spcBef>
                <a:spcPts val="0"/>
              </a:spcBef>
              <a:spcAft>
                <a:spcPts val="0"/>
              </a:spcAft>
              <a:defRPr sz="1800" b="0">
                <a:solidFill>
                  <a:srgbClr val="536B73"/>
                </a:solidFill>
                <a:latin typeface="DejaVu Sans"/>
              </a:defRPr>
            </a:pPr>
            <a:r>
              <a:t>Fresh seed: 1,500,000 paise = ₹15,000.</a:t>
            </a:r>
          </a:p>
        </p:txBody>
      </p:sp>
      <p:sp>
        <p:nvSpPr>
          <p:cNvPr id="7" name="Rounded Rectangle 6"/>
          <p:cNvSpPr/>
          <p:nvPr/>
        </p:nvSpPr>
        <p:spPr>
          <a:xfrm>
            <a:off x="533400" y="2730500"/>
            <a:ext cx="11125200" cy="2908300"/>
          </a:xfrm>
          <a:prstGeom prst="roundRect">
            <a:avLst>
              <a:gd name="adj" fmla="val 6000"/>
            </a:avLst>
          </a:prstGeom>
          <a:solidFill>
            <a:srgbClr val="102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4700" y="2921000"/>
            <a:ext cx="10414000" cy="317500"/>
          </a:xfrm>
          <a:prstGeom prst="rect">
            <a:avLst/>
          </a:prstGeom>
          <a:noFill/>
        </p:spPr>
        <p:txBody>
          <a:bodyPr wrap="none" lIns="0" rIns="0" tIns="0" bIns="0" anchor="t">
            <a:spAutoFit/>
          </a:bodyPr>
          <a:lstStyle/>
          <a:p>
            <a:pPr>
              <a:lnSpc>
                <a:spcPts val="1250"/>
              </a:lnSpc>
              <a:spcBef>
                <a:spcPts val="0"/>
              </a:spcBef>
              <a:spcAft>
                <a:spcPts val="0"/>
              </a:spcAft>
              <a:defRPr sz="1000" b="1">
                <a:solidFill>
                  <a:srgbClr val="37D7BD"/>
                </a:solidFill>
                <a:latin typeface="DejaVu Sans"/>
              </a:defRPr>
            </a:pPr>
            <a:r>
              <a:t>TERMINAL  /  FROM REPOSITORY ROOT</a:t>
            </a:r>
          </a:p>
        </p:txBody>
      </p:sp>
      <p:sp>
        <p:nvSpPr>
          <p:cNvPr id="9" name="TextBox 8"/>
          <p:cNvSpPr txBox="1"/>
          <p:nvPr/>
        </p:nvSpPr>
        <p:spPr>
          <a:xfrm>
            <a:off x="774700" y="3416300"/>
            <a:ext cx="10629900" cy="2032000"/>
          </a:xfrm>
          <a:prstGeom prst="rect">
            <a:avLst/>
          </a:prstGeom>
          <a:noFill/>
        </p:spPr>
        <p:txBody>
          <a:bodyPr wrap="none" lIns="0" rIns="0" tIns="0" bIns="0" anchor="t">
            <a:spAutoFit/>
          </a:bodyPr>
          <a:lstStyle/>
          <a:p>
            <a:pPr>
              <a:lnSpc>
                <a:spcPts val="2379"/>
              </a:lnSpc>
              <a:spcBef>
                <a:spcPts val="0"/>
              </a:spcBef>
              <a:spcAft>
                <a:spcPts val="0"/>
              </a:spcAft>
              <a:defRPr sz="1700" b="0">
                <a:solidFill>
                  <a:srgbClr val="FFFFFF"/>
                </a:solidFill>
                <a:latin typeface="DejaVu Sans Mono"/>
              </a:defRPr>
            </a:pPr>
            <a:r>
              <a:t>.venv/bin/python workshops/w1/client.py call-account acc-101</a:t>
            </a:r>
          </a:p>
        </p:txBody>
      </p:sp>
      <p:sp>
        <p:nvSpPr>
          <p:cNvPr id="10" name="Rounded Rectangle 9"/>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Record account ID, actual balance, and currency from the response.</a:t>
            </a:r>
          </a:p>
        </p:txBody>
      </p:sp>
      <p:sp>
        <p:nvSpPr>
          <p:cNvPr id="12" name="TextBox 11"/>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1  /  FICTIONAL LAB</a:t>
            </a:r>
          </a:p>
        </p:txBody>
      </p:sp>
      <p:sp>
        <p:nvSpPr>
          <p:cNvPr id="13" name="TextBox 12"/>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11 / 17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1  /  22–32 MIN</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Demo: invoke the curated endpoint</a:t>
            </a:r>
          </a:p>
        </p:txBody>
      </p:sp>
      <p:sp>
        <p:nvSpPr>
          <p:cNvPr id="6" name="TextBox 5"/>
          <p:cNvSpPr txBox="1"/>
          <p:nvPr/>
        </p:nvSpPr>
        <p:spPr>
          <a:xfrm>
            <a:off x="546100" y="1841500"/>
            <a:ext cx="11061700" cy="736600"/>
          </a:xfrm>
          <a:prstGeom prst="rect">
            <a:avLst/>
          </a:prstGeom>
          <a:noFill/>
        </p:spPr>
        <p:txBody>
          <a:bodyPr wrap="none" lIns="0" rIns="0" tIns="0" bIns="0" anchor="t">
            <a:spAutoFit/>
          </a:bodyPr>
          <a:lstStyle/>
          <a:p>
            <a:pPr>
              <a:lnSpc>
                <a:spcPts val="2250"/>
              </a:lnSpc>
              <a:spcBef>
                <a:spcPts val="0"/>
              </a:spcBef>
              <a:spcAft>
                <a:spcPts val="0"/>
              </a:spcAft>
              <a:defRPr sz="1800" b="0">
                <a:solidFill>
                  <a:srgbClr val="536B73"/>
                </a:solidFill>
                <a:latin typeface="DejaVu Sans"/>
              </a:defRPr>
            </a:pPr>
            <a:r>
              <a:t>/mcp/curated exposes exactly get_account and get_case.</a:t>
            </a:r>
          </a:p>
        </p:txBody>
      </p:sp>
      <p:sp>
        <p:nvSpPr>
          <p:cNvPr id="7" name="Rounded Rectangle 6"/>
          <p:cNvSpPr/>
          <p:nvPr/>
        </p:nvSpPr>
        <p:spPr>
          <a:xfrm>
            <a:off x="533400" y="2730500"/>
            <a:ext cx="11125200" cy="2908300"/>
          </a:xfrm>
          <a:prstGeom prst="roundRect">
            <a:avLst>
              <a:gd name="adj" fmla="val 6000"/>
            </a:avLst>
          </a:prstGeom>
          <a:solidFill>
            <a:srgbClr val="102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4700" y="2921000"/>
            <a:ext cx="10414000" cy="317500"/>
          </a:xfrm>
          <a:prstGeom prst="rect">
            <a:avLst/>
          </a:prstGeom>
          <a:noFill/>
        </p:spPr>
        <p:txBody>
          <a:bodyPr wrap="none" lIns="0" rIns="0" tIns="0" bIns="0" anchor="t">
            <a:spAutoFit/>
          </a:bodyPr>
          <a:lstStyle/>
          <a:p>
            <a:pPr>
              <a:lnSpc>
                <a:spcPts val="1250"/>
              </a:lnSpc>
              <a:spcBef>
                <a:spcPts val="0"/>
              </a:spcBef>
              <a:spcAft>
                <a:spcPts val="0"/>
              </a:spcAft>
              <a:defRPr sz="1000" b="1">
                <a:solidFill>
                  <a:srgbClr val="37D7BD"/>
                </a:solidFill>
                <a:latin typeface="DejaVu Sans"/>
              </a:defRPr>
            </a:pPr>
            <a:r>
              <a:t>TERMINAL  /  FROM REPOSITORY ROOT</a:t>
            </a:r>
          </a:p>
        </p:txBody>
      </p:sp>
      <p:sp>
        <p:nvSpPr>
          <p:cNvPr id="9" name="TextBox 8"/>
          <p:cNvSpPr txBox="1"/>
          <p:nvPr/>
        </p:nvSpPr>
        <p:spPr>
          <a:xfrm>
            <a:off x="774700" y="3416300"/>
            <a:ext cx="10629900" cy="2032000"/>
          </a:xfrm>
          <a:prstGeom prst="rect">
            <a:avLst/>
          </a:prstGeom>
          <a:noFill/>
        </p:spPr>
        <p:txBody>
          <a:bodyPr wrap="none" lIns="0" rIns="0" tIns="0" bIns="0" anchor="t">
            <a:spAutoFit/>
          </a:bodyPr>
          <a:lstStyle/>
          <a:p>
            <a:pPr>
              <a:lnSpc>
                <a:spcPts val="2379"/>
              </a:lnSpc>
              <a:spcBef>
                <a:spcPts val="0"/>
              </a:spcBef>
              <a:spcAft>
                <a:spcPts val="0"/>
              </a:spcAft>
              <a:defRPr sz="1700" b="0">
                <a:solidFill>
                  <a:srgbClr val="FFFFFF"/>
                </a:solidFill>
                <a:latin typeface="DejaVu Sans Mono"/>
              </a:defRPr>
            </a:pPr>
            <a:r>
              <a:t>.venv/bin/python workshops/w1/client.py --curated init</a:t>
            </a:r>
          </a:p>
          <a:p>
            <a:pPr>
              <a:lnSpc>
                <a:spcPts val="2379"/>
              </a:lnSpc>
              <a:spcBef>
                <a:spcPts val="0"/>
              </a:spcBef>
              <a:spcAft>
                <a:spcPts val="0"/>
              </a:spcAft>
              <a:defRPr sz="1700" b="0">
                <a:solidFill>
                  <a:srgbClr val="FFFFFF"/>
                </a:solidFill>
                <a:latin typeface="DejaVu Sans Mono"/>
              </a:defRPr>
            </a:pPr>
            <a:r>
              <a:t>.venv/bin/python workshops/w1/client.py --curated list</a:t>
            </a:r>
          </a:p>
          <a:p>
            <a:pPr>
              <a:lnSpc>
                <a:spcPts val="2379"/>
              </a:lnSpc>
              <a:spcBef>
                <a:spcPts val="0"/>
              </a:spcBef>
              <a:spcAft>
                <a:spcPts val="0"/>
              </a:spcAft>
              <a:defRPr sz="1700" b="0">
                <a:solidFill>
                  <a:srgbClr val="FFFFFF"/>
                </a:solidFill>
                <a:latin typeface="DejaVu Sans Mono"/>
              </a:defRPr>
            </a:pPr>
            <a:r>
              <a:t>.venv/bin/python workshops/w1/client.py --curated call-account acc-101</a:t>
            </a:r>
          </a:p>
        </p:txBody>
      </p:sp>
      <p:sp>
        <p:nvSpPr>
          <p:cNvPr id="10" name="Rounded Rectangle 9"/>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Prove discovery and successful invocation against the running endpoint.</a:t>
            </a:r>
          </a:p>
        </p:txBody>
      </p:sp>
      <p:sp>
        <p:nvSpPr>
          <p:cNvPr id="12" name="TextBox 11"/>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1  /  FICTIONAL LAB</a:t>
            </a:r>
          </a:p>
        </p:txBody>
      </p:sp>
      <p:sp>
        <p:nvSpPr>
          <p:cNvPr id="13" name="TextBox 12"/>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12 / 17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1  /  32–40 MIN</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Exclusion must hold at invocation too</a:t>
            </a:r>
          </a:p>
        </p:txBody>
      </p:sp>
      <p:sp>
        <p:nvSpPr>
          <p:cNvPr id="6" name="Rectangle 5"/>
          <p:cNvSpPr/>
          <p:nvPr/>
        </p:nvSpPr>
        <p:spPr>
          <a:xfrm>
            <a:off x="533400" y="2146300"/>
            <a:ext cx="11125200" cy="508000"/>
          </a:xfrm>
          <a:prstGeom prst="rect">
            <a:avLst/>
          </a:prstGeom>
          <a:solidFill>
            <a:srgbClr val="102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273300"/>
            <a:ext cx="4924044" cy="368300"/>
          </a:xfrm>
          <a:prstGeom prst="rect">
            <a:avLst/>
          </a:prstGeom>
          <a:noFill/>
        </p:spPr>
        <p:txBody>
          <a:bodyPr wrap="none" lIns="0" rIns="0" tIns="0" bIns="0" anchor="t">
            <a:spAutoFit/>
          </a:bodyPr>
          <a:lstStyle/>
          <a:p>
            <a:pPr>
              <a:lnSpc>
                <a:spcPts val="1750"/>
              </a:lnSpc>
              <a:spcBef>
                <a:spcPts val="0"/>
              </a:spcBef>
              <a:spcAft>
                <a:spcPts val="0"/>
              </a:spcAft>
              <a:defRPr sz="1400" b="1">
                <a:solidFill>
                  <a:srgbClr val="FFFFFF"/>
                </a:solidFill>
                <a:latin typeface="DejaVu Sans"/>
              </a:defRPr>
            </a:pPr>
            <a:r>
              <a:t>Check</a:t>
            </a:r>
          </a:p>
        </p:txBody>
      </p:sp>
      <p:sp>
        <p:nvSpPr>
          <p:cNvPr id="8" name="TextBox 7"/>
          <p:cNvSpPr txBox="1"/>
          <p:nvPr/>
        </p:nvSpPr>
        <p:spPr>
          <a:xfrm>
            <a:off x="5914644" y="2273300"/>
            <a:ext cx="5591556" cy="368300"/>
          </a:xfrm>
          <a:prstGeom prst="rect">
            <a:avLst/>
          </a:prstGeom>
          <a:noFill/>
        </p:spPr>
        <p:txBody>
          <a:bodyPr wrap="none" lIns="0" rIns="0" tIns="0" bIns="0" anchor="t">
            <a:spAutoFit/>
          </a:bodyPr>
          <a:lstStyle/>
          <a:p>
            <a:pPr>
              <a:lnSpc>
                <a:spcPts val="1750"/>
              </a:lnSpc>
              <a:spcBef>
                <a:spcPts val="0"/>
              </a:spcBef>
              <a:spcAft>
                <a:spcPts val="0"/>
              </a:spcAft>
              <a:defRPr sz="1400" b="1">
                <a:solidFill>
                  <a:srgbClr val="FFFFFF"/>
                </a:solidFill>
                <a:latin typeface="DejaVu Sans"/>
              </a:defRPr>
            </a:pPr>
            <a:r>
              <a:t>Expected observation</a:t>
            </a:r>
          </a:p>
        </p:txBody>
      </p:sp>
      <p:sp>
        <p:nvSpPr>
          <p:cNvPr id="9" name="Rectangle 8"/>
          <p:cNvSpPr/>
          <p:nvPr/>
        </p:nvSpPr>
        <p:spPr>
          <a:xfrm>
            <a:off x="533400" y="2654300"/>
            <a:ext cx="11125200" cy="7461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743200"/>
            <a:ext cx="4924044"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Curated discovery</a:t>
            </a:r>
          </a:p>
        </p:txBody>
      </p:sp>
      <p:sp>
        <p:nvSpPr>
          <p:cNvPr id="11" name="TextBox 10"/>
          <p:cNvSpPr txBox="1"/>
          <p:nvPr/>
        </p:nvSpPr>
        <p:spPr>
          <a:xfrm>
            <a:off x="5914644" y="2743200"/>
            <a:ext cx="5591556"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Only get_account and get_case</a:t>
            </a:r>
          </a:p>
        </p:txBody>
      </p:sp>
      <p:sp>
        <p:nvSpPr>
          <p:cNvPr id="12" name="Rectangle 11"/>
          <p:cNvSpPr/>
          <p:nvPr/>
        </p:nvSpPr>
        <p:spPr>
          <a:xfrm>
            <a:off x="533400" y="3400425"/>
            <a:ext cx="11125200" cy="746125"/>
          </a:xfrm>
          <a:prstGeom prst="rect">
            <a:avLst/>
          </a:prstGeom>
          <a:solidFill>
            <a:srgbClr val="E9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489325"/>
            <a:ext cx="4924044"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Permitted read</a:t>
            </a:r>
          </a:p>
        </p:txBody>
      </p:sp>
      <p:sp>
        <p:nvSpPr>
          <p:cNvPr id="14" name="TextBox 13"/>
          <p:cNvSpPr txBox="1"/>
          <p:nvPr/>
        </p:nvSpPr>
        <p:spPr>
          <a:xfrm>
            <a:off x="5914644" y="3489325"/>
            <a:ext cx="5591556"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Account/case result returned</a:t>
            </a:r>
          </a:p>
        </p:txBody>
      </p:sp>
      <p:sp>
        <p:nvSpPr>
          <p:cNvPr id="15" name="Rectangle 14"/>
          <p:cNvSpPr/>
          <p:nvPr/>
        </p:nvSpPr>
        <p:spPr>
          <a:xfrm>
            <a:off x="533400" y="4146550"/>
            <a:ext cx="11125200" cy="7461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4235450"/>
            <a:ext cx="4924044"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Excluded tool call</a:t>
            </a:r>
          </a:p>
        </p:txBody>
      </p:sp>
      <p:sp>
        <p:nvSpPr>
          <p:cNvPr id="17" name="TextBox 16"/>
          <p:cNvSpPr txBox="1"/>
          <p:nvPr/>
        </p:nvSpPr>
        <p:spPr>
          <a:xfrm>
            <a:off x="5914644" y="4235450"/>
            <a:ext cx="5591556"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Tool lookup rejects the operation</a:t>
            </a:r>
          </a:p>
        </p:txBody>
      </p:sp>
      <p:sp>
        <p:nvSpPr>
          <p:cNvPr id="18" name="Rectangle 17"/>
          <p:cNvSpPr/>
          <p:nvPr/>
        </p:nvSpPr>
        <p:spPr>
          <a:xfrm>
            <a:off x="533400" y="4892675"/>
            <a:ext cx="11125200" cy="746125"/>
          </a:xfrm>
          <a:prstGeom prst="rect">
            <a:avLst/>
          </a:prstGeom>
          <a:solidFill>
            <a:srgbClr val="E9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981575"/>
            <a:ext cx="4924044"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Missing API credentials</a:t>
            </a:r>
          </a:p>
        </p:txBody>
      </p:sp>
      <p:sp>
        <p:nvSpPr>
          <p:cNvPr id="20" name="TextBox 19"/>
          <p:cNvSpPr txBox="1"/>
          <p:nvPr/>
        </p:nvSpPr>
        <p:spPr>
          <a:xfrm>
            <a:off x="5914644" y="4981575"/>
            <a:ext cx="5591556"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Gate 3 authorization failure</a:t>
            </a:r>
          </a:p>
        </p:txBody>
      </p:sp>
      <p:sp>
        <p:nvSpPr>
          <p:cNvPr id="21" name="Rounded Rectangle 20"/>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Catalog design and downstream authorization solve different parts of the problem.</a:t>
            </a:r>
          </a:p>
        </p:txBody>
      </p:sp>
      <p:sp>
        <p:nvSpPr>
          <p:cNvPr id="23" name="TextBox 22"/>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1  /  FICTIONAL LAB</a:t>
            </a:r>
          </a:p>
        </p:txBody>
      </p:sp>
      <p:sp>
        <p:nvSpPr>
          <p:cNvPr id="24" name="TextBox 23"/>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13 / 17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1  /  32–40 MIN</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Demo: the banking boundary still applies</a:t>
            </a:r>
          </a:p>
        </p:txBody>
      </p:sp>
      <p:sp>
        <p:nvSpPr>
          <p:cNvPr id="6" name="TextBox 5"/>
          <p:cNvSpPr txBox="1"/>
          <p:nvPr/>
        </p:nvSpPr>
        <p:spPr>
          <a:xfrm>
            <a:off x="546100" y="1841500"/>
            <a:ext cx="11061700" cy="736600"/>
          </a:xfrm>
          <a:prstGeom prst="rect">
            <a:avLst/>
          </a:prstGeom>
          <a:noFill/>
        </p:spPr>
        <p:txBody>
          <a:bodyPr wrap="none" lIns="0" rIns="0" tIns="0" bIns="0" anchor="t">
            <a:spAutoFit/>
          </a:bodyPr>
          <a:lstStyle/>
          <a:p>
            <a:pPr>
              <a:lnSpc>
                <a:spcPts val="2250"/>
              </a:lnSpc>
              <a:spcBef>
                <a:spcPts val="0"/>
              </a:spcBef>
              <a:spcAft>
                <a:spcPts val="0"/>
              </a:spcAft>
              <a:defRPr sz="1800" b="0">
                <a:solidFill>
                  <a:srgbClr val="536B73"/>
                </a:solidFill>
                <a:latin typeface="DejaVu Sans"/>
              </a:defRPr>
            </a:pPr>
            <a:r>
              <a:t>Inspect the embedded downstream response and gateway routing evidence.</a:t>
            </a:r>
          </a:p>
        </p:txBody>
      </p:sp>
      <p:sp>
        <p:nvSpPr>
          <p:cNvPr id="7" name="Rounded Rectangle 6"/>
          <p:cNvSpPr/>
          <p:nvPr/>
        </p:nvSpPr>
        <p:spPr>
          <a:xfrm>
            <a:off x="533400" y="2730500"/>
            <a:ext cx="11125200" cy="2908300"/>
          </a:xfrm>
          <a:prstGeom prst="roundRect">
            <a:avLst>
              <a:gd name="adj" fmla="val 6000"/>
            </a:avLst>
          </a:prstGeom>
          <a:solidFill>
            <a:srgbClr val="102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4700" y="2921000"/>
            <a:ext cx="10414000" cy="317500"/>
          </a:xfrm>
          <a:prstGeom prst="rect">
            <a:avLst/>
          </a:prstGeom>
          <a:noFill/>
        </p:spPr>
        <p:txBody>
          <a:bodyPr wrap="none" lIns="0" rIns="0" tIns="0" bIns="0" anchor="t">
            <a:spAutoFit/>
          </a:bodyPr>
          <a:lstStyle/>
          <a:p>
            <a:pPr>
              <a:lnSpc>
                <a:spcPts val="1250"/>
              </a:lnSpc>
              <a:spcBef>
                <a:spcPts val="0"/>
              </a:spcBef>
              <a:spcAft>
                <a:spcPts val="0"/>
              </a:spcAft>
              <a:defRPr sz="1000" b="1">
                <a:solidFill>
                  <a:srgbClr val="37D7BD"/>
                </a:solidFill>
                <a:latin typeface="DejaVu Sans"/>
              </a:defRPr>
            </a:pPr>
            <a:r>
              <a:t>TERMINAL  /  FROM REPOSITORY ROOT</a:t>
            </a:r>
          </a:p>
        </p:txBody>
      </p:sp>
      <p:sp>
        <p:nvSpPr>
          <p:cNvPr id="9" name="TextBox 8"/>
          <p:cNvSpPr txBox="1"/>
          <p:nvPr/>
        </p:nvSpPr>
        <p:spPr>
          <a:xfrm>
            <a:off x="774700" y="3416300"/>
            <a:ext cx="10629900" cy="2032000"/>
          </a:xfrm>
          <a:prstGeom prst="rect">
            <a:avLst/>
          </a:prstGeom>
          <a:noFill/>
        </p:spPr>
        <p:txBody>
          <a:bodyPr wrap="none" lIns="0" rIns="0" tIns="0" bIns="0" anchor="t">
            <a:spAutoFit/>
          </a:bodyPr>
          <a:lstStyle/>
          <a:p>
            <a:pPr>
              <a:lnSpc>
                <a:spcPts val="2379"/>
              </a:lnSpc>
              <a:spcBef>
                <a:spcPts val="0"/>
              </a:spcBef>
              <a:spcAft>
                <a:spcPts val="0"/>
              </a:spcAft>
              <a:defRPr sz="1700" b="0">
                <a:solidFill>
                  <a:srgbClr val="FFFFFF"/>
                </a:solidFill>
                <a:latin typeface="DejaVu Sans Mono"/>
              </a:defRPr>
            </a:pPr>
            <a:r>
              <a:t>.venv/bin/python workshops/w1/client.py --curated call-unauthorized</a:t>
            </a:r>
          </a:p>
        </p:txBody>
      </p:sp>
      <p:sp>
        <p:nvSpPr>
          <p:cNvPr id="10" name="Rounded Rectangle 9"/>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An outer MCP HTTP success can contain a failed downstream operation.</a:t>
            </a:r>
          </a:p>
        </p:txBody>
      </p:sp>
      <p:sp>
        <p:nvSpPr>
          <p:cNvPr id="12" name="TextBox 11"/>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1  /  FICTIONAL LAB</a:t>
            </a:r>
          </a:p>
        </p:txBody>
      </p:sp>
      <p:sp>
        <p:nvSpPr>
          <p:cNvPr id="13" name="TextBox 12"/>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14 / 17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1  /  40–45 MIN</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What evidence earns a pass?</a:t>
            </a:r>
          </a:p>
        </p:txBody>
      </p:sp>
      <p:sp>
        <p:nvSpPr>
          <p:cNvPr id="6" name="Rounded Rectangle 5"/>
          <p:cNvSpPr/>
          <p:nvPr/>
        </p:nvSpPr>
        <p:spPr>
          <a:xfrm>
            <a:off x="533400" y="2146300"/>
            <a:ext cx="3539066" cy="34925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4700" y="24003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4700" y="26797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PURPOSEFUL</a:t>
            </a:r>
          </a:p>
        </p:txBody>
      </p:sp>
      <p:sp>
        <p:nvSpPr>
          <p:cNvPr id="9" name="TextBox 8"/>
          <p:cNvSpPr txBox="1"/>
          <p:nvPr/>
        </p:nvSpPr>
        <p:spPr>
          <a:xfrm>
            <a:off x="774700" y="3467100"/>
            <a:ext cx="3056466" cy="2006600"/>
          </a:xfrm>
          <a:prstGeom prst="rect">
            <a:avLst/>
          </a:prstGeom>
          <a:noFill/>
        </p:spPr>
        <p:txBody>
          <a:bodyPr wrap="none" lIns="0" rIns="0" tIns="0" bIns="0" anchor="t">
            <a:spAutoFit/>
          </a:bodyPr>
          <a:lstStyle/>
          <a:p>
            <a:pPr>
              <a:lnSpc>
                <a:spcPts val="2625"/>
              </a:lnSpc>
              <a:spcBef>
                <a:spcPts val="0"/>
              </a:spcBef>
              <a:spcAft>
                <a:spcPts val="0"/>
              </a:spcAft>
              <a:defRPr sz="2100" b="0">
                <a:solidFill>
                  <a:srgbClr val="163640"/>
                </a:solidFill>
                <a:latin typeface="DejaVu Sans"/>
              </a:defRPr>
            </a:pPr>
            <a:r>
              <a:t>Two intended tools</a:t>
            </a:r>
          </a:p>
          <a:p>
            <a:pPr>
              <a:lnSpc>
                <a:spcPts val="2625"/>
              </a:lnSpc>
              <a:spcBef>
                <a:spcPts val="0"/>
              </a:spcBef>
              <a:spcAft>
                <a:spcPts val="0"/>
              </a:spcAft>
              <a:defRPr sz="2100" b="0">
                <a:solidFill>
                  <a:srgbClr val="163640"/>
                </a:solidFill>
                <a:latin typeface="DejaVu Sans"/>
              </a:defRPr>
            </a:pPr>
            <a:r>
              <a:t>are discoverable and</a:t>
            </a:r>
          </a:p>
          <a:p>
            <a:pPr>
              <a:lnSpc>
                <a:spcPts val="2625"/>
              </a:lnSpc>
              <a:spcBef>
                <a:spcPts val="0"/>
              </a:spcBef>
              <a:spcAft>
                <a:spcPts val="0"/>
              </a:spcAft>
              <a:defRPr sz="2100" b="0">
                <a:solidFill>
                  <a:srgbClr val="163640"/>
                </a:solidFill>
                <a:latin typeface="DejaVu Sans"/>
              </a:defRPr>
            </a:pPr>
            <a:r>
              <a:t>callable.</a:t>
            </a:r>
          </a:p>
        </p:txBody>
      </p:sp>
      <p:sp>
        <p:nvSpPr>
          <p:cNvPr id="10" name="Rounded Rectangle 9"/>
          <p:cNvSpPr/>
          <p:nvPr/>
        </p:nvSpPr>
        <p:spPr>
          <a:xfrm>
            <a:off x="4326466" y="2146300"/>
            <a:ext cx="3539066" cy="34925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67766" y="24003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67766" y="26797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RESTRICTED</a:t>
            </a:r>
          </a:p>
        </p:txBody>
      </p:sp>
      <p:sp>
        <p:nvSpPr>
          <p:cNvPr id="13" name="TextBox 12"/>
          <p:cNvSpPr txBox="1"/>
          <p:nvPr/>
        </p:nvSpPr>
        <p:spPr>
          <a:xfrm>
            <a:off x="4567766" y="3467100"/>
            <a:ext cx="3056466" cy="2006600"/>
          </a:xfrm>
          <a:prstGeom prst="rect">
            <a:avLst/>
          </a:prstGeom>
          <a:noFill/>
        </p:spPr>
        <p:txBody>
          <a:bodyPr wrap="none" lIns="0" rIns="0" tIns="0" bIns="0" anchor="t">
            <a:spAutoFit/>
          </a:bodyPr>
          <a:lstStyle/>
          <a:p>
            <a:pPr>
              <a:lnSpc>
                <a:spcPts val="2625"/>
              </a:lnSpc>
              <a:spcBef>
                <a:spcPts val="0"/>
              </a:spcBef>
              <a:spcAft>
                <a:spcPts val="0"/>
              </a:spcAft>
              <a:defRPr sz="2100" b="0">
                <a:solidFill>
                  <a:srgbClr val="163640"/>
                </a:solidFill>
                <a:latin typeface="DejaVu Sans"/>
              </a:defRPr>
            </a:pPr>
            <a:r>
              <a:t>Excluded operations</a:t>
            </a:r>
          </a:p>
          <a:p>
            <a:pPr>
              <a:lnSpc>
                <a:spcPts val="2625"/>
              </a:lnSpc>
              <a:spcBef>
                <a:spcPts val="0"/>
              </a:spcBef>
              <a:spcAft>
                <a:spcPts val="0"/>
              </a:spcAft>
              <a:defRPr sz="2100" b="0">
                <a:solidFill>
                  <a:srgbClr val="163640"/>
                </a:solidFill>
                <a:latin typeface="DejaVu Sans"/>
              </a:defRPr>
            </a:pPr>
            <a:r>
              <a:t>fail tool lookup in the</a:t>
            </a:r>
          </a:p>
          <a:p>
            <a:pPr>
              <a:lnSpc>
                <a:spcPts val="2625"/>
              </a:lnSpc>
              <a:spcBef>
                <a:spcPts val="0"/>
              </a:spcBef>
              <a:spcAft>
                <a:spcPts val="0"/>
              </a:spcAft>
              <a:defRPr sz="2100" b="0">
                <a:solidFill>
                  <a:srgbClr val="163640"/>
                </a:solidFill>
                <a:latin typeface="DejaVu Sans"/>
              </a:defRPr>
            </a:pPr>
            <a:r>
              <a:t>curated catalog.</a:t>
            </a:r>
          </a:p>
        </p:txBody>
      </p:sp>
      <p:sp>
        <p:nvSpPr>
          <p:cNvPr id="14" name="Rounded Rectangle 13"/>
          <p:cNvSpPr/>
          <p:nvPr/>
        </p:nvSpPr>
        <p:spPr>
          <a:xfrm>
            <a:off x="8119533" y="2146300"/>
            <a:ext cx="3539066" cy="34925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60833" y="24003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60833" y="26797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GOVERNED</a:t>
            </a:r>
          </a:p>
        </p:txBody>
      </p:sp>
      <p:sp>
        <p:nvSpPr>
          <p:cNvPr id="17" name="TextBox 16"/>
          <p:cNvSpPr txBox="1"/>
          <p:nvPr/>
        </p:nvSpPr>
        <p:spPr>
          <a:xfrm>
            <a:off x="8360833" y="3467100"/>
            <a:ext cx="3056466" cy="2006600"/>
          </a:xfrm>
          <a:prstGeom prst="rect">
            <a:avLst/>
          </a:prstGeom>
          <a:noFill/>
        </p:spPr>
        <p:txBody>
          <a:bodyPr wrap="none" lIns="0" rIns="0" tIns="0" bIns="0" anchor="t">
            <a:spAutoFit/>
          </a:bodyPr>
          <a:lstStyle/>
          <a:p>
            <a:pPr>
              <a:lnSpc>
                <a:spcPts val="2625"/>
              </a:lnSpc>
              <a:spcBef>
                <a:spcPts val="0"/>
              </a:spcBef>
              <a:spcAft>
                <a:spcPts val="0"/>
              </a:spcAft>
              <a:defRPr sz="2100" b="0">
                <a:solidFill>
                  <a:srgbClr val="163640"/>
                </a:solidFill>
                <a:latin typeface="DejaVu Sans"/>
              </a:defRPr>
            </a:pPr>
            <a:r>
              <a:t>Authorized reads</a:t>
            </a:r>
          </a:p>
          <a:p>
            <a:pPr>
              <a:lnSpc>
                <a:spcPts val="2625"/>
              </a:lnSpc>
              <a:spcBef>
                <a:spcPts val="0"/>
              </a:spcBef>
              <a:spcAft>
                <a:spcPts val="0"/>
              </a:spcAft>
              <a:defRPr sz="2100" b="0">
                <a:solidFill>
                  <a:srgbClr val="163640"/>
                </a:solidFill>
                <a:latin typeface="DejaVu Sans"/>
              </a:defRPr>
            </a:pPr>
            <a:r>
              <a:t>work; missing</a:t>
            </a:r>
          </a:p>
          <a:p>
            <a:pPr>
              <a:lnSpc>
                <a:spcPts val="2625"/>
              </a:lnSpc>
              <a:spcBef>
                <a:spcPts val="0"/>
              </a:spcBef>
              <a:spcAft>
                <a:spcPts val="0"/>
              </a:spcAft>
              <a:defRPr sz="2100" b="0">
                <a:solidFill>
                  <a:srgbClr val="163640"/>
                </a:solidFill>
                <a:latin typeface="DejaVu Sans"/>
              </a:defRPr>
            </a:pPr>
            <a:r>
              <a:t>downstream</a:t>
            </a:r>
          </a:p>
          <a:p>
            <a:pPr>
              <a:lnSpc>
                <a:spcPts val="2625"/>
              </a:lnSpc>
              <a:spcBef>
                <a:spcPts val="0"/>
              </a:spcBef>
              <a:spcAft>
                <a:spcPts val="0"/>
              </a:spcAft>
              <a:defRPr sz="2100" b="0">
                <a:solidFill>
                  <a:srgbClr val="163640"/>
                </a:solidFill>
                <a:latin typeface="DejaVu Sans"/>
              </a:defRPr>
            </a:pPr>
            <a:r>
              <a:t>credentials still fail.</a:t>
            </a:r>
          </a:p>
        </p:txBody>
      </p:sp>
      <p:sp>
        <p:nvSpPr>
          <p:cNvPr id="18" name="Rounded Rectangle 17"/>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Explain one design choice using a response you observed.</a:t>
            </a:r>
          </a:p>
        </p:txBody>
      </p:sp>
      <p:sp>
        <p:nvSpPr>
          <p:cNvPr id="20" name="TextBox 19"/>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1  /  FICTIONAL LAB</a:t>
            </a:r>
          </a:p>
        </p:txBody>
      </p:sp>
      <p:sp>
        <p:nvSpPr>
          <p:cNvPr id="21" name="TextBox 20"/>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15 / 17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2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37D7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37D7BD"/>
                </a:solidFill>
                <a:latin typeface="DejaVu Sans"/>
              </a:defRPr>
            </a:pPr>
            <a:r>
              <a:t>WORKSHOP 1  /  40–45 MIN</a:t>
            </a:r>
          </a:p>
        </p:txBody>
      </p:sp>
      <p:sp>
        <p:nvSpPr>
          <p:cNvPr id="5" name="TextBox 4"/>
          <p:cNvSpPr txBox="1"/>
          <p:nvPr/>
        </p:nvSpPr>
        <p:spPr>
          <a:xfrm>
            <a:off x="533400" y="1358900"/>
            <a:ext cx="11049000" cy="2260600"/>
          </a:xfrm>
          <a:prstGeom prst="rect">
            <a:avLst/>
          </a:prstGeom>
          <a:noFill/>
        </p:spPr>
        <p:txBody>
          <a:bodyPr wrap="none" lIns="0" rIns="0" tIns="0" bIns="0" anchor="t">
            <a:spAutoFit/>
          </a:bodyPr>
          <a:lstStyle/>
          <a:p>
            <a:pPr>
              <a:lnSpc>
                <a:spcPts val="5059"/>
              </a:lnSpc>
              <a:spcBef>
                <a:spcPts val="0"/>
              </a:spcBef>
              <a:spcAft>
                <a:spcPts val="0"/>
              </a:spcAft>
              <a:defRPr sz="4400" b="1">
                <a:solidFill>
                  <a:srgbClr val="FFFFFF"/>
                </a:solidFill>
                <a:latin typeface="DejaVu Sans"/>
              </a:defRPr>
            </a:pPr>
            <a:r>
              <a:t>Next: the tool reads an attacker’s</a:t>
            </a:r>
          </a:p>
          <a:p>
            <a:pPr>
              <a:lnSpc>
                <a:spcPts val="5059"/>
              </a:lnSpc>
              <a:spcBef>
                <a:spcPts val="0"/>
              </a:spcBef>
              <a:spcAft>
                <a:spcPts val="0"/>
              </a:spcAft>
              <a:defRPr sz="4400" b="1">
                <a:solidFill>
                  <a:srgbClr val="FFFFFF"/>
                </a:solidFill>
                <a:latin typeface="DejaVu Sans"/>
              </a:defRPr>
            </a:pPr>
            <a:r>
              <a:t>instructions</a:t>
            </a:r>
          </a:p>
        </p:txBody>
      </p:sp>
      <p:sp>
        <p:nvSpPr>
          <p:cNvPr id="6" name="TextBox 5"/>
          <p:cNvSpPr txBox="1"/>
          <p:nvPr/>
        </p:nvSpPr>
        <p:spPr>
          <a:xfrm>
            <a:off x="558800" y="3810000"/>
            <a:ext cx="10807700" cy="1536700"/>
          </a:xfrm>
          <a:prstGeom prst="rect">
            <a:avLst/>
          </a:prstGeom>
          <a:noFill/>
        </p:spPr>
        <p:txBody>
          <a:bodyPr wrap="none" lIns="0" rIns="0" tIns="0" bIns="0" anchor="t">
            <a:spAutoFit/>
          </a:bodyPr>
          <a:lstStyle/>
          <a:p>
            <a:pPr>
              <a:lnSpc>
                <a:spcPts val="3250"/>
              </a:lnSpc>
              <a:spcBef>
                <a:spcPts val="0"/>
              </a:spcBef>
              <a:spcAft>
                <a:spcPts val="0"/>
              </a:spcAft>
              <a:defRPr sz="2600" b="0">
                <a:solidFill>
                  <a:srgbClr val="C1D5D8"/>
                </a:solidFill>
                <a:latin typeface="DejaVu Sans"/>
              </a:defRPr>
            </a:pPr>
            <a:r>
              <a:t>A useful catalog is the beginning. Execution still needs identity</a:t>
            </a:r>
          </a:p>
          <a:p>
            <a:pPr>
              <a:lnSpc>
                <a:spcPts val="3250"/>
              </a:lnSpc>
              <a:spcBef>
                <a:spcPts val="0"/>
              </a:spcBef>
              <a:spcAft>
                <a:spcPts val="0"/>
              </a:spcAft>
              <a:defRPr sz="2600" b="0">
                <a:solidFill>
                  <a:srgbClr val="C1D5D8"/>
                </a:solidFill>
                <a:latin typeface="DejaVu Sans"/>
              </a:defRPr>
            </a:pPr>
            <a:r>
              <a:t>and argument policy.</a:t>
            </a:r>
          </a:p>
        </p:txBody>
      </p:sp>
      <p:sp>
        <p:nvSpPr>
          <p:cNvPr id="7" name="TextBox 6"/>
          <p:cNvSpPr txBox="1"/>
          <p:nvPr/>
        </p:nvSpPr>
        <p:spPr>
          <a:xfrm>
            <a:off x="558800" y="5829300"/>
            <a:ext cx="10960100" cy="571500"/>
          </a:xfrm>
          <a:prstGeom prst="rect">
            <a:avLst/>
          </a:prstGeom>
          <a:noFill/>
        </p:spPr>
        <p:txBody>
          <a:bodyPr wrap="none" lIns="0" rIns="0" tIns="0" bIns="0" anchor="t">
            <a:spAutoFit/>
          </a:bodyPr>
          <a:lstStyle/>
          <a:p>
            <a:pPr>
              <a:lnSpc>
                <a:spcPts val="2125"/>
              </a:lnSpc>
              <a:spcBef>
                <a:spcPts val="0"/>
              </a:spcBef>
              <a:spcAft>
                <a:spcPts val="0"/>
              </a:spcAft>
              <a:defRPr sz="1700" b="1">
                <a:solidFill>
                  <a:srgbClr val="37D7BD"/>
                </a:solidFill>
                <a:latin typeface="DejaVu Sans"/>
              </a:defRPr>
            </a:pPr>
            <a:r>
              <a:t>W2 / The ticket that tried to give orders</a:t>
            </a:r>
          </a:p>
        </p:txBody>
      </p:sp>
      <p:sp>
        <p:nvSpPr>
          <p:cNvPr id="8" name="TextBox 7"/>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AAC0C6"/>
                </a:solidFill>
                <a:latin typeface="DejaVu Sans"/>
              </a:defRPr>
            </a:pPr>
            <a:r>
              <a:t>FLO BANK  /  WORKSHOP 1  /  FICTIONAL LAB</a:t>
            </a:r>
          </a:p>
        </p:txBody>
      </p:sp>
      <p:sp>
        <p:nvSpPr>
          <p:cNvPr id="9" name="TextBox 8"/>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AAC0C6"/>
                </a:solidFill>
                <a:latin typeface="DejaVu Sans"/>
              </a:defRPr>
            </a:pPr>
            <a:r>
              <a:t>16 / 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1  /  REFERENCE / OUTSIDE TIMED DELIVERY</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Presenter preparation &amp; source guide</a:t>
            </a:r>
          </a:p>
        </p:txBody>
      </p:sp>
      <p:sp>
        <p:nvSpPr>
          <p:cNvPr id="6" name="Rounded Rectangle 5"/>
          <p:cNvSpPr/>
          <p:nvPr/>
        </p:nvSpPr>
        <p:spPr>
          <a:xfrm>
            <a:off x="533400" y="2146300"/>
            <a:ext cx="3539066" cy="34925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4700" y="24003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4700" y="26797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PREPARE</a:t>
            </a:r>
          </a:p>
        </p:txBody>
      </p:sp>
      <p:sp>
        <p:nvSpPr>
          <p:cNvPr id="9" name="TextBox 8"/>
          <p:cNvSpPr txBox="1"/>
          <p:nvPr/>
        </p:nvSpPr>
        <p:spPr>
          <a:xfrm>
            <a:off x="774700" y="3467100"/>
            <a:ext cx="3056466" cy="2006600"/>
          </a:xfrm>
          <a:prstGeom prst="rect">
            <a:avLst/>
          </a:prstGeom>
          <a:noFill/>
        </p:spPr>
        <p:txBody>
          <a:bodyPr wrap="none" lIns="0" rIns="0" tIns="0" bIns="0" anchor="t">
            <a:spAutoFit/>
          </a:bodyPr>
          <a:lstStyle/>
          <a:p>
            <a:pPr>
              <a:lnSpc>
                <a:spcPts val="2625"/>
              </a:lnSpc>
              <a:spcBef>
                <a:spcPts val="0"/>
              </a:spcBef>
              <a:spcAft>
                <a:spcPts val="0"/>
              </a:spcAft>
              <a:defRPr sz="2100" b="0">
                <a:solidFill>
                  <a:srgbClr val="163640"/>
                </a:solidFill>
                <a:latin typeface="DejaVu Sans"/>
              </a:defRPr>
            </a:pPr>
            <a:r>
              <a:t>Use profile w1.</a:t>
            </a:r>
          </a:p>
          <a:p>
            <a:pPr>
              <a:lnSpc>
                <a:spcPts val="2625"/>
              </a:lnSpc>
              <a:spcBef>
                <a:spcPts val="0"/>
              </a:spcBef>
              <a:spcAft>
                <a:spcPts val="0"/>
              </a:spcAft>
              <a:defRPr sz="2100" b="0">
                <a:solidFill>
                  <a:srgbClr val="163640"/>
                </a:solidFill>
                <a:latin typeface="DejaVu Sans"/>
              </a:defRPr>
            </a:pPr>
            <a:r>
              <a:t>Download/build first.</a:t>
            </a:r>
          </a:p>
          <a:p>
            <a:pPr>
              <a:lnSpc>
                <a:spcPts val="2625"/>
              </a:lnSpc>
              <a:spcBef>
                <a:spcPts val="0"/>
              </a:spcBef>
              <a:spcAft>
                <a:spcPts val="0"/>
              </a:spcAft>
              <a:defRPr sz="2100" b="0">
                <a:solidFill>
                  <a:srgbClr val="163640"/>
                </a:solidFill>
                <a:latin typeface="DejaVu Sans"/>
              </a:defRPr>
            </a:pPr>
            <a:r>
              <a:t>Preserve evidence</a:t>
            </a:r>
          </a:p>
          <a:p>
            <a:pPr>
              <a:lnSpc>
                <a:spcPts val="2625"/>
              </a:lnSpc>
              <a:spcBef>
                <a:spcPts val="0"/>
              </a:spcBef>
              <a:spcAft>
                <a:spcPts val="0"/>
              </a:spcAft>
              <a:defRPr sz="2100" b="0">
                <a:solidFill>
                  <a:srgbClr val="163640"/>
                </a:solidFill>
                <a:latin typeface="DejaVu Sans"/>
              </a:defRPr>
            </a:pPr>
            <a:r>
              <a:t>before resetting</a:t>
            </a:r>
          </a:p>
          <a:p>
            <a:pPr>
              <a:lnSpc>
                <a:spcPts val="2625"/>
              </a:lnSpc>
              <a:spcBef>
                <a:spcPts val="0"/>
              </a:spcBef>
              <a:spcAft>
                <a:spcPts val="0"/>
              </a:spcAft>
              <a:defRPr sz="2100" b="0">
                <a:solidFill>
                  <a:srgbClr val="163640"/>
                </a:solidFill>
                <a:latin typeface="DejaVu Sans"/>
              </a:defRPr>
            </a:pPr>
            <a:r>
              <a:t>fictional data.</a:t>
            </a:r>
          </a:p>
        </p:txBody>
      </p:sp>
      <p:sp>
        <p:nvSpPr>
          <p:cNvPr id="10" name="Rounded Rectangle 9"/>
          <p:cNvSpPr/>
          <p:nvPr/>
        </p:nvSpPr>
        <p:spPr>
          <a:xfrm>
            <a:off x="4326466" y="2146300"/>
            <a:ext cx="3539066" cy="34925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67766" y="24003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67766" y="26797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OPEN</a:t>
            </a:r>
          </a:p>
        </p:txBody>
      </p:sp>
      <p:sp>
        <p:nvSpPr>
          <p:cNvPr id="13" name="TextBox 12"/>
          <p:cNvSpPr txBox="1"/>
          <p:nvPr/>
        </p:nvSpPr>
        <p:spPr>
          <a:xfrm>
            <a:off x="4567766" y="3467100"/>
            <a:ext cx="3056466" cy="2006600"/>
          </a:xfrm>
          <a:prstGeom prst="rect">
            <a:avLst/>
          </a:prstGeom>
          <a:noFill/>
        </p:spPr>
        <p:txBody>
          <a:bodyPr wrap="none" lIns="0" rIns="0" tIns="0" bIns="0" anchor="t">
            <a:spAutoFit/>
          </a:bodyPr>
          <a:lstStyle/>
          <a:p>
            <a:pPr>
              <a:lnSpc>
                <a:spcPts val="2062"/>
              </a:lnSpc>
              <a:spcBef>
                <a:spcPts val="0"/>
              </a:spcBef>
              <a:spcAft>
                <a:spcPts val="0"/>
              </a:spcAft>
              <a:defRPr sz="1650" b="0">
                <a:solidFill>
                  <a:srgbClr val="163640"/>
                </a:solidFill>
                <a:latin typeface="DejaVu Sans"/>
              </a:defRPr>
            </a:pPr>
            <a:r>
              <a:t>localhost:9080/docs</a:t>
            </a:r>
          </a:p>
          <a:p>
            <a:pPr>
              <a:lnSpc>
                <a:spcPts val="2062"/>
              </a:lnSpc>
              <a:spcBef>
                <a:spcPts val="0"/>
              </a:spcBef>
              <a:spcAft>
                <a:spcPts val="0"/>
              </a:spcAft>
              <a:defRPr sz="1650" b="0">
                <a:solidFill>
                  <a:srgbClr val="163640"/>
                </a:solidFill>
                <a:latin typeface="DejaVu Sans"/>
              </a:defRPr>
            </a:pPr>
            <a:r>
              <a:t>localhost:9080/openapi.json</a:t>
            </a:r>
          </a:p>
          <a:p>
            <a:pPr>
              <a:lnSpc>
                <a:spcPts val="2062"/>
              </a:lnSpc>
              <a:spcBef>
                <a:spcPts val="0"/>
              </a:spcBef>
              <a:spcAft>
                <a:spcPts val="0"/>
              </a:spcAft>
              <a:defRPr sz="1650" b="0">
                <a:solidFill>
                  <a:srgbClr val="163640"/>
                </a:solidFill>
                <a:latin typeface="DejaVu Sans"/>
              </a:defRPr>
            </a:pPr>
            <a:r>
              <a:t>W1 worksheet + answer key</a:t>
            </a:r>
          </a:p>
        </p:txBody>
      </p:sp>
      <p:sp>
        <p:nvSpPr>
          <p:cNvPr id="14" name="Rounded Rectangle 13"/>
          <p:cNvSpPr/>
          <p:nvPr/>
        </p:nvSpPr>
        <p:spPr>
          <a:xfrm>
            <a:off x="8119533" y="2146300"/>
            <a:ext cx="3539066" cy="34925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60833" y="24003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60833" y="26797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VERIFY</a:t>
            </a:r>
          </a:p>
        </p:txBody>
      </p:sp>
      <p:sp>
        <p:nvSpPr>
          <p:cNvPr id="17" name="TextBox 16"/>
          <p:cNvSpPr txBox="1"/>
          <p:nvPr/>
        </p:nvSpPr>
        <p:spPr>
          <a:xfrm>
            <a:off x="8360833" y="3467100"/>
            <a:ext cx="3056466" cy="2006600"/>
          </a:xfrm>
          <a:prstGeom prst="rect">
            <a:avLst/>
          </a:prstGeom>
          <a:noFill/>
        </p:spPr>
        <p:txBody>
          <a:bodyPr wrap="none" lIns="0" rIns="0" tIns="0" bIns="0" anchor="t">
            <a:spAutoFit/>
          </a:bodyPr>
          <a:lstStyle/>
          <a:p>
            <a:pPr>
              <a:lnSpc>
                <a:spcPts val="2625"/>
              </a:lnSpc>
              <a:spcBef>
                <a:spcPts val="0"/>
              </a:spcBef>
              <a:spcAft>
                <a:spcPts val="0"/>
              </a:spcAft>
              <a:defRPr sz="2100" b="0">
                <a:solidFill>
                  <a:srgbClr val="163640"/>
                </a:solidFill>
                <a:latin typeface="DejaVu Sans"/>
              </a:defRPr>
            </a:pPr>
            <a:r>
              <a:t>Run workshop verify</a:t>
            </a:r>
          </a:p>
          <a:p>
            <a:pPr>
              <a:lnSpc>
                <a:spcPts val="2625"/>
              </a:lnSpc>
              <a:spcBef>
                <a:spcPts val="0"/>
              </a:spcBef>
              <a:spcAft>
                <a:spcPts val="0"/>
              </a:spcAft>
              <a:defRPr sz="2100" b="0">
                <a:solidFill>
                  <a:srgbClr val="163640"/>
                </a:solidFill>
                <a:latin typeface="DejaVu Sans"/>
              </a:defRPr>
            </a:pPr>
            <a:r>
              <a:t>w1 on fresh seed.</a:t>
            </a:r>
          </a:p>
          <a:p>
            <a:pPr>
              <a:lnSpc>
                <a:spcPts val="2625"/>
              </a:lnSpc>
              <a:spcBef>
                <a:spcPts val="0"/>
              </a:spcBef>
              <a:spcAft>
                <a:spcPts val="0"/>
              </a:spcAft>
              <a:defRPr sz="2100" b="0">
                <a:solidFill>
                  <a:srgbClr val="163640"/>
                </a:solidFill>
                <a:latin typeface="DejaVu Sans"/>
              </a:defRPr>
            </a:pPr>
            <a:r>
              <a:t>Pre-warm broad and</a:t>
            </a:r>
          </a:p>
          <a:p>
            <a:pPr>
              <a:lnSpc>
                <a:spcPts val="2625"/>
              </a:lnSpc>
              <a:spcBef>
                <a:spcPts val="0"/>
              </a:spcBef>
              <a:spcAft>
                <a:spcPts val="0"/>
              </a:spcAft>
              <a:defRPr sz="2100" b="0">
                <a:solidFill>
                  <a:srgbClr val="163640"/>
                </a:solidFill>
                <a:latin typeface="DejaVu Sans"/>
              </a:defRPr>
            </a:pPr>
            <a:r>
              <a:t>curated catalogs.</a:t>
            </a:r>
          </a:p>
        </p:txBody>
      </p:sp>
      <p:sp>
        <p:nvSpPr>
          <p:cNvPr id="18" name="Rounded Rectangle 17"/>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Full commands and source paths are in the speaker notes and companion notes file.</a:t>
            </a:r>
          </a:p>
        </p:txBody>
      </p:sp>
      <p:sp>
        <p:nvSpPr>
          <p:cNvPr id="20" name="TextBox 19"/>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1  /  FICTIONAL LAB</a:t>
            </a:r>
          </a:p>
        </p:txBody>
      </p:sp>
      <p:sp>
        <p:nvSpPr>
          <p:cNvPr id="21" name="TextBox 20"/>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17 / 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Give Flo the right tools</dc:title>
  <dc:subject>Modernizing APIs for AI Agents: From OpenAPI to MCP</dc:subject>
  <dc:creator>Flo Bank Workshop Series</dc:creator>
  <cp:keywords>Flo Bank, workshop 1, fictional lab</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