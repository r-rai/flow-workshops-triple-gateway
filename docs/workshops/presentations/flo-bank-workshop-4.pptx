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0–8 min</a:t>
            </a:r>
          </a:p>
          <a:p>
            <a:r>
              <a:t>Open http://localhost:9080/workshop-4?view=presenter. Say: the credentials were valid, the request passed schema validation, and the fictional bank still lost ₹90 lakh. What did we authorize? Withhold the ticket until the next chapter. Declare that the incident is a recorded proposal executed in an isolated local ledger.</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0–8 min</a:t>
            </a:r>
          </a:p>
          <a:p>
            <a:r>
              <a:t>Collect predictions: identity, model, tool policy or approval? Record local votes without a polling service. The visible success status and credential validity establish neither transaction legitimacy nor correct delegation. No live model compromise is being asserted.</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0–8 min</a:t>
            </a:r>
          </a:p>
          <a:p>
            <a:r>
              <a:t>Use one prepared local instance per pair. Shared hosting is observation/fallback only. Give each pair one task and one evidence artifact at a time; keep explanation blocks under seven minutes.</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0–8 min</a:t>
            </a:r>
          </a:p>
          <a:p>
            <a:r>
              <a:t>Keep the opening tight. The seven-minute break is included in the full 135 minutes. Completed local checkpoints are available for stalled pairs.</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0–8 min</a:t>
            </a:r>
          </a:p>
          <a:p>
            <a:r>
              <a:t>Create approval proposals immediately before review: they expire after ten minutes. Leave enough time for legitimate settlement and evidence reconstruction. A blocked attack suite alone is insufficient to prove the repaired business path.</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8–20 min</a:t>
            </a:r>
          </a:p>
          <a:p>
            <a:r>
              <a:t>Reveal the ticket, recorded proposal and handoff. Ask which checks are missing at each boundary. The console replays fixed server-owned scenarios; the prediction/view controls do not enforce policy.</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8–20 min</a:t>
            </a:r>
          </a:p>
          <a:p>
            <a:r>
              <a:t>The isolated sandbox is a presenter-only service with a separate disposable ledger and no protected volumes or provider/banking keys. Starting w4 alone does not enable it; follow the answer-key setup before delivery. Do not expose secrets in slides or exports.</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20–33 min</a:t>
            </a:r>
          </a:p>
          <a:p>
            <a:r>
              <a:t>These are logical responsibilities in the lab, sharing APISIX infrastructure. No single boundary owns every failure. Prompt refusal cannot establish that direct tool or API calls are controlled.</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20–33 min</a:t>
            </a:r>
          </a:p>
          <a:p>
            <a:r>
              <a:t>Show zero dispatch evidence for the budget scenario. Optional live comparison makes one bounded call and executes no tools. Report the actual response, refusal or live_failed outcome without relabelling a recorded result.</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33–53 min</a:t>
            </a:r>
          </a:p>
          <a:p>
            <a:r>
              <a:t>Use the low amount for the prohibited-beneficiary test and a permitted beneficiary for the amount test. Conflating both would hide which rule stopped the request. Interpret the actual MCP decision rather than only the outer transport status.</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33–53 min</a:t>
            </a:r>
          </a:p>
          <a:p>
            <a:r>
              <a:t>Run prohibited beneficiary, excessive amount and permitted payment before the edit. Remove only vendor-alpha; retain attacker block and transfer ceiling. Repeating the success scenario creates payments; reconcile uncertain responses under the original run ID.</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33–53 min</a:t>
            </a:r>
          </a:p>
          <a:p>
            <a:r>
              <a:t>Collect actual denied and allowed responses, balance deltas and payment count. This is a running-policy change, not a UI toggle. If stalled, allow two minutes before supplying the completed checkpoint.</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53–60 min</a:t>
            </a:r>
          </a:p>
          <a:p>
            <a:r>
              <a:t>Ask what would happen if the API accepted every validly signed token regardless of audience. Then inspect the actual responses. A Gate 2 denial does not prove the direct API path is protected; test it independently.</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60–67 min</a:t>
            </a:r>
          </a:p>
          <a:p>
            <a:r>
              <a:t>Pause for the scheduled break. Restore completed policy/identity files where needed, restart OPA and refresh readiness. Export interrupted evidence first. Do not reset protected ledger state to hide an uncertain payment result.</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67–85 min</a:t>
            </a:r>
          </a:p>
          <a:p>
            <a:r>
              <a:t>The lab demonstrates a constrained token-exchange pattern. Show sanitized claims rather than bearer credentials. Managed identity, key rotation and broader protocol conformance remain production work.</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67–85 min</a:t>
            </a:r>
          </a:p>
          <a:p>
            <a:r>
              <a:t>The full edit path is workshops/w4/checkpoints/initial/identity.json. Change only requested_scope. The CLI writes sanitized timestamped evidence under workshops/w4/evidence. It mints lab credentials locally and does not load .env automatically: export matching JWT settings if the stack overrides defaults, using the answer-key instructions.</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67–85 min</a:t>
            </a:r>
          </a:p>
          <a:p>
            <a:r>
              <a:t>Have each pair explain one denied and one permitted identity request. View selection cannot grant authority. A successful token exchange does not by itself prove a subsequent payment is authorized.</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85–103 min</a:t>
            </a:r>
          </a:p>
          <a:p>
            <a:r>
              <a:t>Proposals expire after ten minutes. Read the actual proposal and task identifiers. Independent review should approve exact server-owned arguments; changed arguments must fail. W4's password-backed lab reviewer flow is not a claim of production IAM.</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85–103 min</a:t>
            </a:r>
          </a:p>
          <a:p>
            <a:r>
              <a:t>The facilitator configures and privately provides the reviewer password to the cofacilitator. The requester cannot approve its own proposal even with a reviewer cookie in its browser. Never paste the password into slides or evidence. Inspect the current proposal immediately before approval.</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85–103 min</a:t>
            </a:r>
          </a:p>
          <a:p>
            <a:r>
              <a:t>The console approval path executes the server-owned exact arguments, tests tampering and retry, and binds the payment to the task. Use the actual evidence order shown by the run; these rows describe the controls, not a manual command sequence.</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85–103 min</a:t>
            </a:r>
          </a:p>
          <a:p>
            <a:r>
              <a:t>Use Reconcile uncertain result after a lost response or process restart. Proposal status and keyed payments determine the result. Never invent a fresh run or financial key to retry an uncertain payment. If the API cannot be read, keep the result unresolved.</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103–119 min</a:t>
            </a:r>
          </a:p>
          <a:p>
            <a:r>
              <a:t>The repository implements selected A2A controls; this is not a demonstration of complete A2A protocol conformance. Have pairs identify which principal may perform each operation before running the scenarios.</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103–119 min</a:t>
            </a:r>
          </a:p>
          <a:p>
            <a:r>
              <a:t>Only task owner/designated executor can access the relevant task. Binding checks source, amount, currency, destination and optional proposal. Explain which principal made each tested request using sanitized evidence.</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103–119 min</a:t>
            </a:r>
          </a:p>
          <a:p>
            <a:r>
              <a:t>Inspect task, proposal and payment records side by side. The final legitimate path is delegate → propose → independently approve → execute exact arguments → bind the actual payment to the task.</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119–130 min</a:t>
            </a:r>
          </a:p>
          <a:p>
            <a:r>
              <a:t>Run the attack suite and legitimate path on prepared state, or inspect the collected chapter evidence if time is short. The table lists expected outcomes, not fresh measurements. Do not conflate the separate ₹250 policy exercise with the ₹1,500 delegation payment.</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119–130 min</a:t>
            </a:r>
          </a:p>
          <a:p>
            <a:r>
              <a:t>Evidence sheet: workshops/w4/incident-evidence.md. Save sanitized caller, audience/scopes, arguments and boundary responses as well as business IDs. Null ledger observations are unresolved, not zero. A generated trace ID alone is not collector evidence. Aggregate deltas need an isolated run without concurrent external mutations.</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130–135 min</a:t>
            </a:r>
          </a:p>
          <a:p>
            <a:r>
              <a:t>Revisit initial votes. Identify work for key rotation, distributed budget state, availability, audit retention, trace completeness and protocol conformance. Technical rehearsal evidence does not establish a completed 135-minute human delivery rehearsal or production readiness.</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130–135 min</a:t>
            </a:r>
          </a:p>
          <a:p>
            <a:r>
              <a:t>Close the four-workshop arc. Ask participants to name one control they would add to an existing agent integration and the evidence they would require to show it works.</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Reference / outside timed delivery</a:t>
            </a:r>
          </a:p>
          <a:p>
            <a:r>
              <a:t>Do setup outside the timed workshop. See workshops/w4/answer-key.md for W4_REVIEWER_PASSWORD, W4_ENABLE_VULNERABLE, W4_SANDBOX_KEY, observation-only hosting and presenter sandbox startup. Do not put actual values in this deck. Technical runner: .venv/bin/python workshops/w4/rehearsal_w4.py --vulnerable --outage, only on the appropriately prepared stack. It creates fictional records and does not reset data. Human timing record: workshops/w4/delivery-rehearsal.md. Downloads/builds and profile switching happen before attendees arrive.</a:t>
            </a:r>
          </a:p>
          <a:p/>
          <a:p>
            <a:r>
              <a:t>SOURCE FILES (repository root):</a:t>
            </a:r>
          </a:p>
          <a:p>
            <a:r>
              <a:t>docs/workshops/workshop-4-story.md</a:t>
            </a:r>
          </a:p>
          <a:p>
            <a:r>
              <a:t>workshops/w4/worksheet.md</a:t>
            </a:r>
          </a:p>
          <a:p>
            <a:r>
              <a:t>workshops/w4/answer-key.md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FF99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FF9982"/>
                </a:solidFill>
                <a:latin typeface="DejaVu Sans"/>
              </a:defRPr>
            </a:pPr>
            <a:r>
              <a:t>WORKSHOP 4  /  0–8 MIN</a:t>
            </a:r>
          </a:p>
        </p:txBody>
      </p:sp>
      <p:sp>
        <p:nvSpPr>
          <p:cNvPr id="5" name="Rounded Rectangle 4"/>
          <p:cNvSpPr/>
          <p:nvPr/>
        </p:nvSpPr>
        <p:spPr>
          <a:xfrm>
            <a:off x="9664700" y="1079500"/>
            <a:ext cx="1981200" cy="4013200"/>
          </a:xfrm>
          <a:prstGeom prst="roundRect">
            <a:avLst>
              <a:gd name="adj" fmla="val 6000"/>
            </a:avLst>
          </a:prstGeom>
          <a:solidFill>
            <a:srgbClr val="193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31400" y="1498600"/>
            <a:ext cx="1600200" cy="1778000"/>
          </a:xfrm>
          <a:prstGeom prst="rect">
            <a:avLst/>
          </a:prstGeom>
          <a:noFill/>
        </p:spPr>
        <p:txBody>
          <a:bodyPr wrap="none" lIns="0" rIns="0" tIns="0" bIns="0" anchor="t">
            <a:spAutoFit/>
          </a:bodyPr>
          <a:lstStyle/>
          <a:p>
            <a:pPr>
              <a:lnSpc>
                <a:spcPts val="10250"/>
              </a:lnSpc>
              <a:spcBef>
                <a:spcPts val="0"/>
              </a:spcBef>
              <a:spcAft>
                <a:spcPts val="0"/>
              </a:spcAft>
              <a:defRPr sz="8200" b="1">
                <a:solidFill>
                  <a:srgbClr val="FF9982"/>
                </a:solidFill>
                <a:latin typeface="DejaVu Sans"/>
              </a:defRPr>
            </a:pPr>
            <a:r>
              <a:t>04</a:t>
            </a:r>
          </a:p>
        </p:txBody>
      </p:sp>
      <p:sp>
        <p:nvSpPr>
          <p:cNvPr id="7" name="TextBox 6"/>
          <p:cNvSpPr txBox="1"/>
          <p:nvPr/>
        </p:nvSpPr>
        <p:spPr>
          <a:xfrm>
            <a:off x="9931400" y="3505200"/>
            <a:ext cx="1562100" cy="1270000"/>
          </a:xfrm>
          <a:prstGeom prst="rect">
            <a:avLst/>
          </a:prstGeom>
          <a:noFill/>
        </p:spPr>
        <p:txBody>
          <a:bodyPr wrap="none" lIns="0" rIns="0" tIns="0" bIns="0" anchor="t">
            <a:spAutoFit/>
          </a:bodyPr>
          <a:lstStyle/>
          <a:p>
            <a:pPr>
              <a:lnSpc>
                <a:spcPts val="3125"/>
              </a:lnSpc>
              <a:spcBef>
                <a:spcPts val="0"/>
              </a:spcBef>
              <a:spcAft>
                <a:spcPts val="0"/>
              </a:spcAft>
              <a:defRPr sz="2500" b="0">
                <a:solidFill>
                  <a:srgbClr val="FFFFFF"/>
                </a:solidFill>
                <a:latin typeface="DejaVu Sans"/>
              </a:defRPr>
            </a:pPr>
            <a:r>
              <a:t>135</a:t>
            </a:r>
          </a:p>
          <a:p>
            <a:pPr>
              <a:lnSpc>
                <a:spcPts val="3125"/>
              </a:lnSpc>
              <a:spcBef>
                <a:spcPts val="0"/>
              </a:spcBef>
              <a:spcAft>
                <a:spcPts val="0"/>
              </a:spcAft>
              <a:defRPr sz="2500" b="0">
                <a:solidFill>
                  <a:srgbClr val="FFFFFF"/>
                </a:solidFill>
                <a:latin typeface="DejaVu Sans"/>
              </a:defRPr>
            </a:pPr>
            <a:r>
              <a:t>MINUTES</a:t>
            </a:r>
          </a:p>
        </p:txBody>
      </p:sp>
      <p:sp>
        <p:nvSpPr>
          <p:cNvPr id="8" name="TextBox 7"/>
          <p:cNvSpPr txBox="1"/>
          <p:nvPr/>
        </p:nvSpPr>
        <p:spPr>
          <a:xfrm>
            <a:off x="533400" y="1371600"/>
            <a:ext cx="8661400" cy="2565400"/>
          </a:xfrm>
          <a:prstGeom prst="rect">
            <a:avLst/>
          </a:prstGeom>
          <a:noFill/>
        </p:spPr>
        <p:txBody>
          <a:bodyPr wrap="none" lIns="0" rIns="0" tIns="0" bIns="0" anchor="t">
            <a:spAutoFit/>
          </a:bodyPr>
          <a:lstStyle/>
          <a:p>
            <a:pPr>
              <a:lnSpc>
                <a:spcPts val="5290"/>
              </a:lnSpc>
              <a:spcBef>
                <a:spcPts val="0"/>
              </a:spcBef>
              <a:spcAft>
                <a:spcPts val="0"/>
              </a:spcAft>
              <a:defRPr sz="4600" b="1">
                <a:solidFill>
                  <a:srgbClr val="FFFFFF"/>
                </a:solidFill>
                <a:latin typeface="DejaVu Sans"/>
              </a:defRPr>
            </a:pPr>
            <a:r>
              <a:t>The day the agent broke</a:t>
            </a:r>
          </a:p>
          <a:p>
            <a:pPr>
              <a:lnSpc>
                <a:spcPts val="5290"/>
              </a:lnSpc>
              <a:spcBef>
                <a:spcPts val="0"/>
              </a:spcBef>
              <a:spcAft>
                <a:spcPts val="0"/>
              </a:spcAft>
              <a:defRPr sz="4600" b="1">
                <a:solidFill>
                  <a:srgbClr val="FFFFFF"/>
                </a:solidFill>
                <a:latin typeface="DejaVu Sans"/>
              </a:defRPr>
            </a:pPr>
            <a:r>
              <a:t>the bank</a:t>
            </a:r>
          </a:p>
        </p:txBody>
      </p:sp>
      <p:sp>
        <p:nvSpPr>
          <p:cNvPr id="9" name="TextBox 8"/>
          <p:cNvSpPr txBox="1"/>
          <p:nvPr/>
        </p:nvSpPr>
        <p:spPr>
          <a:xfrm>
            <a:off x="558800" y="4152900"/>
            <a:ext cx="8382000" cy="1295400"/>
          </a:xfrm>
          <a:prstGeom prst="rect">
            <a:avLst/>
          </a:prstGeom>
          <a:noFill/>
        </p:spPr>
        <p:txBody>
          <a:bodyPr wrap="none" lIns="0" rIns="0" tIns="0" bIns="0" anchor="t">
            <a:spAutoFit/>
          </a:bodyPr>
          <a:lstStyle/>
          <a:p>
            <a:pPr>
              <a:lnSpc>
                <a:spcPts val="2750"/>
              </a:lnSpc>
              <a:spcBef>
                <a:spcPts val="0"/>
              </a:spcBef>
              <a:spcAft>
                <a:spcPts val="0"/>
              </a:spcAft>
              <a:defRPr sz="2200" b="0">
                <a:solidFill>
                  <a:srgbClr val="C1D5D8"/>
                </a:solidFill>
                <a:latin typeface="DejaVu Sans"/>
              </a:defRPr>
            </a:pPr>
            <a:r>
              <a:t>Implementing Triple-Gate Architecture &amp; A2A Security for</a:t>
            </a:r>
          </a:p>
          <a:p>
            <a:pPr>
              <a:lnSpc>
                <a:spcPts val="2750"/>
              </a:lnSpc>
              <a:spcBef>
                <a:spcPts val="0"/>
              </a:spcBef>
              <a:spcAft>
                <a:spcPts val="0"/>
              </a:spcAft>
              <a:defRPr sz="2200" b="0">
                <a:solidFill>
                  <a:srgbClr val="C1D5D8"/>
                </a:solidFill>
                <a:latin typeface="DejaVu Sans"/>
              </a:defRPr>
            </a:pPr>
            <a:r>
              <a:t>Autonomous AI Workloads</a:t>
            </a:r>
          </a:p>
        </p:txBody>
      </p:sp>
      <p:sp>
        <p:nvSpPr>
          <p:cNvPr id="10" name="TextBox 9"/>
          <p:cNvSpPr txBox="1"/>
          <p:nvPr/>
        </p:nvSpPr>
        <p:spPr>
          <a:xfrm>
            <a:off x="558800" y="5829300"/>
            <a:ext cx="10960100" cy="571500"/>
          </a:xfrm>
          <a:prstGeom prst="rect">
            <a:avLst/>
          </a:prstGeom>
          <a:noFill/>
        </p:spPr>
        <p:txBody>
          <a:bodyPr wrap="none" lIns="0" rIns="0" tIns="0" bIns="0" anchor="t">
            <a:spAutoFit/>
          </a:bodyPr>
          <a:lstStyle/>
          <a:p>
            <a:pPr>
              <a:lnSpc>
                <a:spcPts val="2125"/>
              </a:lnSpc>
              <a:spcBef>
                <a:spcPts val="0"/>
              </a:spcBef>
              <a:spcAft>
                <a:spcPts val="0"/>
              </a:spcAft>
              <a:defRPr sz="1700" b="1">
                <a:solidFill>
                  <a:srgbClr val="FF9982"/>
                </a:solidFill>
                <a:latin typeface="DejaVu Sans"/>
              </a:defRPr>
            </a:pPr>
            <a:r>
              <a:t>135 minutes / Become Flo Bank’s response team</a:t>
            </a:r>
          </a:p>
        </p:txBody>
      </p:sp>
      <p:sp>
        <p:nvSpPr>
          <p:cNvPr id="11" name="TextBox 10"/>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AAC0C6"/>
                </a:solidFill>
                <a:latin typeface="DejaVu Sans"/>
              </a:defRPr>
            </a:pPr>
            <a:r>
              <a:t>FLO BANK  /  WORKSHOP 4  /  FICTIONAL LAB</a:t>
            </a:r>
          </a:p>
        </p:txBody>
      </p:sp>
      <p:sp>
        <p:nvSpPr>
          <p:cNvPr id="12" name="TextBox 11"/>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AAC0C6"/>
                </a:solidFill>
                <a:latin typeface="DejaVu Sans"/>
              </a:defRPr>
            </a:pPr>
            <a:r>
              <a:t>01 / 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FF99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FF9982"/>
                </a:solidFill>
                <a:latin typeface="DejaVu Sans"/>
              </a:defRPr>
            </a:pPr>
            <a:r>
              <a:t>WORKSHOP 4  /  0–8 MIN</a:t>
            </a:r>
          </a:p>
        </p:txBody>
      </p:sp>
      <p:sp>
        <p:nvSpPr>
          <p:cNvPr id="5" name="TextBox 4"/>
          <p:cNvSpPr txBox="1"/>
          <p:nvPr/>
        </p:nvSpPr>
        <p:spPr>
          <a:xfrm>
            <a:off x="533400" y="1358900"/>
            <a:ext cx="11049000" cy="2260600"/>
          </a:xfrm>
          <a:prstGeom prst="rect">
            <a:avLst/>
          </a:prstGeom>
          <a:noFill/>
        </p:spPr>
        <p:txBody>
          <a:bodyPr wrap="none" lIns="0" rIns="0" tIns="0" bIns="0" anchor="t">
            <a:spAutoFit/>
          </a:bodyPr>
          <a:lstStyle/>
          <a:p>
            <a:pPr>
              <a:lnSpc>
                <a:spcPts val="5059"/>
              </a:lnSpc>
              <a:spcBef>
                <a:spcPts val="0"/>
              </a:spcBef>
              <a:spcAft>
                <a:spcPts val="0"/>
              </a:spcAft>
              <a:defRPr sz="4400" b="1">
                <a:solidFill>
                  <a:srgbClr val="FFFFFF"/>
                </a:solidFill>
                <a:latin typeface="DejaVu Sans"/>
              </a:defRPr>
            </a:pPr>
            <a:r>
              <a:t>₹90 lakh</a:t>
            </a:r>
          </a:p>
        </p:txBody>
      </p:sp>
      <p:sp>
        <p:nvSpPr>
          <p:cNvPr id="6" name="TextBox 5"/>
          <p:cNvSpPr txBox="1"/>
          <p:nvPr/>
        </p:nvSpPr>
        <p:spPr>
          <a:xfrm>
            <a:off x="558800" y="3810000"/>
            <a:ext cx="10807700" cy="1536700"/>
          </a:xfrm>
          <a:prstGeom prst="rect">
            <a:avLst/>
          </a:prstGeom>
          <a:noFill/>
        </p:spPr>
        <p:txBody>
          <a:bodyPr wrap="none" lIns="0" rIns="0" tIns="0" bIns="0" anchor="t">
            <a:spAutoFit/>
          </a:bodyPr>
          <a:lstStyle/>
          <a:p>
            <a:pPr>
              <a:lnSpc>
                <a:spcPts val="3250"/>
              </a:lnSpc>
              <a:spcBef>
                <a:spcPts val="0"/>
              </a:spcBef>
              <a:spcAft>
                <a:spcPts val="0"/>
              </a:spcAft>
              <a:defRPr sz="2600" b="0">
                <a:solidFill>
                  <a:srgbClr val="C1D5D8"/>
                </a:solidFill>
                <a:latin typeface="DejaVu Sans"/>
              </a:defRPr>
            </a:pPr>
            <a:r>
              <a:t>900,000,000 paise. One payment. API 200. Valid credentials.</a:t>
            </a:r>
          </a:p>
        </p:txBody>
      </p:sp>
      <p:sp>
        <p:nvSpPr>
          <p:cNvPr id="7" name="TextBox 6"/>
          <p:cNvSpPr txBox="1"/>
          <p:nvPr/>
        </p:nvSpPr>
        <p:spPr>
          <a:xfrm>
            <a:off x="558800" y="5829300"/>
            <a:ext cx="10960100" cy="571500"/>
          </a:xfrm>
          <a:prstGeom prst="rect">
            <a:avLst/>
          </a:prstGeom>
          <a:noFill/>
        </p:spPr>
        <p:txBody>
          <a:bodyPr wrap="none" lIns="0" rIns="0" tIns="0" bIns="0" anchor="t">
            <a:spAutoFit/>
          </a:bodyPr>
          <a:lstStyle/>
          <a:p>
            <a:pPr>
              <a:lnSpc>
                <a:spcPts val="2125"/>
              </a:lnSpc>
              <a:spcBef>
                <a:spcPts val="0"/>
              </a:spcBef>
              <a:spcAft>
                <a:spcPts val="0"/>
              </a:spcAft>
              <a:defRPr sz="1700" b="1">
                <a:solidFill>
                  <a:srgbClr val="FF9982"/>
                </a:solidFill>
                <a:latin typeface="DejaVu Sans"/>
              </a:defRPr>
            </a:pPr>
            <a:r>
              <a:t>Opening incident: isolated vulnerable ledger; protected-ledger delta stays zero.</a:t>
            </a:r>
          </a:p>
        </p:txBody>
      </p:sp>
      <p:sp>
        <p:nvSpPr>
          <p:cNvPr id="8" name="TextBox 7"/>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AAC0C6"/>
                </a:solidFill>
                <a:latin typeface="DejaVu Sans"/>
              </a:defRPr>
            </a:pPr>
            <a:r>
              <a:t>FLO BANK  /  WORKSHOP 4  /  FICTIONAL LAB</a:t>
            </a:r>
          </a:p>
        </p:txBody>
      </p:sp>
      <p:sp>
        <p:nvSpPr>
          <p:cNvPr id="9" name="TextBox 8"/>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AAC0C6"/>
                </a:solidFill>
                <a:latin typeface="DejaVu Sans"/>
              </a:defRPr>
            </a:pPr>
            <a:r>
              <a:t>02 / 29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0–8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Your assignment: repair and prove the bank still</a:t>
            </a:r>
          </a:p>
          <a:p>
            <a:pPr>
              <a:lnSpc>
                <a:spcPts val="3419"/>
              </a:lnSpc>
              <a:spcBef>
                <a:spcPts val="0"/>
              </a:spcBef>
              <a:spcAft>
                <a:spcPts val="0"/>
              </a:spcAft>
              <a:defRPr sz="3000" b="1">
                <a:solidFill>
                  <a:srgbClr val="163640"/>
                </a:solidFill>
                <a:latin typeface="DejaVu Sans"/>
              </a:defRPr>
            </a:pPr>
            <a:r>
              <a:t>works</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INVESTIGATE</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Find where untrusted</a:t>
            </a:r>
          </a:p>
          <a:p>
            <a:pPr>
              <a:lnSpc>
                <a:spcPts val="2625"/>
              </a:lnSpc>
              <a:spcBef>
                <a:spcPts val="0"/>
              </a:spcBef>
              <a:spcAft>
                <a:spcPts val="0"/>
              </a:spcAft>
              <a:defRPr sz="2100" b="0">
                <a:solidFill>
                  <a:srgbClr val="163640"/>
                </a:solidFill>
                <a:latin typeface="DejaVu Sans"/>
              </a:defRPr>
            </a:pPr>
            <a:r>
              <a:t>case text became</a:t>
            </a:r>
          </a:p>
          <a:p>
            <a:pPr>
              <a:lnSpc>
                <a:spcPts val="2625"/>
              </a:lnSpc>
              <a:spcBef>
                <a:spcPts val="0"/>
              </a:spcBef>
              <a:spcAft>
                <a:spcPts val="0"/>
              </a:spcAft>
              <a:defRPr sz="2100" b="0">
                <a:solidFill>
                  <a:srgbClr val="163640"/>
                </a:solidFill>
                <a:latin typeface="DejaVu Sans"/>
              </a:defRPr>
            </a:pPr>
            <a:r>
              <a:t>payment authority.</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CONTAIN</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Test inference, tool,</a:t>
            </a:r>
          </a:p>
          <a:p>
            <a:pPr>
              <a:lnSpc>
                <a:spcPts val="2625"/>
              </a:lnSpc>
              <a:spcBef>
                <a:spcPts val="0"/>
              </a:spcBef>
              <a:spcAft>
                <a:spcPts val="0"/>
              </a:spcAft>
              <a:defRPr sz="2100" b="0">
                <a:solidFill>
                  <a:srgbClr val="163640"/>
                </a:solidFill>
                <a:latin typeface="DejaVu Sans"/>
              </a:defRPr>
            </a:pPr>
            <a:r>
              <a:t>identity, approval and</a:t>
            </a:r>
          </a:p>
          <a:p>
            <a:pPr>
              <a:lnSpc>
                <a:spcPts val="2625"/>
              </a:lnSpc>
              <a:spcBef>
                <a:spcPts val="0"/>
              </a:spcBef>
              <a:spcAft>
                <a:spcPts val="0"/>
              </a:spcAft>
              <a:defRPr sz="2100" b="0">
                <a:solidFill>
                  <a:srgbClr val="163640"/>
                </a:solidFill>
                <a:latin typeface="DejaVu Sans"/>
              </a:defRPr>
            </a:pPr>
            <a:r>
              <a:t>delegation</a:t>
            </a:r>
          </a:p>
          <a:p>
            <a:pPr>
              <a:lnSpc>
                <a:spcPts val="2625"/>
              </a:lnSpc>
              <a:spcBef>
                <a:spcPts val="0"/>
              </a:spcBef>
              <a:spcAft>
                <a:spcPts val="0"/>
              </a:spcAft>
              <a:defRPr sz="2100" b="0">
                <a:solidFill>
                  <a:srgbClr val="163640"/>
                </a:solidFill>
                <a:latin typeface="DejaVu Sans"/>
              </a:defRPr>
            </a:pPr>
            <a:r>
              <a:t>boundaries.</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RESTORE</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Block the attacks and</a:t>
            </a:r>
          </a:p>
          <a:p>
            <a:pPr>
              <a:lnSpc>
                <a:spcPts val="2625"/>
              </a:lnSpc>
              <a:spcBef>
                <a:spcPts val="0"/>
              </a:spcBef>
              <a:spcAft>
                <a:spcPts val="0"/>
              </a:spcAft>
              <a:defRPr sz="2100" b="0">
                <a:solidFill>
                  <a:srgbClr val="163640"/>
                </a:solidFill>
                <a:latin typeface="DejaVu Sans"/>
              </a:defRPr>
            </a:pPr>
            <a:r>
              <a:t>prove one legitimate,</a:t>
            </a:r>
          </a:p>
          <a:p>
            <a:pPr>
              <a:lnSpc>
                <a:spcPts val="2625"/>
              </a:lnSpc>
              <a:spcBef>
                <a:spcPts val="0"/>
              </a:spcBef>
              <a:spcAft>
                <a:spcPts val="0"/>
              </a:spcAft>
              <a:defRPr sz="2100" b="0">
                <a:solidFill>
                  <a:srgbClr val="163640"/>
                </a:solidFill>
                <a:latin typeface="DejaVu Sans"/>
              </a:defRPr>
            </a:pPr>
            <a:r>
              <a:t>independently</a:t>
            </a:r>
          </a:p>
          <a:p>
            <a:pPr>
              <a:lnSpc>
                <a:spcPts val="2625"/>
              </a:lnSpc>
              <a:spcBef>
                <a:spcPts val="0"/>
              </a:spcBef>
              <a:spcAft>
                <a:spcPts val="0"/>
              </a:spcAft>
              <a:defRPr sz="2100" b="0">
                <a:solidFill>
                  <a:srgbClr val="163640"/>
                </a:solidFill>
                <a:latin typeface="DejaVu Sans"/>
              </a:defRPr>
            </a:pPr>
            <a:r>
              <a:t>approved settlement.</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Every chapter: predict → run → inspect → change → retest.</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03 / 29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0–8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The incident-response clock / first half</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1030223"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Time</a:t>
            </a:r>
          </a:p>
        </p:txBody>
      </p:sp>
      <p:sp>
        <p:nvSpPr>
          <p:cNvPr id="8" name="TextBox 7"/>
          <p:cNvSpPr txBox="1"/>
          <p:nvPr/>
        </p:nvSpPr>
        <p:spPr>
          <a:xfrm>
            <a:off x="2020824" y="2273300"/>
            <a:ext cx="459028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Chapter</a:t>
            </a:r>
          </a:p>
        </p:txBody>
      </p:sp>
      <p:sp>
        <p:nvSpPr>
          <p:cNvPr id="9" name="TextBox 8"/>
          <p:cNvSpPr txBox="1"/>
          <p:nvPr/>
        </p:nvSpPr>
        <p:spPr>
          <a:xfrm>
            <a:off x="6915911" y="2273300"/>
            <a:ext cx="459028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Pair evidence</a:t>
            </a:r>
          </a:p>
        </p:txBody>
      </p:sp>
      <p:sp>
        <p:nvSpPr>
          <p:cNvPr id="10" name="Rectangle 9"/>
          <p:cNvSpPr/>
          <p:nvPr/>
        </p:nvSpPr>
        <p:spPr>
          <a:xfrm>
            <a:off x="533400" y="2654300"/>
            <a:ext cx="11125200" cy="4974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0–8</a:t>
            </a:r>
          </a:p>
        </p:txBody>
      </p:sp>
      <p:sp>
        <p:nvSpPr>
          <p:cNvPr id="12" name="TextBox 11"/>
          <p:cNvSpPr txBox="1"/>
          <p:nvPr/>
        </p:nvSpPr>
        <p:spPr>
          <a:xfrm>
            <a:off x="2020824" y="2743200"/>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The bank has paid</a:t>
            </a:r>
          </a:p>
        </p:txBody>
      </p:sp>
      <p:sp>
        <p:nvSpPr>
          <p:cNvPr id="13" name="TextBox 12"/>
          <p:cNvSpPr txBox="1"/>
          <p:nvPr/>
        </p:nvSpPr>
        <p:spPr>
          <a:xfrm>
            <a:off x="6915911" y="2743200"/>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Opening prediction</a:t>
            </a:r>
          </a:p>
        </p:txBody>
      </p:sp>
      <p:sp>
        <p:nvSpPr>
          <p:cNvPr id="14" name="Rectangle 13"/>
          <p:cNvSpPr/>
          <p:nvPr/>
        </p:nvSpPr>
        <p:spPr>
          <a:xfrm>
            <a:off x="533400" y="3151716"/>
            <a:ext cx="11125200" cy="497416"/>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240616"/>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8–20</a:t>
            </a:r>
          </a:p>
        </p:txBody>
      </p:sp>
      <p:sp>
        <p:nvSpPr>
          <p:cNvPr id="16" name="TextBox 15"/>
          <p:cNvSpPr txBox="1"/>
          <p:nvPr/>
        </p:nvSpPr>
        <p:spPr>
          <a:xfrm>
            <a:off x="2020824" y="3240616"/>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Follow the money</a:t>
            </a:r>
          </a:p>
        </p:txBody>
      </p:sp>
      <p:sp>
        <p:nvSpPr>
          <p:cNvPr id="17" name="TextBox 16"/>
          <p:cNvSpPr txBox="1"/>
          <p:nvPr/>
        </p:nvSpPr>
        <p:spPr>
          <a:xfrm>
            <a:off x="6915911" y="3240616"/>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Attack chain + both ledgers</a:t>
            </a:r>
          </a:p>
        </p:txBody>
      </p:sp>
      <p:sp>
        <p:nvSpPr>
          <p:cNvPr id="18" name="Rectangle 17"/>
          <p:cNvSpPr/>
          <p:nvPr/>
        </p:nvSpPr>
        <p:spPr>
          <a:xfrm>
            <a:off x="533400" y="3649133"/>
            <a:ext cx="11125200" cy="4974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738033"/>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20–33</a:t>
            </a:r>
          </a:p>
        </p:txBody>
      </p:sp>
      <p:sp>
        <p:nvSpPr>
          <p:cNvPr id="20" name="TextBox 19"/>
          <p:cNvSpPr txBox="1"/>
          <p:nvPr/>
        </p:nvSpPr>
        <p:spPr>
          <a:xfrm>
            <a:off x="2020824" y="3738033"/>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Contain inference</a:t>
            </a:r>
          </a:p>
        </p:txBody>
      </p:sp>
      <p:sp>
        <p:nvSpPr>
          <p:cNvPr id="21" name="TextBox 20"/>
          <p:cNvSpPr txBox="1"/>
          <p:nvPr/>
        </p:nvSpPr>
        <p:spPr>
          <a:xfrm>
            <a:off x="6915911" y="3738033"/>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Budget denial vs tool policy</a:t>
            </a:r>
          </a:p>
        </p:txBody>
      </p:sp>
      <p:sp>
        <p:nvSpPr>
          <p:cNvPr id="22" name="Rectangle 21"/>
          <p:cNvSpPr/>
          <p:nvPr/>
        </p:nvSpPr>
        <p:spPr>
          <a:xfrm>
            <a:off x="533400" y="4146550"/>
            <a:ext cx="11125200" cy="497416"/>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35450"/>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33–53</a:t>
            </a:r>
          </a:p>
        </p:txBody>
      </p:sp>
      <p:sp>
        <p:nvSpPr>
          <p:cNvPr id="24" name="TextBox 23"/>
          <p:cNvSpPr txBox="1"/>
          <p:nvPr/>
        </p:nvSpPr>
        <p:spPr>
          <a:xfrm>
            <a:off x="2020824" y="4235450"/>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Control capabilities</a:t>
            </a:r>
          </a:p>
        </p:txBody>
      </p:sp>
      <p:sp>
        <p:nvSpPr>
          <p:cNvPr id="25" name="TextBox 24"/>
          <p:cNvSpPr txBox="1"/>
          <p:nvPr/>
        </p:nvSpPr>
        <p:spPr>
          <a:xfrm>
            <a:off x="6915911" y="4235450"/>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Policy repair + ₹250 payment</a:t>
            </a:r>
          </a:p>
        </p:txBody>
      </p:sp>
      <p:sp>
        <p:nvSpPr>
          <p:cNvPr id="26" name="Rectangle 25"/>
          <p:cNvSpPr/>
          <p:nvPr/>
        </p:nvSpPr>
        <p:spPr>
          <a:xfrm>
            <a:off x="533400" y="4643966"/>
            <a:ext cx="11125200" cy="4974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732866"/>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53–60</a:t>
            </a:r>
          </a:p>
        </p:txBody>
      </p:sp>
      <p:sp>
        <p:nvSpPr>
          <p:cNvPr id="28" name="TextBox 27"/>
          <p:cNvSpPr txBox="1"/>
          <p:nvPr/>
        </p:nvSpPr>
        <p:spPr>
          <a:xfrm>
            <a:off x="2020824" y="4732866"/>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Try the direct API</a:t>
            </a:r>
          </a:p>
        </p:txBody>
      </p:sp>
      <p:sp>
        <p:nvSpPr>
          <p:cNvPr id="29" name="TextBox 28"/>
          <p:cNvSpPr txBox="1"/>
          <p:nvPr/>
        </p:nvSpPr>
        <p:spPr>
          <a:xfrm>
            <a:off x="6915911" y="4732866"/>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Audience / scope denials</a:t>
            </a:r>
          </a:p>
        </p:txBody>
      </p:sp>
      <p:sp>
        <p:nvSpPr>
          <p:cNvPr id="30" name="Rectangle 29"/>
          <p:cNvSpPr/>
          <p:nvPr/>
        </p:nvSpPr>
        <p:spPr>
          <a:xfrm>
            <a:off x="533400" y="5141383"/>
            <a:ext cx="11125200" cy="497416"/>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230283"/>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60–67</a:t>
            </a:r>
          </a:p>
        </p:txBody>
      </p:sp>
      <p:sp>
        <p:nvSpPr>
          <p:cNvPr id="32" name="TextBox 31"/>
          <p:cNvSpPr txBox="1"/>
          <p:nvPr/>
        </p:nvSpPr>
        <p:spPr>
          <a:xfrm>
            <a:off x="2020824" y="5230283"/>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Break + checkpoint recovery</a:t>
            </a:r>
          </a:p>
        </p:txBody>
      </p:sp>
      <p:sp>
        <p:nvSpPr>
          <p:cNvPr id="33" name="TextBox 32"/>
          <p:cNvSpPr txBox="1"/>
          <p:nvPr/>
        </p:nvSpPr>
        <p:spPr>
          <a:xfrm>
            <a:off x="6915911" y="5230283"/>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Ready local lab</a:t>
            </a:r>
          </a:p>
        </p:txBody>
      </p:sp>
      <p:sp>
        <p:nvSpPr>
          <p:cNvPr id="34" name="Rounded Rectangle 33"/>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Follow the worksheet; record the actual evidence from your run.</a:t>
            </a:r>
          </a:p>
        </p:txBody>
      </p:sp>
      <p:sp>
        <p:nvSpPr>
          <p:cNvPr id="36" name="TextBox 35"/>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37" name="TextBox 36"/>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04 / 29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0–8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The incident-response clock / second half</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1030223"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Time</a:t>
            </a:r>
          </a:p>
        </p:txBody>
      </p:sp>
      <p:sp>
        <p:nvSpPr>
          <p:cNvPr id="8" name="TextBox 7"/>
          <p:cNvSpPr txBox="1"/>
          <p:nvPr/>
        </p:nvSpPr>
        <p:spPr>
          <a:xfrm>
            <a:off x="2020824" y="2273300"/>
            <a:ext cx="459028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Chapter</a:t>
            </a:r>
          </a:p>
        </p:txBody>
      </p:sp>
      <p:sp>
        <p:nvSpPr>
          <p:cNvPr id="9" name="TextBox 8"/>
          <p:cNvSpPr txBox="1"/>
          <p:nvPr/>
        </p:nvSpPr>
        <p:spPr>
          <a:xfrm>
            <a:off x="6915911" y="2273300"/>
            <a:ext cx="459028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Pair evidence</a:t>
            </a:r>
          </a:p>
        </p:txBody>
      </p:sp>
      <p:sp>
        <p:nvSpPr>
          <p:cNvPr id="10" name="Rectangle 9"/>
          <p:cNvSpPr/>
          <p:nvPr/>
        </p:nvSpPr>
        <p:spPr>
          <a:xfrm>
            <a:off x="533400" y="26543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1030223"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67–85</a:t>
            </a:r>
          </a:p>
        </p:txBody>
      </p:sp>
      <p:sp>
        <p:nvSpPr>
          <p:cNvPr id="12" name="TextBox 11"/>
          <p:cNvSpPr txBox="1"/>
          <p:nvPr/>
        </p:nvSpPr>
        <p:spPr>
          <a:xfrm>
            <a:off x="2020824" y="2743200"/>
            <a:ext cx="4590288"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Restrict identity</a:t>
            </a:r>
          </a:p>
        </p:txBody>
      </p:sp>
      <p:sp>
        <p:nvSpPr>
          <p:cNvPr id="13" name="TextBox 12"/>
          <p:cNvSpPr txBox="1"/>
          <p:nvPr/>
        </p:nvSpPr>
        <p:spPr>
          <a:xfrm>
            <a:off x="6915911" y="2743200"/>
            <a:ext cx="4590288"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Entitled token exchange</a:t>
            </a:r>
          </a:p>
        </p:txBody>
      </p:sp>
      <p:sp>
        <p:nvSpPr>
          <p:cNvPr id="14" name="Rectangle 13"/>
          <p:cNvSpPr/>
          <p:nvPr/>
        </p:nvSpPr>
        <p:spPr>
          <a:xfrm>
            <a:off x="533400" y="3251200"/>
            <a:ext cx="11125200" cy="596900"/>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40100"/>
            <a:ext cx="1030223"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85–103</a:t>
            </a:r>
          </a:p>
        </p:txBody>
      </p:sp>
      <p:sp>
        <p:nvSpPr>
          <p:cNvPr id="16" name="TextBox 15"/>
          <p:cNvSpPr txBox="1"/>
          <p:nvPr/>
        </p:nvSpPr>
        <p:spPr>
          <a:xfrm>
            <a:off x="2020824" y="3340100"/>
            <a:ext cx="4590288"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Approve the transaction</a:t>
            </a:r>
          </a:p>
        </p:txBody>
      </p:sp>
      <p:sp>
        <p:nvSpPr>
          <p:cNvPr id="17" name="TextBox 16"/>
          <p:cNvSpPr txBox="1"/>
          <p:nvPr/>
        </p:nvSpPr>
        <p:spPr>
          <a:xfrm>
            <a:off x="6915911" y="3340100"/>
            <a:ext cx="4590288"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Independent review + one effect</a:t>
            </a:r>
          </a:p>
        </p:txBody>
      </p:sp>
      <p:sp>
        <p:nvSpPr>
          <p:cNvPr id="18" name="Rectangle 17"/>
          <p:cNvSpPr/>
          <p:nvPr/>
        </p:nvSpPr>
        <p:spPr>
          <a:xfrm>
            <a:off x="533400" y="38481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937000"/>
            <a:ext cx="1030223"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103–119</a:t>
            </a:r>
          </a:p>
        </p:txBody>
      </p:sp>
      <p:sp>
        <p:nvSpPr>
          <p:cNvPr id="20" name="TextBox 19"/>
          <p:cNvSpPr txBox="1"/>
          <p:nvPr/>
        </p:nvSpPr>
        <p:spPr>
          <a:xfrm>
            <a:off x="2020824" y="3937000"/>
            <a:ext cx="4590288"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Secure delegation</a:t>
            </a:r>
          </a:p>
        </p:txBody>
      </p:sp>
      <p:sp>
        <p:nvSpPr>
          <p:cNvPr id="21" name="TextBox 20"/>
          <p:cNvSpPr txBox="1"/>
          <p:nvPr/>
        </p:nvSpPr>
        <p:spPr>
          <a:xfrm>
            <a:off x="6915911" y="3937000"/>
            <a:ext cx="4590288"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Task access + payment binding</a:t>
            </a:r>
          </a:p>
        </p:txBody>
      </p:sp>
      <p:sp>
        <p:nvSpPr>
          <p:cNvPr id="22" name="Rectangle 21"/>
          <p:cNvSpPr/>
          <p:nvPr/>
        </p:nvSpPr>
        <p:spPr>
          <a:xfrm>
            <a:off x="533400" y="4445000"/>
            <a:ext cx="11125200" cy="596900"/>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533900"/>
            <a:ext cx="1030223"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119–130</a:t>
            </a:r>
          </a:p>
        </p:txBody>
      </p:sp>
      <p:sp>
        <p:nvSpPr>
          <p:cNvPr id="24" name="TextBox 23"/>
          <p:cNvSpPr txBox="1"/>
          <p:nvPr/>
        </p:nvSpPr>
        <p:spPr>
          <a:xfrm>
            <a:off x="2020824" y="4533900"/>
            <a:ext cx="4590288"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Prove the repair</a:t>
            </a:r>
          </a:p>
        </p:txBody>
      </p:sp>
      <p:sp>
        <p:nvSpPr>
          <p:cNvPr id="25" name="TextBox 24"/>
          <p:cNvSpPr txBox="1"/>
          <p:nvPr/>
        </p:nvSpPr>
        <p:spPr>
          <a:xfrm>
            <a:off x="6915911" y="4533900"/>
            <a:ext cx="4590288"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Blocked attacks + valid payment</a:t>
            </a:r>
          </a:p>
        </p:txBody>
      </p:sp>
      <p:sp>
        <p:nvSpPr>
          <p:cNvPr id="26" name="Rectangle 25"/>
          <p:cNvSpPr/>
          <p:nvPr/>
        </p:nvSpPr>
        <p:spPr>
          <a:xfrm>
            <a:off x="533400" y="50419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30800"/>
            <a:ext cx="1030223"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130–135</a:t>
            </a:r>
          </a:p>
        </p:txBody>
      </p:sp>
      <p:sp>
        <p:nvSpPr>
          <p:cNvPr id="28" name="TextBox 27"/>
          <p:cNvSpPr txBox="1"/>
          <p:nvPr/>
        </p:nvSpPr>
        <p:spPr>
          <a:xfrm>
            <a:off x="2020824" y="5130800"/>
            <a:ext cx="4590288"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Incident review</a:t>
            </a:r>
          </a:p>
        </p:txBody>
      </p:sp>
      <p:sp>
        <p:nvSpPr>
          <p:cNvPr id="29" name="TextBox 28"/>
          <p:cNvSpPr txBox="1"/>
          <p:nvPr/>
        </p:nvSpPr>
        <p:spPr>
          <a:xfrm>
            <a:off x="6915911" y="5130800"/>
            <a:ext cx="4590288"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Control owners + next work</a:t>
            </a:r>
          </a:p>
        </p:txBody>
      </p:sp>
      <p:sp>
        <p:nvSpPr>
          <p:cNvPr id="30" name="Rounded Rectangle 29"/>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Follow the worksheet; record the actual evidence from your run.</a:t>
            </a:r>
          </a:p>
        </p:txBody>
      </p:sp>
      <p:sp>
        <p:nvSpPr>
          <p:cNvPr id="32" name="TextBox 31"/>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33" name="TextBox 32"/>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05 / 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8–20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Follow the money across the handoff</a:t>
            </a:r>
          </a:p>
        </p:txBody>
      </p:sp>
      <p:sp>
        <p:nvSpPr>
          <p:cNvPr id="6" name="Rounded Rectangle 5"/>
          <p:cNvSpPr/>
          <p:nvPr/>
        </p:nvSpPr>
        <p:spPr>
          <a:xfrm>
            <a:off x="53340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390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01</a:t>
            </a:r>
          </a:p>
        </p:txBody>
      </p:sp>
      <p:sp>
        <p:nvSpPr>
          <p:cNvPr id="8" name="TextBox 7"/>
          <p:cNvSpPr txBox="1"/>
          <p:nvPr/>
        </p:nvSpPr>
        <p:spPr>
          <a:xfrm>
            <a:off x="72390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Ticket</a:t>
            </a:r>
          </a:p>
        </p:txBody>
      </p:sp>
      <p:sp>
        <p:nvSpPr>
          <p:cNvPr id="9" name="TextBox 8"/>
          <p:cNvSpPr txBox="1"/>
          <p:nvPr/>
        </p:nvSpPr>
        <p:spPr>
          <a:xfrm>
            <a:off x="72390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Untrusted</a:t>
            </a:r>
          </a:p>
          <a:p>
            <a:pPr>
              <a:lnSpc>
                <a:spcPts val="2125"/>
              </a:lnSpc>
              <a:spcBef>
                <a:spcPts val="0"/>
              </a:spcBef>
              <a:spcAft>
                <a:spcPts val="0"/>
              </a:spcAft>
              <a:defRPr sz="1700" b="0">
                <a:solidFill>
                  <a:srgbClr val="163640"/>
                </a:solidFill>
                <a:latin typeface="DejaVu Sans"/>
              </a:defRPr>
            </a:pPr>
            <a:r>
              <a:t>instructions</a:t>
            </a:r>
          </a:p>
        </p:txBody>
      </p:sp>
      <p:sp>
        <p:nvSpPr>
          <p:cNvPr id="10" name="TextBox 9"/>
          <p:cNvSpPr txBox="1"/>
          <p:nvPr/>
        </p:nvSpPr>
        <p:spPr>
          <a:xfrm>
            <a:off x="314325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1" name="Rounded Rectangle 10"/>
          <p:cNvSpPr/>
          <p:nvPr/>
        </p:nvSpPr>
        <p:spPr>
          <a:xfrm>
            <a:off x="338455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7505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02</a:t>
            </a:r>
          </a:p>
        </p:txBody>
      </p:sp>
      <p:sp>
        <p:nvSpPr>
          <p:cNvPr id="13" name="TextBox 12"/>
          <p:cNvSpPr txBox="1"/>
          <p:nvPr/>
        </p:nvSpPr>
        <p:spPr>
          <a:xfrm>
            <a:off x="357505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NegotiatorBot</a:t>
            </a:r>
          </a:p>
        </p:txBody>
      </p:sp>
      <p:sp>
        <p:nvSpPr>
          <p:cNvPr id="14" name="TextBox 13"/>
          <p:cNvSpPr txBox="1"/>
          <p:nvPr/>
        </p:nvSpPr>
        <p:spPr>
          <a:xfrm>
            <a:off x="357505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Recorded</a:t>
            </a:r>
          </a:p>
          <a:p>
            <a:pPr>
              <a:lnSpc>
                <a:spcPts val="2125"/>
              </a:lnSpc>
              <a:spcBef>
                <a:spcPts val="0"/>
              </a:spcBef>
              <a:spcAft>
                <a:spcPts val="0"/>
              </a:spcAft>
              <a:defRPr sz="1700" b="0">
                <a:solidFill>
                  <a:srgbClr val="163640"/>
                </a:solidFill>
                <a:latin typeface="DejaVu Sans"/>
              </a:defRPr>
            </a:pPr>
            <a:r>
              <a:t>settlement</a:t>
            </a:r>
          </a:p>
          <a:p>
            <a:pPr>
              <a:lnSpc>
                <a:spcPts val="2125"/>
              </a:lnSpc>
              <a:spcBef>
                <a:spcPts val="0"/>
              </a:spcBef>
              <a:spcAft>
                <a:spcPts val="0"/>
              </a:spcAft>
              <a:defRPr sz="1700" b="0">
                <a:solidFill>
                  <a:srgbClr val="163640"/>
                </a:solidFill>
                <a:latin typeface="DejaVu Sans"/>
              </a:defRPr>
            </a:pPr>
            <a:r>
              <a:t>proposal</a:t>
            </a:r>
          </a:p>
        </p:txBody>
      </p:sp>
      <p:sp>
        <p:nvSpPr>
          <p:cNvPr id="15" name="TextBox 14"/>
          <p:cNvSpPr txBox="1"/>
          <p:nvPr/>
        </p:nvSpPr>
        <p:spPr>
          <a:xfrm>
            <a:off x="599440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6" name="Rounded Rectangle 15"/>
          <p:cNvSpPr/>
          <p:nvPr/>
        </p:nvSpPr>
        <p:spPr>
          <a:xfrm>
            <a:off x="623570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620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03</a:t>
            </a:r>
          </a:p>
        </p:txBody>
      </p:sp>
      <p:sp>
        <p:nvSpPr>
          <p:cNvPr id="18" name="TextBox 17"/>
          <p:cNvSpPr txBox="1"/>
          <p:nvPr/>
        </p:nvSpPr>
        <p:spPr>
          <a:xfrm>
            <a:off x="642620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PaymentsAgent</a:t>
            </a:r>
          </a:p>
        </p:txBody>
      </p:sp>
      <p:sp>
        <p:nvSpPr>
          <p:cNvPr id="19" name="TextBox 18"/>
          <p:cNvSpPr txBox="1"/>
          <p:nvPr/>
        </p:nvSpPr>
        <p:spPr>
          <a:xfrm>
            <a:off x="642620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Delegated</a:t>
            </a:r>
          </a:p>
          <a:p>
            <a:pPr>
              <a:lnSpc>
                <a:spcPts val="2125"/>
              </a:lnSpc>
              <a:spcBef>
                <a:spcPts val="0"/>
              </a:spcBef>
              <a:spcAft>
                <a:spcPts val="0"/>
              </a:spcAft>
              <a:defRPr sz="1700" b="0">
                <a:solidFill>
                  <a:srgbClr val="163640"/>
                </a:solidFill>
                <a:latin typeface="DejaVu Sans"/>
              </a:defRPr>
            </a:pPr>
            <a:r>
              <a:t>execution request</a:t>
            </a:r>
          </a:p>
        </p:txBody>
      </p:sp>
      <p:sp>
        <p:nvSpPr>
          <p:cNvPr id="20" name="TextBox 19"/>
          <p:cNvSpPr txBox="1"/>
          <p:nvPr/>
        </p:nvSpPr>
        <p:spPr>
          <a:xfrm>
            <a:off x="884555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21" name="Rounded Rectangle 20"/>
          <p:cNvSpPr/>
          <p:nvPr/>
        </p:nvSpPr>
        <p:spPr>
          <a:xfrm>
            <a:off x="908685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7735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04</a:t>
            </a:r>
          </a:p>
        </p:txBody>
      </p:sp>
      <p:sp>
        <p:nvSpPr>
          <p:cNvPr id="23" name="TextBox 22"/>
          <p:cNvSpPr txBox="1"/>
          <p:nvPr/>
        </p:nvSpPr>
        <p:spPr>
          <a:xfrm>
            <a:off x="927735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Vulnerable bank</a:t>
            </a:r>
          </a:p>
        </p:txBody>
      </p:sp>
      <p:sp>
        <p:nvSpPr>
          <p:cNvPr id="24" name="TextBox 23"/>
          <p:cNvSpPr txBox="1"/>
          <p:nvPr/>
        </p:nvSpPr>
        <p:spPr>
          <a:xfrm>
            <a:off x="927735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Valid request;</a:t>
            </a:r>
          </a:p>
          <a:p>
            <a:pPr>
              <a:lnSpc>
                <a:spcPts val="2125"/>
              </a:lnSpc>
              <a:spcBef>
                <a:spcPts val="0"/>
              </a:spcBef>
              <a:spcAft>
                <a:spcPts val="0"/>
              </a:spcAft>
              <a:defRPr sz="1700" b="0">
                <a:solidFill>
                  <a:srgbClr val="163640"/>
                </a:solidFill>
                <a:latin typeface="DejaVu Sans"/>
              </a:defRPr>
            </a:pPr>
            <a:r>
              <a:t>harmful payment</a:t>
            </a:r>
          </a:p>
        </p:txBody>
      </p:sp>
      <p:sp>
        <p:nvSpPr>
          <p:cNvPr id="25" name="Rounded Rectangle 24"/>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Mark the point where information was treated as authority.</a:t>
            </a:r>
          </a:p>
        </p:txBody>
      </p:sp>
      <p:sp>
        <p:nvSpPr>
          <p:cNvPr id="27" name="TextBox 26"/>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8" name="TextBox 27"/>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06 / 29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8–20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Replay one incident; inspect two ledgers</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3032760"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Ledger</a:t>
            </a:r>
          </a:p>
        </p:txBody>
      </p:sp>
      <p:sp>
        <p:nvSpPr>
          <p:cNvPr id="8" name="TextBox 7"/>
          <p:cNvSpPr txBox="1"/>
          <p:nvPr/>
        </p:nvSpPr>
        <p:spPr>
          <a:xfrm>
            <a:off x="4023360" y="2273300"/>
            <a:ext cx="3700272"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Expected delta</a:t>
            </a:r>
          </a:p>
        </p:txBody>
      </p:sp>
      <p:sp>
        <p:nvSpPr>
          <p:cNvPr id="9" name="TextBox 8"/>
          <p:cNvSpPr txBox="1"/>
          <p:nvPr/>
        </p:nvSpPr>
        <p:spPr>
          <a:xfrm>
            <a:off x="8028432" y="2273300"/>
            <a:ext cx="347776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Interpretation</a:t>
            </a:r>
          </a:p>
        </p:txBody>
      </p:sp>
      <p:sp>
        <p:nvSpPr>
          <p:cNvPr id="10" name="Rectangle 9"/>
          <p:cNvSpPr/>
          <p:nvPr/>
        </p:nvSpPr>
        <p:spPr>
          <a:xfrm>
            <a:off x="533400" y="2654300"/>
            <a:ext cx="11125200" cy="14922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3032760" cy="137795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Isolated vulnerable ledger</a:t>
            </a:r>
          </a:p>
        </p:txBody>
      </p:sp>
      <p:sp>
        <p:nvSpPr>
          <p:cNvPr id="12" name="TextBox 11"/>
          <p:cNvSpPr txBox="1"/>
          <p:nvPr/>
        </p:nvSpPr>
        <p:spPr>
          <a:xfrm>
            <a:off x="4023360" y="2743200"/>
            <a:ext cx="3700272" cy="137795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−900,000,000 paise; +1</a:t>
            </a:r>
          </a:p>
          <a:p>
            <a:pPr>
              <a:lnSpc>
                <a:spcPts val="1972"/>
              </a:lnSpc>
              <a:spcBef>
                <a:spcPts val="0"/>
              </a:spcBef>
              <a:spcAft>
                <a:spcPts val="0"/>
              </a:spcAft>
              <a:defRPr sz="1700" b="0">
                <a:solidFill>
                  <a:srgbClr val="163640"/>
                </a:solidFill>
                <a:latin typeface="DejaVu Sans"/>
              </a:defRPr>
            </a:pPr>
            <a:r>
              <a:t>payment</a:t>
            </a:r>
          </a:p>
        </p:txBody>
      </p:sp>
      <p:sp>
        <p:nvSpPr>
          <p:cNvPr id="13" name="TextBox 12"/>
          <p:cNvSpPr txBox="1"/>
          <p:nvPr/>
        </p:nvSpPr>
        <p:spPr>
          <a:xfrm>
            <a:off x="8028432" y="2743200"/>
            <a:ext cx="3477768" cy="137795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Recorded harmful proposal</a:t>
            </a:r>
          </a:p>
          <a:p>
            <a:pPr>
              <a:lnSpc>
                <a:spcPts val="1972"/>
              </a:lnSpc>
              <a:spcBef>
                <a:spcPts val="0"/>
              </a:spcBef>
              <a:spcAft>
                <a:spcPts val="0"/>
              </a:spcAft>
              <a:defRPr sz="1700" b="0">
                <a:solidFill>
                  <a:srgbClr val="163640"/>
                </a:solidFill>
                <a:latin typeface="DejaVu Sans"/>
              </a:defRPr>
            </a:pPr>
            <a:r>
              <a:t>executed</a:t>
            </a:r>
          </a:p>
        </p:txBody>
      </p:sp>
      <p:sp>
        <p:nvSpPr>
          <p:cNvPr id="14" name="Rectangle 13"/>
          <p:cNvSpPr/>
          <p:nvPr/>
        </p:nvSpPr>
        <p:spPr>
          <a:xfrm>
            <a:off x="533400" y="4146550"/>
            <a:ext cx="11125200" cy="1492250"/>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235450"/>
            <a:ext cx="3032760" cy="137795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Protected banking ledger</a:t>
            </a:r>
          </a:p>
        </p:txBody>
      </p:sp>
      <p:sp>
        <p:nvSpPr>
          <p:cNvPr id="16" name="TextBox 15"/>
          <p:cNvSpPr txBox="1"/>
          <p:nvPr/>
        </p:nvSpPr>
        <p:spPr>
          <a:xfrm>
            <a:off x="4023360" y="4235450"/>
            <a:ext cx="3700272" cy="137795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0 paise; 0 new payments</a:t>
            </a:r>
          </a:p>
        </p:txBody>
      </p:sp>
      <p:sp>
        <p:nvSpPr>
          <p:cNvPr id="17" name="TextBox 16"/>
          <p:cNvSpPr txBox="1"/>
          <p:nvPr/>
        </p:nvSpPr>
        <p:spPr>
          <a:xfrm>
            <a:off x="8028432" y="4235450"/>
            <a:ext cx="3477768" cy="137795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Separate protected state</a:t>
            </a:r>
          </a:p>
          <a:p>
            <a:pPr>
              <a:lnSpc>
                <a:spcPts val="1972"/>
              </a:lnSpc>
              <a:spcBef>
                <a:spcPts val="0"/>
              </a:spcBef>
              <a:spcAft>
                <a:spcPts val="0"/>
              </a:spcAft>
              <a:defRPr sz="1700" b="0">
                <a:solidFill>
                  <a:srgbClr val="163640"/>
                </a:solidFill>
                <a:latin typeface="DejaVu Sans"/>
              </a:defRPr>
            </a:pPr>
            <a:r>
              <a:t>unchanged</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The replay establishes this fixed request’s result, not a live model compromise.</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07 / 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20–33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The Triple-Gate model</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GATE 1</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Inference access and</a:t>
            </a:r>
          </a:p>
          <a:p>
            <a:pPr>
              <a:lnSpc>
                <a:spcPts val="2625"/>
              </a:lnSpc>
              <a:spcBef>
                <a:spcPts val="0"/>
              </a:spcBef>
              <a:spcAft>
                <a:spcPts val="0"/>
              </a:spcAft>
              <a:defRPr sz="2100" b="0">
                <a:solidFill>
                  <a:srgbClr val="163640"/>
                </a:solidFill>
                <a:latin typeface="DejaVu Sans"/>
              </a:defRPr>
            </a:pPr>
            <a:r>
              <a:t>budgets: may this</a:t>
            </a:r>
          </a:p>
          <a:p>
            <a:pPr>
              <a:lnSpc>
                <a:spcPts val="2625"/>
              </a:lnSpc>
              <a:spcBef>
                <a:spcPts val="0"/>
              </a:spcBef>
              <a:spcAft>
                <a:spcPts val="0"/>
              </a:spcAft>
              <a:defRPr sz="2100" b="0">
                <a:solidFill>
                  <a:srgbClr val="163640"/>
                </a:solidFill>
                <a:latin typeface="DejaVu Sans"/>
              </a:defRPr>
            </a:pPr>
            <a:r>
              <a:t>model request be</a:t>
            </a:r>
          </a:p>
          <a:p>
            <a:pPr>
              <a:lnSpc>
                <a:spcPts val="2625"/>
              </a:lnSpc>
              <a:spcBef>
                <a:spcPts val="0"/>
              </a:spcBef>
              <a:spcAft>
                <a:spcPts val="0"/>
              </a:spcAft>
              <a:defRPr sz="2100" b="0">
                <a:solidFill>
                  <a:srgbClr val="163640"/>
                </a:solidFill>
                <a:latin typeface="DejaVu Sans"/>
              </a:defRPr>
            </a:pPr>
            <a:r>
              <a:t>dispatched?</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GATE 2</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MCP capability policy:</a:t>
            </a:r>
          </a:p>
          <a:p>
            <a:pPr>
              <a:lnSpc>
                <a:spcPts val="2625"/>
              </a:lnSpc>
              <a:spcBef>
                <a:spcPts val="0"/>
              </a:spcBef>
              <a:spcAft>
                <a:spcPts val="0"/>
              </a:spcAft>
              <a:defRPr sz="2100" b="0">
                <a:solidFill>
                  <a:srgbClr val="163640"/>
                </a:solidFill>
                <a:latin typeface="DejaVu Sans"/>
              </a:defRPr>
            </a:pPr>
            <a:r>
              <a:t>may this identity call</a:t>
            </a:r>
          </a:p>
          <a:p>
            <a:pPr>
              <a:lnSpc>
                <a:spcPts val="2625"/>
              </a:lnSpc>
              <a:spcBef>
                <a:spcPts val="0"/>
              </a:spcBef>
              <a:spcAft>
                <a:spcPts val="0"/>
              </a:spcAft>
              <a:defRPr sz="2100" b="0">
                <a:solidFill>
                  <a:srgbClr val="163640"/>
                </a:solidFill>
                <a:latin typeface="DejaVu Sans"/>
              </a:defRPr>
            </a:pPr>
            <a:r>
              <a:t>this tool with these</a:t>
            </a:r>
          </a:p>
          <a:p>
            <a:pPr>
              <a:lnSpc>
                <a:spcPts val="2625"/>
              </a:lnSpc>
              <a:spcBef>
                <a:spcPts val="0"/>
              </a:spcBef>
              <a:spcAft>
                <a:spcPts val="0"/>
              </a:spcAft>
              <a:defRPr sz="2100" b="0">
                <a:solidFill>
                  <a:srgbClr val="163640"/>
                </a:solidFill>
                <a:latin typeface="DejaVu Sans"/>
              </a:defRPr>
            </a:pPr>
            <a:r>
              <a:t>arguments?</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GATE 3</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API access and</a:t>
            </a:r>
          </a:p>
          <a:p>
            <a:pPr>
              <a:lnSpc>
                <a:spcPts val="2625"/>
              </a:lnSpc>
              <a:spcBef>
                <a:spcPts val="0"/>
              </a:spcBef>
              <a:spcAft>
                <a:spcPts val="0"/>
              </a:spcAft>
              <a:defRPr sz="2100" b="0">
                <a:solidFill>
                  <a:srgbClr val="163640"/>
                </a:solidFill>
                <a:latin typeface="DejaVu Sans"/>
              </a:defRPr>
            </a:pPr>
            <a:r>
              <a:t>banking rules: is this</a:t>
            </a:r>
          </a:p>
          <a:p>
            <a:pPr>
              <a:lnSpc>
                <a:spcPts val="2625"/>
              </a:lnSpc>
              <a:spcBef>
                <a:spcPts val="0"/>
              </a:spcBef>
              <a:spcAft>
                <a:spcPts val="0"/>
              </a:spcAft>
              <a:defRPr sz="2100" b="0">
                <a:solidFill>
                  <a:srgbClr val="163640"/>
                </a:solidFill>
                <a:latin typeface="DejaVu Sans"/>
              </a:defRPr>
            </a:pPr>
            <a:r>
              <a:t>exact business</a:t>
            </a:r>
          </a:p>
          <a:p>
            <a:pPr>
              <a:lnSpc>
                <a:spcPts val="2625"/>
              </a:lnSpc>
              <a:spcBef>
                <a:spcPts val="0"/>
              </a:spcBef>
              <a:spcAft>
                <a:spcPts val="0"/>
              </a:spcAft>
              <a:defRPr sz="2100" b="0">
                <a:solidFill>
                  <a:srgbClr val="163640"/>
                </a:solidFill>
                <a:latin typeface="DejaVu Sans"/>
              </a:defRPr>
            </a:pPr>
            <a:r>
              <a:t>operation authorized?</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Independent review and delegation binding extend protection across the business process.</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08 / 29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20–33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Gate 1: stop dispatch when the budget is</a:t>
            </a:r>
          </a:p>
          <a:p>
            <a:pPr>
              <a:lnSpc>
                <a:spcPts val="3419"/>
              </a:lnSpc>
              <a:spcBef>
                <a:spcPts val="0"/>
              </a:spcBef>
              <a:spcAft>
                <a:spcPts val="0"/>
              </a:spcAft>
              <a:defRPr sz="3000" b="1">
                <a:solidFill>
                  <a:srgbClr val="163640"/>
                </a:solidFill>
                <a:latin typeface="DejaVu Sans"/>
              </a:defRPr>
            </a:pPr>
            <a:r>
              <a:t>exhausted</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PREDICT</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Would a model</a:t>
            </a:r>
          </a:p>
          <a:p>
            <a:pPr>
              <a:lnSpc>
                <a:spcPts val="2625"/>
              </a:lnSpc>
              <a:spcBef>
                <a:spcPts val="0"/>
              </a:spcBef>
              <a:spcAft>
                <a:spcPts val="0"/>
              </a:spcAft>
              <a:defRPr sz="2100" b="0">
                <a:solidFill>
                  <a:srgbClr val="163640"/>
                </a:solidFill>
                <a:latin typeface="DejaVu Sans"/>
              </a:defRPr>
            </a:pPr>
            <a:r>
              <a:t>budget denial also</a:t>
            </a:r>
          </a:p>
          <a:p>
            <a:pPr>
              <a:lnSpc>
                <a:spcPts val="2625"/>
              </a:lnSpc>
              <a:spcBef>
                <a:spcPts val="0"/>
              </a:spcBef>
              <a:spcAft>
                <a:spcPts val="0"/>
              </a:spcAft>
              <a:defRPr sz="2100" b="0">
                <a:solidFill>
                  <a:srgbClr val="163640"/>
                </a:solidFill>
                <a:latin typeface="DejaVu Sans"/>
              </a:defRPr>
            </a:pPr>
            <a:r>
              <a:t>block an independent</a:t>
            </a:r>
          </a:p>
          <a:p>
            <a:pPr>
              <a:lnSpc>
                <a:spcPts val="2625"/>
              </a:lnSpc>
              <a:spcBef>
                <a:spcPts val="0"/>
              </a:spcBef>
              <a:spcAft>
                <a:spcPts val="0"/>
              </a:spcAft>
              <a:defRPr sz="2100" b="0">
                <a:solidFill>
                  <a:srgbClr val="163640"/>
                </a:solidFill>
                <a:latin typeface="DejaVu Sans"/>
              </a:defRPr>
            </a:pPr>
            <a:r>
              <a:t>direct tool request?</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RUN</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Execute the</a:t>
            </a:r>
          </a:p>
          <a:p>
            <a:pPr>
              <a:lnSpc>
                <a:spcPts val="2625"/>
              </a:lnSpc>
              <a:spcBef>
                <a:spcPts val="0"/>
              </a:spcBef>
              <a:spcAft>
                <a:spcPts val="0"/>
              </a:spcAft>
              <a:defRPr sz="2100" b="0">
                <a:solidFill>
                  <a:srgbClr val="163640"/>
                </a:solidFill>
                <a:latin typeface="DejaVu Sans"/>
              </a:defRPr>
            </a:pPr>
            <a:r>
              <a:t>exhausted-headroom</a:t>
            </a:r>
          </a:p>
          <a:p>
            <a:pPr>
              <a:lnSpc>
                <a:spcPts val="2625"/>
              </a:lnSpc>
              <a:spcBef>
                <a:spcPts val="0"/>
              </a:spcBef>
              <a:spcAft>
                <a:spcPts val="0"/>
              </a:spcAft>
              <a:defRPr sz="2100" b="0">
                <a:solidFill>
                  <a:srgbClr val="163640"/>
                </a:solidFill>
                <a:latin typeface="DejaVu Sans"/>
              </a:defRPr>
            </a:pPr>
            <a:r>
              <a:t>scenario. Inspect</a:t>
            </a:r>
          </a:p>
          <a:p>
            <a:pPr>
              <a:lnSpc>
                <a:spcPts val="2625"/>
              </a:lnSpc>
              <a:spcBef>
                <a:spcPts val="0"/>
              </a:spcBef>
              <a:spcAft>
                <a:spcPts val="0"/>
              </a:spcAft>
              <a:defRPr sz="2100" b="0">
                <a:solidFill>
                  <a:srgbClr val="163640"/>
                </a:solidFill>
                <a:latin typeface="DejaVu Sans"/>
              </a:defRPr>
            </a:pPr>
            <a:r>
              <a:t>HTTP 429 before</a:t>
            </a:r>
          </a:p>
          <a:p>
            <a:pPr>
              <a:lnSpc>
                <a:spcPts val="2625"/>
              </a:lnSpc>
              <a:spcBef>
                <a:spcPts val="0"/>
              </a:spcBef>
              <a:spcAft>
                <a:spcPts val="0"/>
              </a:spcAft>
              <a:defRPr sz="2100" b="0">
                <a:solidFill>
                  <a:srgbClr val="163640"/>
                </a:solidFill>
                <a:latin typeface="DejaVu Sans"/>
              </a:defRPr>
            </a:pPr>
            <a:r>
              <a:t>provider dispatch.</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COMPARE</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Run the independent</a:t>
            </a:r>
          </a:p>
          <a:p>
            <a:pPr>
              <a:lnSpc>
                <a:spcPts val="2625"/>
              </a:lnSpc>
              <a:spcBef>
                <a:spcPts val="0"/>
              </a:spcBef>
              <a:spcAft>
                <a:spcPts val="0"/>
              </a:spcAft>
              <a:defRPr sz="2100" b="0">
                <a:solidFill>
                  <a:srgbClr val="163640"/>
                </a:solidFill>
                <a:latin typeface="DejaVu Sans"/>
              </a:defRPr>
            </a:pPr>
            <a:r>
              <a:t>Gate 2 scenario and</a:t>
            </a:r>
          </a:p>
          <a:p>
            <a:pPr>
              <a:lnSpc>
                <a:spcPts val="2625"/>
              </a:lnSpc>
              <a:spcBef>
                <a:spcPts val="0"/>
              </a:spcBef>
              <a:spcAft>
                <a:spcPts val="0"/>
              </a:spcAft>
              <a:defRPr sz="2100" b="0">
                <a:solidFill>
                  <a:srgbClr val="163640"/>
                </a:solidFill>
                <a:latin typeface="DejaVu Sans"/>
              </a:defRPr>
            </a:pPr>
            <a:r>
              <a:t>inspect its own</a:t>
            </a:r>
          </a:p>
          <a:p>
            <a:pPr>
              <a:lnSpc>
                <a:spcPts val="2625"/>
              </a:lnSpc>
              <a:spcBef>
                <a:spcPts val="0"/>
              </a:spcBef>
              <a:spcAft>
                <a:spcPts val="0"/>
              </a:spcAft>
              <a:defRPr sz="2100" b="0">
                <a:solidFill>
                  <a:srgbClr val="163640"/>
                </a:solidFill>
                <a:latin typeface="DejaVu Sans"/>
              </a:defRPr>
            </a:pPr>
            <a:r>
              <a:t>response.</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Inference limits govern inference dispatch. Tool authorization remains independent.</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09 / 29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33–53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Gate 2: isolate the reason for denial</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3032760"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Request</a:t>
            </a:r>
          </a:p>
        </p:txBody>
      </p:sp>
      <p:sp>
        <p:nvSpPr>
          <p:cNvPr id="8" name="TextBox 7"/>
          <p:cNvSpPr txBox="1"/>
          <p:nvPr/>
        </p:nvSpPr>
        <p:spPr>
          <a:xfrm>
            <a:off x="4023360" y="2273300"/>
            <a:ext cx="3700272"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Expected result</a:t>
            </a:r>
          </a:p>
        </p:txBody>
      </p:sp>
      <p:sp>
        <p:nvSpPr>
          <p:cNvPr id="9" name="TextBox 8"/>
          <p:cNvSpPr txBox="1"/>
          <p:nvPr/>
        </p:nvSpPr>
        <p:spPr>
          <a:xfrm>
            <a:off x="8028432" y="2273300"/>
            <a:ext cx="347776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Ledger</a:t>
            </a:r>
          </a:p>
        </p:txBody>
      </p:sp>
      <p:sp>
        <p:nvSpPr>
          <p:cNvPr id="10" name="Rectangle 9"/>
          <p:cNvSpPr/>
          <p:nvPr/>
        </p:nvSpPr>
        <p:spPr>
          <a:xfrm>
            <a:off x="533400" y="2654300"/>
            <a:ext cx="11125200" cy="99483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3032760" cy="880533"/>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25,000 paise to prohibited</a:t>
            </a:r>
          </a:p>
          <a:p>
            <a:pPr>
              <a:lnSpc>
                <a:spcPts val="1972"/>
              </a:lnSpc>
              <a:spcBef>
                <a:spcPts val="0"/>
              </a:spcBef>
              <a:spcAft>
                <a:spcPts val="0"/>
              </a:spcAft>
              <a:defRPr sz="1700" b="0">
                <a:solidFill>
                  <a:srgbClr val="163640"/>
                </a:solidFill>
                <a:latin typeface="DejaVu Sans"/>
              </a:defRPr>
            </a:pPr>
            <a:r>
              <a:t>beneficiary</a:t>
            </a:r>
          </a:p>
        </p:txBody>
      </p:sp>
      <p:sp>
        <p:nvSpPr>
          <p:cNvPr id="12" name="TextBox 11"/>
          <p:cNvSpPr txBox="1"/>
          <p:nvPr/>
        </p:nvSpPr>
        <p:spPr>
          <a:xfrm>
            <a:off x="4023360" y="2743200"/>
            <a:ext cx="3700272" cy="880533"/>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Prohibited-beneficiary denial</a:t>
            </a:r>
          </a:p>
        </p:txBody>
      </p:sp>
      <p:sp>
        <p:nvSpPr>
          <p:cNvPr id="13" name="TextBox 12"/>
          <p:cNvSpPr txBox="1"/>
          <p:nvPr/>
        </p:nvSpPr>
        <p:spPr>
          <a:xfrm>
            <a:off x="8028432" y="2743200"/>
            <a:ext cx="3477768" cy="880533"/>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No change</a:t>
            </a:r>
          </a:p>
        </p:txBody>
      </p:sp>
      <p:sp>
        <p:nvSpPr>
          <p:cNvPr id="14" name="Rectangle 13"/>
          <p:cNvSpPr/>
          <p:nvPr/>
        </p:nvSpPr>
        <p:spPr>
          <a:xfrm>
            <a:off x="533400" y="3649133"/>
            <a:ext cx="11125200" cy="994833"/>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738033"/>
            <a:ext cx="3032760" cy="880533"/>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900,000,000 paise to</a:t>
            </a:r>
          </a:p>
          <a:p>
            <a:pPr>
              <a:lnSpc>
                <a:spcPts val="1972"/>
              </a:lnSpc>
              <a:spcBef>
                <a:spcPts val="0"/>
              </a:spcBef>
              <a:spcAft>
                <a:spcPts val="0"/>
              </a:spcAft>
              <a:defRPr sz="1700" b="0">
                <a:solidFill>
                  <a:srgbClr val="163640"/>
                </a:solidFill>
                <a:latin typeface="DejaVu Sans"/>
              </a:defRPr>
            </a:pPr>
            <a:r>
              <a:t>permitted vendor</a:t>
            </a:r>
          </a:p>
        </p:txBody>
      </p:sp>
      <p:sp>
        <p:nvSpPr>
          <p:cNvPr id="16" name="TextBox 15"/>
          <p:cNvSpPr txBox="1"/>
          <p:nvPr/>
        </p:nvSpPr>
        <p:spPr>
          <a:xfrm>
            <a:off x="4023360" y="3738033"/>
            <a:ext cx="3700272" cy="880533"/>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Transfer-ceiling denial</a:t>
            </a:r>
          </a:p>
        </p:txBody>
      </p:sp>
      <p:sp>
        <p:nvSpPr>
          <p:cNvPr id="17" name="TextBox 16"/>
          <p:cNvSpPr txBox="1"/>
          <p:nvPr/>
        </p:nvSpPr>
        <p:spPr>
          <a:xfrm>
            <a:off x="8028432" y="3738033"/>
            <a:ext cx="3477768" cy="880533"/>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No change</a:t>
            </a:r>
          </a:p>
        </p:txBody>
      </p:sp>
      <p:sp>
        <p:nvSpPr>
          <p:cNvPr id="18" name="Rectangle 17"/>
          <p:cNvSpPr/>
          <p:nvPr/>
        </p:nvSpPr>
        <p:spPr>
          <a:xfrm>
            <a:off x="533400" y="4643966"/>
            <a:ext cx="11125200" cy="99483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732866"/>
            <a:ext cx="3032760" cy="880533"/>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25,000 paise to</a:t>
            </a:r>
          </a:p>
          <a:p>
            <a:pPr>
              <a:lnSpc>
                <a:spcPts val="1972"/>
              </a:lnSpc>
              <a:spcBef>
                <a:spcPts val="0"/>
              </a:spcBef>
              <a:spcAft>
                <a:spcPts val="0"/>
              </a:spcAft>
              <a:defRPr sz="1700" b="0">
                <a:solidFill>
                  <a:srgbClr val="163640"/>
                </a:solidFill>
                <a:latin typeface="DejaVu Sans"/>
              </a:defRPr>
            </a:pPr>
            <a:r>
              <a:t>vendor-alpha</a:t>
            </a:r>
          </a:p>
        </p:txBody>
      </p:sp>
      <p:sp>
        <p:nvSpPr>
          <p:cNvPr id="20" name="TextBox 19"/>
          <p:cNvSpPr txBox="1"/>
          <p:nvPr/>
        </p:nvSpPr>
        <p:spPr>
          <a:xfrm>
            <a:off x="4023360" y="4732866"/>
            <a:ext cx="3700272" cy="880533"/>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Allowed after local repair</a:t>
            </a:r>
          </a:p>
        </p:txBody>
      </p:sp>
      <p:sp>
        <p:nvSpPr>
          <p:cNvPr id="21" name="TextBox 20"/>
          <p:cNvSpPr txBox="1"/>
          <p:nvPr/>
        </p:nvSpPr>
        <p:spPr>
          <a:xfrm>
            <a:off x="8028432" y="4732866"/>
            <a:ext cx="3477768" cy="880533"/>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−25,000; +1 payment</a:t>
            </a:r>
          </a:p>
        </p:txBody>
      </p:sp>
      <p:sp>
        <p:nvSpPr>
          <p:cNvPr id="22" name="Rounded Rectangle 21"/>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Change one relevant dimension so the evidence identifies the control.</a:t>
            </a:r>
          </a:p>
        </p:txBody>
      </p:sp>
      <p:sp>
        <p:nvSpPr>
          <p:cNvPr id="24" name="TextBox 23"/>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5" name="TextBox 24"/>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10 / 29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33–53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Exercise: repair the prepared local policy</a:t>
            </a:r>
          </a:p>
        </p:txBody>
      </p:sp>
      <p:sp>
        <p:nvSpPr>
          <p:cNvPr id="6" name="TextBox 5"/>
          <p:cNvSpPr txBox="1"/>
          <p:nvPr/>
        </p:nvSpPr>
        <p:spPr>
          <a:xfrm>
            <a:off x="546100" y="1841500"/>
            <a:ext cx="11061700" cy="736600"/>
          </a:xfrm>
          <a:prstGeom prst="rect">
            <a:avLst/>
          </a:prstGeom>
          <a:noFill/>
        </p:spPr>
        <p:txBody>
          <a:bodyPr wrap="none" lIns="0" rIns="0" tIns="0" bIns="0" anchor="t">
            <a:spAutoFit/>
          </a:bodyPr>
          <a:lstStyle/>
          <a:p>
            <a:pPr>
              <a:lnSpc>
                <a:spcPts val="2250"/>
              </a:lnSpc>
              <a:spcBef>
                <a:spcPts val="0"/>
              </a:spcBef>
              <a:spcAft>
                <a:spcPts val="0"/>
              </a:spcAft>
              <a:defRPr sz="1800" b="0">
                <a:solidFill>
                  <a:srgbClr val="536B73"/>
                </a:solidFill>
                <a:latin typeface="DejaVu Sans"/>
              </a:defRPr>
            </a:pPr>
            <a:r>
              <a:t>The initial checkpoint also blocks the legitimate vendor-alpha payment.</a:t>
            </a:r>
          </a:p>
        </p:txBody>
      </p:sp>
      <p:sp>
        <p:nvSpPr>
          <p:cNvPr id="7" name="Rounded Rectangle 6"/>
          <p:cNvSpPr/>
          <p:nvPr/>
        </p:nvSpPr>
        <p:spPr>
          <a:xfrm>
            <a:off x="533400" y="2730500"/>
            <a:ext cx="11125200" cy="2908300"/>
          </a:xfrm>
          <a:prstGeom prst="roundRect">
            <a:avLst>
              <a:gd name="adj" fmla="val 6000"/>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921000"/>
            <a:ext cx="10414000" cy="317500"/>
          </a:xfrm>
          <a:prstGeom prst="rect">
            <a:avLst/>
          </a:prstGeom>
          <a:noFill/>
        </p:spPr>
        <p:txBody>
          <a:bodyPr wrap="none" lIns="0" rIns="0" tIns="0" bIns="0" anchor="t">
            <a:spAutoFit/>
          </a:bodyPr>
          <a:lstStyle/>
          <a:p>
            <a:pPr>
              <a:lnSpc>
                <a:spcPts val="1250"/>
              </a:lnSpc>
              <a:spcBef>
                <a:spcPts val="0"/>
              </a:spcBef>
              <a:spcAft>
                <a:spcPts val="0"/>
              </a:spcAft>
              <a:defRPr sz="1000" b="1">
                <a:solidFill>
                  <a:srgbClr val="FF9982"/>
                </a:solidFill>
                <a:latin typeface="DejaVu Sans"/>
              </a:defRPr>
            </a:pPr>
            <a:r>
              <a:t>TERMINAL  /  FROM REPOSITORY ROOT</a:t>
            </a:r>
          </a:p>
        </p:txBody>
      </p:sp>
      <p:sp>
        <p:nvSpPr>
          <p:cNvPr id="9" name="TextBox 8"/>
          <p:cNvSpPr txBox="1"/>
          <p:nvPr/>
        </p:nvSpPr>
        <p:spPr>
          <a:xfrm>
            <a:off x="774700" y="3416300"/>
            <a:ext cx="10629900" cy="2032000"/>
          </a:xfrm>
          <a:prstGeom prst="rect">
            <a:avLst/>
          </a:prstGeom>
          <a:noFill/>
        </p:spPr>
        <p:txBody>
          <a:bodyPr wrap="none" lIns="0" rIns="0" tIns="0" bIns="0" anchor="t">
            <a:spAutoFit/>
          </a:bodyPr>
          <a:lstStyle/>
          <a:p>
            <a:pPr>
              <a:lnSpc>
                <a:spcPts val="2379"/>
              </a:lnSpc>
              <a:spcBef>
                <a:spcPts val="0"/>
              </a:spcBef>
              <a:spcAft>
                <a:spcPts val="0"/>
              </a:spcAft>
              <a:defRPr sz="1700" b="0">
                <a:solidFill>
                  <a:srgbClr val="FFFFFF"/>
                </a:solidFill>
                <a:latin typeface="DejaVu Sans Mono"/>
              </a:defRPr>
            </a:pPr>
            <a:r>
              <a:t>cp workshops/w4/checkpoints/initial/policy.rego \</a:t>
            </a:r>
          </a:p>
          <a:p>
            <a:pPr>
              <a:lnSpc>
                <a:spcPts val="2379"/>
              </a:lnSpc>
              <a:spcBef>
                <a:spcPts val="0"/>
              </a:spcBef>
              <a:spcAft>
                <a:spcPts val="0"/>
              </a:spcAft>
              <a:defRPr sz="1700" b="0">
                <a:solidFill>
                  <a:srgbClr val="FFFFFF"/>
                </a:solidFill>
                <a:latin typeface="DejaVu Sans Mono"/>
              </a:defRPr>
            </a:pPr>
            <a:r>
              <a:t>  spikes/spike3_opa/policy.rego</a:t>
            </a:r>
          </a:p>
          <a:p>
            <a:pPr>
              <a:lnSpc>
                <a:spcPts val="2379"/>
              </a:lnSpc>
              <a:spcBef>
                <a:spcPts val="0"/>
              </a:spcBef>
              <a:spcAft>
                <a:spcPts val="0"/>
              </a:spcAft>
              <a:defRPr sz="1700" b="0">
                <a:solidFill>
                  <a:srgbClr val="FFFFFF"/>
                </a:solidFill>
                <a:latin typeface="DejaVu Sans Mono"/>
              </a:defRPr>
            </a:pPr>
            <a:r>
              <a:t>docker compose restart opa</a:t>
            </a:r>
          </a:p>
          <a:p>
            <a:pPr>
              <a:lnSpc>
                <a:spcPts val="2379"/>
              </a:lnSpc>
              <a:spcBef>
                <a:spcPts val="0"/>
              </a:spcBef>
              <a:spcAft>
                <a:spcPts val="0"/>
              </a:spcAft>
              <a:defRPr sz="1700" b="0">
                <a:solidFill>
                  <a:srgbClr val="FFFFFF"/>
                </a:solidFill>
                <a:latin typeface="DejaVu Sans Mono"/>
              </a:defRPr>
            </a:pPr>
          </a:p>
          <a:p>
            <a:pPr>
              <a:lnSpc>
                <a:spcPts val="2379"/>
              </a:lnSpc>
              <a:spcBef>
                <a:spcPts val="0"/>
              </a:spcBef>
              <a:spcAft>
                <a:spcPts val="0"/>
              </a:spcAft>
              <a:defRPr sz="1700" b="0">
                <a:solidFill>
                  <a:srgbClr val="FFFFFF"/>
                </a:solidFill>
                <a:latin typeface="DejaVu Sans Mono"/>
              </a:defRPr>
            </a:pPr>
            <a:r>
              <a:t># Remove only vendor-alpha from the prepared prohibited list.</a:t>
            </a:r>
          </a:p>
          <a:p>
            <a:pPr>
              <a:lnSpc>
                <a:spcPts val="2379"/>
              </a:lnSpc>
              <a:spcBef>
                <a:spcPts val="0"/>
              </a:spcBef>
              <a:spcAft>
                <a:spcPts val="0"/>
              </a:spcAft>
              <a:defRPr sz="1700" b="0">
                <a:solidFill>
                  <a:srgbClr val="FFFFFF"/>
                </a:solidFill>
                <a:latin typeface="DejaVu Sans Mono"/>
              </a:defRPr>
            </a:pPr>
            <a:r>
              <a:t># Keep fraud-account-66 blocked, restart OPA, then retest.</a:t>
            </a:r>
          </a:p>
        </p:txBody>
      </p:sp>
      <p:sp>
        <p:nvSpPr>
          <p:cNvPr id="10" name="Rounded Rectangle 9"/>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Work on the pair’s local instance and save before/after service results.</a:t>
            </a:r>
          </a:p>
        </p:txBody>
      </p:sp>
      <p:sp>
        <p:nvSpPr>
          <p:cNvPr id="12" name="TextBox 11"/>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13" name="TextBox 12"/>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11 / 29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33–53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Retest the repair against both attack and business</a:t>
            </a:r>
          </a:p>
          <a:p>
            <a:pPr>
              <a:lnSpc>
                <a:spcPts val="3419"/>
              </a:lnSpc>
              <a:spcBef>
                <a:spcPts val="0"/>
              </a:spcBef>
              <a:spcAft>
                <a:spcPts val="0"/>
              </a:spcAft>
              <a:defRPr sz="3000" b="1">
                <a:solidFill>
                  <a:srgbClr val="163640"/>
                </a:solidFill>
                <a:latin typeface="DejaVu Sans"/>
              </a:defRPr>
            </a:pPr>
            <a:r>
              <a:t>paths</a:t>
            </a:r>
          </a:p>
        </p:txBody>
      </p:sp>
      <p:sp>
        <p:nvSpPr>
          <p:cNvPr id="6" name="TextBox 5"/>
          <p:cNvSpPr txBox="1"/>
          <p:nvPr/>
        </p:nvSpPr>
        <p:spPr>
          <a:xfrm>
            <a:off x="546100" y="1841500"/>
            <a:ext cx="11061700" cy="736600"/>
          </a:xfrm>
          <a:prstGeom prst="rect">
            <a:avLst/>
          </a:prstGeom>
          <a:noFill/>
        </p:spPr>
        <p:txBody>
          <a:bodyPr wrap="none" lIns="0" rIns="0" tIns="0" bIns="0" anchor="t">
            <a:spAutoFit/>
          </a:bodyPr>
          <a:lstStyle/>
          <a:p>
            <a:pPr>
              <a:lnSpc>
                <a:spcPts val="2250"/>
              </a:lnSpc>
              <a:spcBef>
                <a:spcPts val="0"/>
              </a:spcBef>
              <a:spcAft>
                <a:spcPts val="0"/>
              </a:spcAft>
              <a:defRPr sz="1800" b="0">
                <a:solidFill>
                  <a:srgbClr val="536B73"/>
                </a:solidFill>
                <a:latin typeface="DejaVu Sans"/>
              </a:defRPr>
            </a:pPr>
            <a:r>
              <a:t>Attacker remains blocked. Excessive amount remains blocked. ₹250 vendor payment</a:t>
            </a:r>
          </a:p>
          <a:p>
            <a:pPr>
              <a:lnSpc>
                <a:spcPts val="2250"/>
              </a:lnSpc>
              <a:spcBef>
                <a:spcPts val="0"/>
              </a:spcBef>
              <a:spcAft>
                <a:spcPts val="0"/>
              </a:spcAft>
              <a:defRPr sz="1800" b="0">
                <a:solidFill>
                  <a:srgbClr val="536B73"/>
                </a:solidFill>
                <a:latin typeface="DejaVu Sans"/>
              </a:defRPr>
            </a:pPr>
            <a:r>
              <a:t>succeeds.</a:t>
            </a:r>
          </a:p>
        </p:txBody>
      </p:sp>
      <p:sp>
        <p:nvSpPr>
          <p:cNvPr id="7" name="Rounded Rectangle 6"/>
          <p:cNvSpPr/>
          <p:nvPr/>
        </p:nvSpPr>
        <p:spPr>
          <a:xfrm>
            <a:off x="533400" y="2730500"/>
            <a:ext cx="11125200" cy="2908300"/>
          </a:xfrm>
          <a:prstGeom prst="roundRect">
            <a:avLst>
              <a:gd name="adj" fmla="val 6000"/>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921000"/>
            <a:ext cx="10414000" cy="317500"/>
          </a:xfrm>
          <a:prstGeom prst="rect">
            <a:avLst/>
          </a:prstGeom>
          <a:noFill/>
        </p:spPr>
        <p:txBody>
          <a:bodyPr wrap="none" lIns="0" rIns="0" tIns="0" bIns="0" anchor="t">
            <a:spAutoFit/>
          </a:bodyPr>
          <a:lstStyle/>
          <a:p>
            <a:pPr>
              <a:lnSpc>
                <a:spcPts val="1250"/>
              </a:lnSpc>
              <a:spcBef>
                <a:spcPts val="0"/>
              </a:spcBef>
              <a:spcAft>
                <a:spcPts val="0"/>
              </a:spcAft>
              <a:defRPr sz="1000" b="1">
                <a:solidFill>
                  <a:srgbClr val="FF9982"/>
                </a:solidFill>
                <a:latin typeface="DejaVu Sans"/>
              </a:defRPr>
            </a:pPr>
            <a:r>
              <a:t>TERMINAL  /  FROM REPOSITORY ROOT</a:t>
            </a:r>
          </a:p>
        </p:txBody>
      </p:sp>
      <p:sp>
        <p:nvSpPr>
          <p:cNvPr id="9" name="TextBox 8"/>
          <p:cNvSpPr txBox="1"/>
          <p:nvPr/>
        </p:nvSpPr>
        <p:spPr>
          <a:xfrm>
            <a:off x="774700" y="3416300"/>
            <a:ext cx="10629900" cy="2032000"/>
          </a:xfrm>
          <a:prstGeom prst="rect">
            <a:avLst/>
          </a:prstGeom>
          <a:noFill/>
        </p:spPr>
        <p:txBody>
          <a:bodyPr wrap="none" lIns="0" rIns="0" tIns="0" bIns="0" anchor="t">
            <a:spAutoFit/>
          </a:bodyPr>
          <a:lstStyle/>
          <a:p>
            <a:pPr>
              <a:lnSpc>
                <a:spcPts val="2379"/>
              </a:lnSpc>
              <a:spcBef>
                <a:spcPts val="0"/>
              </a:spcBef>
              <a:spcAft>
                <a:spcPts val="0"/>
              </a:spcAft>
              <a:defRPr sz="1700" b="0">
                <a:solidFill>
                  <a:srgbClr val="FFFFFF"/>
                </a:solidFill>
                <a:latin typeface="DejaVu Sans Mono"/>
              </a:defRPr>
            </a:pPr>
            <a:r>
              <a:t># Completed checkpoint if a pair needs recovery:</a:t>
            </a:r>
          </a:p>
          <a:p>
            <a:pPr>
              <a:lnSpc>
                <a:spcPts val="2379"/>
              </a:lnSpc>
              <a:spcBef>
                <a:spcPts val="0"/>
              </a:spcBef>
              <a:spcAft>
                <a:spcPts val="0"/>
              </a:spcAft>
              <a:defRPr sz="1700" b="0">
                <a:solidFill>
                  <a:srgbClr val="FFFFFF"/>
                </a:solidFill>
                <a:latin typeface="DejaVu Sans Mono"/>
              </a:defRPr>
            </a:pPr>
            <a:r>
              <a:t>cp workshops/w4/checkpoints/completed/policy.rego \</a:t>
            </a:r>
          </a:p>
          <a:p>
            <a:pPr>
              <a:lnSpc>
                <a:spcPts val="2379"/>
              </a:lnSpc>
              <a:spcBef>
                <a:spcPts val="0"/>
              </a:spcBef>
              <a:spcAft>
                <a:spcPts val="0"/>
              </a:spcAft>
              <a:defRPr sz="1700" b="0">
                <a:solidFill>
                  <a:srgbClr val="FFFFFF"/>
                </a:solidFill>
                <a:latin typeface="DejaVu Sans Mono"/>
              </a:defRPr>
            </a:pPr>
            <a:r>
              <a:t>  spikes/spike3_opa/policy.rego</a:t>
            </a:r>
          </a:p>
          <a:p>
            <a:pPr>
              <a:lnSpc>
                <a:spcPts val="2379"/>
              </a:lnSpc>
              <a:spcBef>
                <a:spcPts val="0"/>
              </a:spcBef>
              <a:spcAft>
                <a:spcPts val="0"/>
              </a:spcAft>
              <a:defRPr sz="1700" b="0">
                <a:solidFill>
                  <a:srgbClr val="FFFFFF"/>
                </a:solidFill>
                <a:latin typeface="DejaVu Sans Mono"/>
              </a:defRPr>
            </a:pPr>
            <a:r>
              <a:t>docker compose restart opa</a:t>
            </a:r>
          </a:p>
        </p:txBody>
      </p:sp>
      <p:sp>
        <p:nvSpPr>
          <p:cNvPr id="10" name="Rounded Rectangle 9"/>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A policy repair succeeds when legitimate work is restored and attacks remain denied.</a:t>
            </a:r>
          </a:p>
        </p:txBody>
      </p:sp>
      <p:sp>
        <p:nvSpPr>
          <p:cNvPr id="12" name="TextBox 11"/>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13" name="TextBox 12"/>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12 / 29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53–60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Gate 3: the attacker changes routes</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3032760"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Attempt</a:t>
            </a:r>
          </a:p>
        </p:txBody>
      </p:sp>
      <p:sp>
        <p:nvSpPr>
          <p:cNvPr id="8" name="TextBox 7"/>
          <p:cNvSpPr txBox="1"/>
          <p:nvPr/>
        </p:nvSpPr>
        <p:spPr>
          <a:xfrm>
            <a:off x="4023360" y="2273300"/>
            <a:ext cx="3700272"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Expected status</a:t>
            </a:r>
          </a:p>
        </p:txBody>
      </p:sp>
      <p:sp>
        <p:nvSpPr>
          <p:cNvPr id="9" name="TextBox 8"/>
          <p:cNvSpPr txBox="1"/>
          <p:nvPr/>
        </p:nvSpPr>
        <p:spPr>
          <a:xfrm>
            <a:off x="8028432" y="2273300"/>
            <a:ext cx="347776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Missing authority</a:t>
            </a:r>
          </a:p>
        </p:txBody>
      </p:sp>
      <p:sp>
        <p:nvSpPr>
          <p:cNvPr id="10" name="Rectangle 9"/>
          <p:cNvSpPr/>
          <p:nvPr/>
        </p:nvSpPr>
        <p:spPr>
          <a:xfrm>
            <a:off x="533400" y="2654300"/>
            <a:ext cx="11125200" cy="14922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3032760" cy="137795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Use an MCP-audience</a:t>
            </a:r>
          </a:p>
          <a:p>
            <a:pPr>
              <a:lnSpc>
                <a:spcPts val="1972"/>
              </a:lnSpc>
              <a:spcBef>
                <a:spcPts val="0"/>
              </a:spcBef>
              <a:spcAft>
                <a:spcPts val="0"/>
              </a:spcAft>
              <a:defRPr sz="1700" b="0">
                <a:solidFill>
                  <a:srgbClr val="163640"/>
                </a:solidFill>
                <a:latin typeface="DejaVu Sans"/>
              </a:defRPr>
            </a:pPr>
            <a:r>
              <a:t>token at the API</a:t>
            </a:r>
          </a:p>
        </p:txBody>
      </p:sp>
      <p:sp>
        <p:nvSpPr>
          <p:cNvPr id="12" name="TextBox 11"/>
          <p:cNvSpPr txBox="1"/>
          <p:nvPr/>
        </p:nvSpPr>
        <p:spPr>
          <a:xfrm>
            <a:off x="4023360" y="2743200"/>
            <a:ext cx="3700272" cy="137795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401</a:t>
            </a:r>
          </a:p>
        </p:txBody>
      </p:sp>
      <p:sp>
        <p:nvSpPr>
          <p:cNvPr id="13" name="TextBox 12"/>
          <p:cNvSpPr txBox="1"/>
          <p:nvPr/>
        </p:nvSpPr>
        <p:spPr>
          <a:xfrm>
            <a:off x="8028432" y="2743200"/>
            <a:ext cx="3477768" cy="137795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Correct API audience</a:t>
            </a:r>
          </a:p>
        </p:txBody>
      </p:sp>
      <p:sp>
        <p:nvSpPr>
          <p:cNvPr id="14" name="Rectangle 13"/>
          <p:cNvSpPr/>
          <p:nvPr/>
        </p:nvSpPr>
        <p:spPr>
          <a:xfrm>
            <a:off x="533400" y="4146550"/>
            <a:ext cx="11125200" cy="1492250"/>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235450"/>
            <a:ext cx="3032760" cy="137795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Use a read-only token to</a:t>
            </a:r>
          </a:p>
          <a:p>
            <a:pPr>
              <a:lnSpc>
                <a:spcPts val="1972"/>
              </a:lnSpc>
              <a:spcBef>
                <a:spcPts val="0"/>
              </a:spcBef>
              <a:spcAft>
                <a:spcPts val="0"/>
              </a:spcAft>
              <a:defRPr sz="1700" b="0">
                <a:solidFill>
                  <a:srgbClr val="163640"/>
                </a:solidFill>
                <a:latin typeface="DejaVu Sans"/>
              </a:defRPr>
            </a:pPr>
            <a:r>
              <a:t>write a payment</a:t>
            </a:r>
          </a:p>
        </p:txBody>
      </p:sp>
      <p:sp>
        <p:nvSpPr>
          <p:cNvPr id="16" name="TextBox 15"/>
          <p:cNvSpPr txBox="1"/>
          <p:nvPr/>
        </p:nvSpPr>
        <p:spPr>
          <a:xfrm>
            <a:off x="4023360" y="4235450"/>
            <a:ext cx="3700272" cy="137795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403</a:t>
            </a:r>
          </a:p>
        </p:txBody>
      </p:sp>
      <p:sp>
        <p:nvSpPr>
          <p:cNvPr id="17" name="TextBox 16"/>
          <p:cNvSpPr txBox="1"/>
          <p:nvPr/>
        </p:nvSpPr>
        <p:spPr>
          <a:xfrm>
            <a:off x="8028432" y="4235450"/>
            <a:ext cx="3477768" cy="137795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Payment-write scope</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The direct API path must enforce its own audience and scope checks.</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13 / 29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FF99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FF9982"/>
                </a:solidFill>
                <a:latin typeface="DejaVu Sans"/>
              </a:defRPr>
            </a:pPr>
            <a:r>
              <a:t>WORKSHOP 4  /  60–67 MIN</a:t>
            </a:r>
          </a:p>
        </p:txBody>
      </p:sp>
      <p:sp>
        <p:nvSpPr>
          <p:cNvPr id="5" name="TextBox 4"/>
          <p:cNvSpPr txBox="1"/>
          <p:nvPr/>
        </p:nvSpPr>
        <p:spPr>
          <a:xfrm>
            <a:off x="533400" y="1358900"/>
            <a:ext cx="11049000" cy="2260600"/>
          </a:xfrm>
          <a:prstGeom prst="rect">
            <a:avLst/>
          </a:prstGeom>
          <a:noFill/>
        </p:spPr>
        <p:txBody>
          <a:bodyPr wrap="none" lIns="0" rIns="0" tIns="0" bIns="0" anchor="t">
            <a:spAutoFit/>
          </a:bodyPr>
          <a:lstStyle/>
          <a:p>
            <a:pPr>
              <a:lnSpc>
                <a:spcPts val="5059"/>
              </a:lnSpc>
              <a:spcBef>
                <a:spcPts val="0"/>
              </a:spcBef>
              <a:spcAft>
                <a:spcPts val="0"/>
              </a:spcAft>
              <a:defRPr sz="4400" b="1">
                <a:solidFill>
                  <a:srgbClr val="FFFFFF"/>
                </a:solidFill>
                <a:latin typeface="DejaVu Sans"/>
              </a:defRPr>
            </a:pPr>
            <a:r>
              <a:t>Break / checkpoint recovery</a:t>
            </a:r>
          </a:p>
        </p:txBody>
      </p:sp>
      <p:sp>
        <p:nvSpPr>
          <p:cNvPr id="6" name="TextBox 5"/>
          <p:cNvSpPr txBox="1"/>
          <p:nvPr/>
        </p:nvSpPr>
        <p:spPr>
          <a:xfrm>
            <a:off x="558800" y="3810000"/>
            <a:ext cx="10807700" cy="1536700"/>
          </a:xfrm>
          <a:prstGeom prst="rect">
            <a:avLst/>
          </a:prstGeom>
          <a:noFill/>
        </p:spPr>
        <p:txBody>
          <a:bodyPr wrap="none" lIns="0" rIns="0" tIns="0" bIns="0" anchor="t">
            <a:spAutoFit/>
          </a:bodyPr>
          <a:lstStyle/>
          <a:p>
            <a:pPr>
              <a:lnSpc>
                <a:spcPts val="3250"/>
              </a:lnSpc>
              <a:spcBef>
                <a:spcPts val="0"/>
              </a:spcBef>
              <a:spcAft>
                <a:spcPts val="0"/>
              </a:spcAft>
              <a:defRPr sz="2600" b="0">
                <a:solidFill>
                  <a:srgbClr val="C1D5D8"/>
                </a:solidFill>
                <a:latin typeface="DejaVu Sans"/>
              </a:defRPr>
            </a:pPr>
            <a:r>
              <a:t>Can the payment agent approve its own transaction?</a:t>
            </a:r>
          </a:p>
        </p:txBody>
      </p:sp>
      <p:sp>
        <p:nvSpPr>
          <p:cNvPr id="7" name="TextBox 6"/>
          <p:cNvSpPr txBox="1"/>
          <p:nvPr/>
        </p:nvSpPr>
        <p:spPr>
          <a:xfrm>
            <a:off x="558800" y="5829300"/>
            <a:ext cx="10960100" cy="571500"/>
          </a:xfrm>
          <a:prstGeom prst="rect">
            <a:avLst/>
          </a:prstGeom>
          <a:noFill/>
        </p:spPr>
        <p:txBody>
          <a:bodyPr wrap="none" lIns="0" rIns="0" tIns="0" bIns="0" anchor="t">
            <a:spAutoFit/>
          </a:bodyPr>
          <a:lstStyle/>
          <a:p>
            <a:pPr>
              <a:lnSpc>
                <a:spcPts val="2125"/>
              </a:lnSpc>
              <a:spcBef>
                <a:spcPts val="0"/>
              </a:spcBef>
              <a:spcAft>
                <a:spcPts val="0"/>
              </a:spcAft>
              <a:defRPr sz="1700" b="1">
                <a:solidFill>
                  <a:srgbClr val="FF9982"/>
                </a:solidFill>
                <a:latin typeface="DejaVu Sans"/>
              </a:defRPr>
            </a:pPr>
            <a:r>
              <a:t>Seven-minute break. Facilitator restores stalled local checkpoints.</a:t>
            </a:r>
          </a:p>
        </p:txBody>
      </p:sp>
      <p:sp>
        <p:nvSpPr>
          <p:cNvPr id="8" name="TextBox 7"/>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AAC0C6"/>
                </a:solidFill>
                <a:latin typeface="DejaVu Sans"/>
              </a:defRPr>
            </a:pPr>
            <a:r>
              <a:t>FLO BANK  /  WORKSHOP 4  /  FICTIONAL LAB</a:t>
            </a:r>
          </a:p>
        </p:txBody>
      </p:sp>
      <p:sp>
        <p:nvSpPr>
          <p:cNvPr id="9" name="TextBox 8"/>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AAC0C6"/>
                </a:solidFill>
                <a:latin typeface="DejaVu Sans"/>
              </a:defRPr>
            </a:pPr>
            <a:r>
              <a:t>14 / 29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67–85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Identity must narrow at the next boundary</a:t>
            </a:r>
          </a:p>
        </p:txBody>
      </p:sp>
      <p:sp>
        <p:nvSpPr>
          <p:cNvPr id="6" name="Rounded Rectangle 5"/>
          <p:cNvSpPr/>
          <p:nvPr/>
        </p:nvSpPr>
        <p:spPr>
          <a:xfrm>
            <a:off x="53340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390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01</a:t>
            </a:r>
          </a:p>
        </p:txBody>
      </p:sp>
      <p:sp>
        <p:nvSpPr>
          <p:cNvPr id="8" name="TextBox 7"/>
          <p:cNvSpPr txBox="1"/>
          <p:nvPr/>
        </p:nvSpPr>
        <p:spPr>
          <a:xfrm>
            <a:off x="72390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Principal</a:t>
            </a:r>
          </a:p>
        </p:txBody>
      </p:sp>
      <p:sp>
        <p:nvSpPr>
          <p:cNvPr id="9" name="TextBox 8"/>
          <p:cNvSpPr txBox="1"/>
          <p:nvPr/>
        </p:nvSpPr>
        <p:spPr>
          <a:xfrm>
            <a:off x="72390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Validated subject +</a:t>
            </a:r>
          </a:p>
          <a:p>
            <a:pPr>
              <a:lnSpc>
                <a:spcPts val="2125"/>
              </a:lnSpc>
              <a:spcBef>
                <a:spcPts val="0"/>
              </a:spcBef>
              <a:spcAft>
                <a:spcPts val="0"/>
              </a:spcAft>
              <a:defRPr sz="1700" b="0">
                <a:solidFill>
                  <a:srgbClr val="163640"/>
                </a:solidFill>
                <a:latin typeface="DejaVu Sans"/>
              </a:defRPr>
            </a:pPr>
            <a:r>
              <a:t>role</a:t>
            </a:r>
          </a:p>
        </p:txBody>
      </p:sp>
      <p:sp>
        <p:nvSpPr>
          <p:cNvPr id="10" name="TextBox 9"/>
          <p:cNvSpPr txBox="1"/>
          <p:nvPr/>
        </p:nvSpPr>
        <p:spPr>
          <a:xfrm>
            <a:off x="314325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1" name="Rounded Rectangle 10"/>
          <p:cNvSpPr/>
          <p:nvPr/>
        </p:nvSpPr>
        <p:spPr>
          <a:xfrm>
            <a:off x="338455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7505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02</a:t>
            </a:r>
          </a:p>
        </p:txBody>
      </p:sp>
      <p:sp>
        <p:nvSpPr>
          <p:cNvPr id="13" name="TextBox 12"/>
          <p:cNvSpPr txBox="1"/>
          <p:nvPr/>
        </p:nvSpPr>
        <p:spPr>
          <a:xfrm>
            <a:off x="357505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Exchange</a:t>
            </a:r>
          </a:p>
        </p:txBody>
      </p:sp>
      <p:sp>
        <p:nvSpPr>
          <p:cNvPr id="14" name="TextBox 13"/>
          <p:cNvSpPr txBox="1"/>
          <p:nvPr/>
        </p:nvSpPr>
        <p:spPr>
          <a:xfrm>
            <a:off x="357505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Check requested</a:t>
            </a:r>
          </a:p>
          <a:p>
            <a:pPr>
              <a:lnSpc>
                <a:spcPts val="2125"/>
              </a:lnSpc>
              <a:spcBef>
                <a:spcPts val="0"/>
              </a:spcBef>
              <a:spcAft>
                <a:spcPts val="0"/>
              </a:spcAft>
              <a:defRPr sz="1700" b="0">
                <a:solidFill>
                  <a:srgbClr val="163640"/>
                </a:solidFill>
                <a:latin typeface="DejaVu Sans"/>
              </a:defRPr>
            </a:pPr>
            <a:r>
              <a:t>entitlement</a:t>
            </a:r>
          </a:p>
        </p:txBody>
      </p:sp>
      <p:sp>
        <p:nvSpPr>
          <p:cNvPr id="15" name="TextBox 14"/>
          <p:cNvSpPr txBox="1"/>
          <p:nvPr/>
        </p:nvSpPr>
        <p:spPr>
          <a:xfrm>
            <a:off x="599440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6" name="Rounded Rectangle 15"/>
          <p:cNvSpPr/>
          <p:nvPr/>
        </p:nvSpPr>
        <p:spPr>
          <a:xfrm>
            <a:off x="623570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620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03</a:t>
            </a:r>
          </a:p>
        </p:txBody>
      </p:sp>
      <p:sp>
        <p:nvSpPr>
          <p:cNvPr id="18" name="TextBox 17"/>
          <p:cNvSpPr txBox="1"/>
          <p:nvPr/>
        </p:nvSpPr>
        <p:spPr>
          <a:xfrm>
            <a:off x="642620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API token</a:t>
            </a:r>
          </a:p>
        </p:txBody>
      </p:sp>
      <p:sp>
        <p:nvSpPr>
          <p:cNvPr id="19" name="TextBox 18"/>
          <p:cNvSpPr txBox="1"/>
          <p:nvPr/>
        </p:nvSpPr>
        <p:spPr>
          <a:xfrm>
            <a:off x="642620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Correct audience +</a:t>
            </a:r>
          </a:p>
          <a:p>
            <a:pPr>
              <a:lnSpc>
                <a:spcPts val="2125"/>
              </a:lnSpc>
              <a:spcBef>
                <a:spcPts val="0"/>
              </a:spcBef>
              <a:spcAft>
                <a:spcPts val="0"/>
              </a:spcAft>
              <a:defRPr sz="1700" b="0">
                <a:solidFill>
                  <a:srgbClr val="163640"/>
                </a:solidFill>
                <a:latin typeface="DejaVu Sans"/>
              </a:defRPr>
            </a:pPr>
            <a:r>
              <a:t>limited scopes</a:t>
            </a:r>
          </a:p>
        </p:txBody>
      </p:sp>
      <p:sp>
        <p:nvSpPr>
          <p:cNvPr id="20" name="TextBox 19"/>
          <p:cNvSpPr txBox="1"/>
          <p:nvPr/>
        </p:nvSpPr>
        <p:spPr>
          <a:xfrm>
            <a:off x="884555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21" name="Rounded Rectangle 20"/>
          <p:cNvSpPr/>
          <p:nvPr/>
        </p:nvSpPr>
        <p:spPr>
          <a:xfrm>
            <a:off x="908685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7735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04</a:t>
            </a:r>
          </a:p>
        </p:txBody>
      </p:sp>
      <p:sp>
        <p:nvSpPr>
          <p:cNvPr id="23" name="TextBox 22"/>
          <p:cNvSpPr txBox="1"/>
          <p:nvPr/>
        </p:nvSpPr>
        <p:spPr>
          <a:xfrm>
            <a:off x="927735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Banking API</a:t>
            </a:r>
          </a:p>
        </p:txBody>
      </p:sp>
      <p:sp>
        <p:nvSpPr>
          <p:cNvPr id="24" name="TextBox 23"/>
          <p:cNvSpPr txBox="1"/>
          <p:nvPr/>
        </p:nvSpPr>
        <p:spPr>
          <a:xfrm>
            <a:off x="927735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Verify on every</a:t>
            </a:r>
          </a:p>
          <a:p>
            <a:pPr>
              <a:lnSpc>
                <a:spcPts val="2125"/>
              </a:lnSpc>
              <a:spcBef>
                <a:spcPts val="0"/>
              </a:spcBef>
              <a:spcAft>
                <a:spcPts val="0"/>
              </a:spcAft>
              <a:defRPr sz="1700" b="0">
                <a:solidFill>
                  <a:srgbClr val="163640"/>
                </a:solidFill>
                <a:latin typeface="DejaVu Sans"/>
              </a:defRPr>
            </a:pPr>
            <a:r>
              <a:t>request</a:t>
            </a:r>
          </a:p>
        </p:txBody>
      </p:sp>
      <p:sp>
        <p:nvSpPr>
          <p:cNvPr id="25" name="Rounded Rectangle 24"/>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A valid signature proves origin; audience and scope constrain intended use.</a:t>
            </a:r>
          </a:p>
        </p:txBody>
      </p:sp>
      <p:sp>
        <p:nvSpPr>
          <p:cNvPr id="27" name="TextBox 26"/>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8" name="TextBox 27"/>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15 / 29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67–85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Exercise: request only an entitled scope</a:t>
            </a:r>
          </a:p>
        </p:txBody>
      </p:sp>
      <p:sp>
        <p:nvSpPr>
          <p:cNvPr id="6" name="TextBox 5"/>
          <p:cNvSpPr txBox="1"/>
          <p:nvPr/>
        </p:nvSpPr>
        <p:spPr>
          <a:xfrm>
            <a:off x="546100" y="1841500"/>
            <a:ext cx="11061700" cy="736600"/>
          </a:xfrm>
          <a:prstGeom prst="rect">
            <a:avLst/>
          </a:prstGeom>
          <a:noFill/>
        </p:spPr>
        <p:txBody>
          <a:bodyPr wrap="none" lIns="0" rIns="0" tIns="0" bIns="0" anchor="t">
            <a:spAutoFit/>
          </a:bodyPr>
          <a:lstStyle/>
          <a:p>
            <a:pPr>
              <a:lnSpc>
                <a:spcPts val="2250"/>
              </a:lnSpc>
              <a:spcBef>
                <a:spcPts val="0"/>
              </a:spcBef>
              <a:spcAft>
                <a:spcPts val="0"/>
              </a:spcAft>
              <a:defRPr sz="1800" b="0">
                <a:solidFill>
                  <a:srgbClr val="536B73"/>
                </a:solidFill>
                <a:latin typeface="DejaVu Sans"/>
              </a:defRPr>
            </a:pPr>
            <a:r>
              <a:t>The initial viewer request asks for payment-write authority.</a:t>
            </a:r>
          </a:p>
        </p:txBody>
      </p:sp>
      <p:sp>
        <p:nvSpPr>
          <p:cNvPr id="7" name="Rounded Rectangle 6"/>
          <p:cNvSpPr/>
          <p:nvPr/>
        </p:nvSpPr>
        <p:spPr>
          <a:xfrm>
            <a:off x="533400" y="2730500"/>
            <a:ext cx="11125200" cy="2908300"/>
          </a:xfrm>
          <a:prstGeom prst="roundRect">
            <a:avLst>
              <a:gd name="adj" fmla="val 6000"/>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921000"/>
            <a:ext cx="10414000" cy="317500"/>
          </a:xfrm>
          <a:prstGeom prst="rect">
            <a:avLst/>
          </a:prstGeom>
          <a:noFill/>
        </p:spPr>
        <p:txBody>
          <a:bodyPr wrap="none" lIns="0" rIns="0" tIns="0" bIns="0" anchor="t">
            <a:spAutoFit/>
          </a:bodyPr>
          <a:lstStyle/>
          <a:p>
            <a:pPr>
              <a:lnSpc>
                <a:spcPts val="1250"/>
              </a:lnSpc>
              <a:spcBef>
                <a:spcPts val="0"/>
              </a:spcBef>
              <a:spcAft>
                <a:spcPts val="0"/>
              </a:spcAft>
              <a:defRPr sz="1000" b="1">
                <a:solidFill>
                  <a:srgbClr val="FF9982"/>
                </a:solidFill>
                <a:latin typeface="DejaVu Sans"/>
              </a:defRPr>
            </a:pPr>
            <a:r>
              <a:t>TERMINAL  /  FROM REPOSITORY ROOT</a:t>
            </a:r>
          </a:p>
        </p:txBody>
      </p:sp>
      <p:sp>
        <p:nvSpPr>
          <p:cNvPr id="9" name="TextBox 8"/>
          <p:cNvSpPr txBox="1"/>
          <p:nvPr/>
        </p:nvSpPr>
        <p:spPr>
          <a:xfrm>
            <a:off x="774700" y="3416300"/>
            <a:ext cx="10629900" cy="2032000"/>
          </a:xfrm>
          <a:prstGeom prst="rect">
            <a:avLst/>
          </a:prstGeom>
          <a:noFill/>
        </p:spPr>
        <p:txBody>
          <a:bodyPr wrap="none" lIns="0" rIns="0" tIns="0" bIns="0" anchor="t">
            <a:spAutoFit/>
          </a:bodyPr>
          <a:lstStyle/>
          <a:p>
            <a:pPr>
              <a:lnSpc>
                <a:spcPts val="2379"/>
              </a:lnSpc>
              <a:spcBef>
                <a:spcPts val="0"/>
              </a:spcBef>
              <a:spcAft>
                <a:spcPts val="0"/>
              </a:spcAft>
              <a:defRPr sz="1700" b="0">
                <a:solidFill>
                  <a:srgbClr val="FFFFFF"/>
                </a:solidFill>
                <a:latin typeface="DejaVu Sans Mono"/>
              </a:defRPr>
            </a:pPr>
            <a:r>
              <a:t>.venv/bin/python workshops/w4/exercise_exchange.py initial</a:t>
            </a:r>
          </a:p>
          <a:p>
            <a:pPr>
              <a:lnSpc>
                <a:spcPts val="2379"/>
              </a:lnSpc>
              <a:spcBef>
                <a:spcPts val="0"/>
              </a:spcBef>
              <a:spcAft>
                <a:spcPts val="0"/>
              </a:spcAft>
              <a:defRPr sz="1700" b="0">
                <a:solidFill>
                  <a:srgbClr val="FFFFFF"/>
                </a:solidFill>
                <a:latin typeface="DejaVu Sans Mono"/>
              </a:defRPr>
            </a:pPr>
          </a:p>
          <a:p>
            <a:pPr>
              <a:lnSpc>
                <a:spcPts val="2379"/>
              </a:lnSpc>
              <a:spcBef>
                <a:spcPts val="0"/>
              </a:spcBef>
              <a:spcAft>
                <a:spcPts val="0"/>
              </a:spcAft>
              <a:defRPr sz="1700" b="0">
                <a:solidFill>
                  <a:srgbClr val="FFFFFF"/>
                </a:solidFill>
                <a:latin typeface="DejaVu Sans Mono"/>
              </a:defRPr>
            </a:pPr>
            <a:r>
              <a:t># In checkpoints/initial/identity.json, change requested_scope</a:t>
            </a:r>
          </a:p>
          <a:p>
            <a:pPr>
              <a:lnSpc>
                <a:spcPts val="2379"/>
              </a:lnSpc>
              <a:spcBef>
                <a:spcPts val="0"/>
              </a:spcBef>
              <a:spcAft>
                <a:spcPts val="0"/>
              </a:spcAft>
              <a:defRPr sz="1700" b="0">
                <a:solidFill>
                  <a:srgbClr val="FFFFFF"/>
                </a:solidFill>
                <a:latin typeface="DejaVu Sans Mono"/>
              </a:defRPr>
            </a:pPr>
            <a:r>
              <a:t># from api:payments:write to api:accounts:read, then rerun.</a:t>
            </a:r>
          </a:p>
          <a:p>
            <a:pPr>
              <a:lnSpc>
                <a:spcPts val="2379"/>
              </a:lnSpc>
              <a:spcBef>
                <a:spcPts val="0"/>
              </a:spcBef>
              <a:spcAft>
                <a:spcPts val="0"/>
              </a:spcAft>
              <a:defRPr sz="1700" b="0">
                <a:solidFill>
                  <a:srgbClr val="FFFFFF"/>
                </a:solidFill>
                <a:latin typeface="DejaVu Sans Mono"/>
              </a:defRPr>
            </a:pPr>
          </a:p>
          <a:p>
            <a:pPr>
              <a:lnSpc>
                <a:spcPts val="2379"/>
              </a:lnSpc>
              <a:spcBef>
                <a:spcPts val="0"/>
              </a:spcBef>
              <a:spcAft>
                <a:spcPts val="0"/>
              </a:spcAft>
              <a:defRPr sz="1700" b="0">
                <a:solidFill>
                  <a:srgbClr val="FFFFFF"/>
                </a:solidFill>
                <a:latin typeface="DejaVu Sans Mono"/>
              </a:defRPr>
            </a:pPr>
            <a:r>
              <a:t>.venv/bin/python workshops/w4/exercise_exchange.py completed</a:t>
            </a:r>
          </a:p>
        </p:txBody>
      </p:sp>
      <p:sp>
        <p:nvSpPr>
          <p:cNvPr id="10" name="Rounded Rectangle 9"/>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Original request: 403. Corrected/completed read-scope request: 200.</a:t>
            </a:r>
          </a:p>
        </p:txBody>
      </p:sp>
      <p:sp>
        <p:nvSpPr>
          <p:cNvPr id="12" name="TextBox 11"/>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13" name="TextBox 12"/>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16 / 29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67–85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Explain the identity evidence</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3032760"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Scenario</a:t>
            </a:r>
          </a:p>
        </p:txBody>
      </p:sp>
      <p:sp>
        <p:nvSpPr>
          <p:cNvPr id="8" name="TextBox 7"/>
          <p:cNvSpPr txBox="1"/>
          <p:nvPr/>
        </p:nvSpPr>
        <p:spPr>
          <a:xfrm>
            <a:off x="4023360" y="2273300"/>
            <a:ext cx="3700272"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Expected response</a:t>
            </a:r>
          </a:p>
        </p:txBody>
      </p:sp>
      <p:sp>
        <p:nvSpPr>
          <p:cNvPr id="9" name="TextBox 8"/>
          <p:cNvSpPr txBox="1"/>
          <p:nvPr/>
        </p:nvSpPr>
        <p:spPr>
          <a:xfrm>
            <a:off x="8028432" y="2273300"/>
            <a:ext cx="347776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Save</a:t>
            </a:r>
          </a:p>
        </p:txBody>
      </p:sp>
      <p:sp>
        <p:nvSpPr>
          <p:cNvPr id="10" name="Rectangle 9"/>
          <p:cNvSpPr/>
          <p:nvPr/>
        </p:nvSpPr>
        <p:spPr>
          <a:xfrm>
            <a:off x="533400" y="265430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Viewer requests</a:t>
            </a:r>
          </a:p>
          <a:p>
            <a:pPr>
              <a:lnSpc>
                <a:spcPts val="1972"/>
              </a:lnSpc>
              <a:spcBef>
                <a:spcPts val="0"/>
              </a:spcBef>
              <a:spcAft>
                <a:spcPts val="0"/>
              </a:spcAft>
              <a:defRPr sz="1700" b="0">
                <a:solidFill>
                  <a:srgbClr val="163640"/>
                </a:solidFill>
                <a:latin typeface="DejaVu Sans"/>
              </a:defRPr>
            </a:pPr>
            <a:r>
              <a:t>payment-write scope</a:t>
            </a:r>
          </a:p>
        </p:txBody>
      </p:sp>
      <p:sp>
        <p:nvSpPr>
          <p:cNvPr id="12" name="TextBox 11"/>
          <p:cNvSpPr txBox="1"/>
          <p:nvPr/>
        </p:nvSpPr>
        <p:spPr>
          <a:xfrm>
            <a:off x="4023360" y="2743200"/>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403 entitlement denial</a:t>
            </a:r>
          </a:p>
        </p:txBody>
      </p:sp>
      <p:sp>
        <p:nvSpPr>
          <p:cNvPr id="13" name="TextBox 12"/>
          <p:cNvSpPr txBox="1"/>
          <p:nvPr/>
        </p:nvSpPr>
        <p:spPr>
          <a:xfrm>
            <a:off x="8028432" y="2743200"/>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Requested scope + decision</a:t>
            </a:r>
          </a:p>
        </p:txBody>
      </p:sp>
      <p:sp>
        <p:nvSpPr>
          <p:cNvPr id="14" name="Rectangle 13"/>
          <p:cNvSpPr/>
          <p:nvPr/>
        </p:nvSpPr>
        <p:spPr>
          <a:xfrm>
            <a:off x="533400" y="340042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89325"/>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Viewer requests</a:t>
            </a:r>
          </a:p>
          <a:p>
            <a:pPr>
              <a:lnSpc>
                <a:spcPts val="1972"/>
              </a:lnSpc>
              <a:spcBef>
                <a:spcPts val="0"/>
              </a:spcBef>
              <a:spcAft>
                <a:spcPts val="0"/>
              </a:spcAft>
              <a:defRPr sz="1700" b="0">
                <a:solidFill>
                  <a:srgbClr val="163640"/>
                </a:solidFill>
                <a:latin typeface="DejaVu Sans"/>
              </a:defRPr>
            </a:pPr>
            <a:r>
              <a:t>account-read scope</a:t>
            </a:r>
          </a:p>
        </p:txBody>
      </p:sp>
      <p:sp>
        <p:nvSpPr>
          <p:cNvPr id="16" name="TextBox 15"/>
          <p:cNvSpPr txBox="1"/>
          <p:nvPr/>
        </p:nvSpPr>
        <p:spPr>
          <a:xfrm>
            <a:off x="4023360" y="3489325"/>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200 permitted exchange</a:t>
            </a:r>
          </a:p>
        </p:txBody>
      </p:sp>
      <p:sp>
        <p:nvSpPr>
          <p:cNvPr id="17" name="TextBox 16"/>
          <p:cNvSpPr txBox="1"/>
          <p:nvPr/>
        </p:nvSpPr>
        <p:spPr>
          <a:xfrm>
            <a:off x="8028432" y="3489325"/>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Sanitized audience + scopes</a:t>
            </a:r>
          </a:p>
        </p:txBody>
      </p:sp>
      <p:sp>
        <p:nvSpPr>
          <p:cNvPr id="18" name="Rectangle 17"/>
          <p:cNvSpPr/>
          <p:nvPr/>
        </p:nvSpPr>
        <p:spPr>
          <a:xfrm>
            <a:off x="533400" y="414655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235450"/>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MCP token sent to banking</a:t>
            </a:r>
          </a:p>
          <a:p>
            <a:pPr>
              <a:lnSpc>
                <a:spcPts val="1972"/>
              </a:lnSpc>
              <a:spcBef>
                <a:spcPts val="0"/>
              </a:spcBef>
              <a:spcAft>
                <a:spcPts val="0"/>
              </a:spcAft>
              <a:defRPr sz="1700" b="0">
                <a:solidFill>
                  <a:srgbClr val="163640"/>
                </a:solidFill>
                <a:latin typeface="DejaVu Sans"/>
              </a:defRPr>
            </a:pPr>
            <a:r>
              <a:t>API</a:t>
            </a:r>
          </a:p>
        </p:txBody>
      </p:sp>
      <p:sp>
        <p:nvSpPr>
          <p:cNvPr id="20" name="TextBox 19"/>
          <p:cNvSpPr txBox="1"/>
          <p:nvPr/>
        </p:nvSpPr>
        <p:spPr>
          <a:xfrm>
            <a:off x="4023360" y="4235450"/>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401 audience denial</a:t>
            </a:r>
          </a:p>
        </p:txBody>
      </p:sp>
      <p:sp>
        <p:nvSpPr>
          <p:cNvPr id="21" name="TextBox 20"/>
          <p:cNvSpPr txBox="1"/>
          <p:nvPr/>
        </p:nvSpPr>
        <p:spPr>
          <a:xfrm>
            <a:off x="8028432" y="4235450"/>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Boundary response</a:t>
            </a:r>
          </a:p>
        </p:txBody>
      </p:sp>
      <p:sp>
        <p:nvSpPr>
          <p:cNvPr id="22" name="Rectangle 21"/>
          <p:cNvSpPr/>
          <p:nvPr/>
        </p:nvSpPr>
        <p:spPr>
          <a:xfrm>
            <a:off x="533400" y="489267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981575"/>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Read token attempts</a:t>
            </a:r>
          </a:p>
          <a:p>
            <a:pPr>
              <a:lnSpc>
                <a:spcPts val="1972"/>
              </a:lnSpc>
              <a:spcBef>
                <a:spcPts val="0"/>
              </a:spcBef>
              <a:spcAft>
                <a:spcPts val="0"/>
              </a:spcAft>
              <a:defRPr sz="1700" b="0">
                <a:solidFill>
                  <a:srgbClr val="163640"/>
                </a:solidFill>
                <a:latin typeface="DejaVu Sans"/>
              </a:defRPr>
            </a:pPr>
            <a:r>
              <a:t>payment</a:t>
            </a:r>
          </a:p>
        </p:txBody>
      </p:sp>
      <p:sp>
        <p:nvSpPr>
          <p:cNvPr id="24" name="TextBox 23"/>
          <p:cNvSpPr txBox="1"/>
          <p:nvPr/>
        </p:nvSpPr>
        <p:spPr>
          <a:xfrm>
            <a:off x="4023360" y="4981575"/>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403 scope denial</a:t>
            </a:r>
          </a:p>
        </p:txBody>
      </p:sp>
      <p:sp>
        <p:nvSpPr>
          <p:cNvPr id="25" name="TextBox 24"/>
          <p:cNvSpPr txBox="1"/>
          <p:nvPr/>
        </p:nvSpPr>
        <p:spPr>
          <a:xfrm>
            <a:off x="8028432" y="4981575"/>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Zero ledger change</a:t>
            </a:r>
          </a:p>
        </p:txBody>
      </p:sp>
      <p:sp>
        <p:nvSpPr>
          <p:cNvPr id="26" name="Rounded Rectangle 25"/>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Keep issued tokens and signing keys out of exported evidence.</a:t>
            </a:r>
          </a:p>
        </p:txBody>
      </p:sp>
      <p:sp>
        <p:nvSpPr>
          <p:cNvPr id="28" name="TextBox 27"/>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9" name="TextBox 28"/>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17 / 29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85–103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Approval attaches to one exact transaction</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REVIEW THE VALUES</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Source account</a:t>
            </a:r>
          </a:p>
          <a:p>
            <a:pPr>
              <a:lnSpc>
                <a:spcPts val="2625"/>
              </a:lnSpc>
              <a:spcBef>
                <a:spcPts val="0"/>
              </a:spcBef>
              <a:spcAft>
                <a:spcPts val="0"/>
              </a:spcAft>
              <a:defRPr sz="2100" b="0">
                <a:solidFill>
                  <a:srgbClr val="163640"/>
                </a:solidFill>
                <a:latin typeface="DejaVu Sans"/>
              </a:defRPr>
            </a:pPr>
            <a:r>
              <a:t>Amount in paise</a:t>
            </a:r>
          </a:p>
          <a:p>
            <a:pPr>
              <a:lnSpc>
                <a:spcPts val="2625"/>
              </a:lnSpc>
              <a:spcBef>
                <a:spcPts val="0"/>
              </a:spcBef>
              <a:spcAft>
                <a:spcPts val="0"/>
              </a:spcAft>
              <a:defRPr sz="2100" b="0">
                <a:solidFill>
                  <a:srgbClr val="163640"/>
                </a:solidFill>
                <a:latin typeface="DejaVu Sans"/>
              </a:defRPr>
            </a:pPr>
            <a:r>
              <a:t>Currency</a:t>
            </a:r>
          </a:p>
          <a:p>
            <a:pPr>
              <a:lnSpc>
                <a:spcPts val="2625"/>
              </a:lnSpc>
              <a:spcBef>
                <a:spcPts val="0"/>
              </a:spcBef>
              <a:spcAft>
                <a:spcPts val="0"/>
              </a:spcAft>
              <a:defRPr sz="2100" b="0">
                <a:solidFill>
                  <a:srgbClr val="163640"/>
                </a:solidFill>
                <a:latin typeface="DejaVu Sans"/>
              </a:defRPr>
            </a:pPr>
            <a:r>
              <a:t>Beneficiary</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REVIEW THE CONTEXT</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Proposal ID</a:t>
            </a:r>
          </a:p>
          <a:p>
            <a:pPr>
              <a:lnSpc>
                <a:spcPts val="2625"/>
              </a:lnSpc>
              <a:spcBef>
                <a:spcPts val="0"/>
              </a:spcBef>
              <a:spcAft>
                <a:spcPts val="0"/>
              </a:spcAft>
              <a:defRPr sz="2100" b="0">
                <a:solidFill>
                  <a:srgbClr val="163640"/>
                </a:solidFill>
                <a:latin typeface="DejaVu Sans"/>
              </a:defRPr>
            </a:pPr>
            <a:r>
              <a:t>Task ID</a:t>
            </a:r>
          </a:p>
          <a:p>
            <a:pPr>
              <a:lnSpc>
                <a:spcPts val="2625"/>
              </a:lnSpc>
              <a:spcBef>
                <a:spcPts val="0"/>
              </a:spcBef>
              <a:spcAft>
                <a:spcPts val="0"/>
              </a:spcAft>
              <a:defRPr sz="2100" b="0">
                <a:solidFill>
                  <a:srgbClr val="163640"/>
                </a:solidFill>
                <a:latin typeface="DejaVu Sans"/>
              </a:defRPr>
            </a:pPr>
            <a:r>
              <a:t>Expiry</a:t>
            </a:r>
          </a:p>
          <a:p>
            <a:pPr>
              <a:lnSpc>
                <a:spcPts val="2625"/>
              </a:lnSpc>
              <a:spcBef>
                <a:spcPts val="0"/>
              </a:spcBef>
              <a:spcAft>
                <a:spcPts val="0"/>
              </a:spcAft>
              <a:defRPr sz="2100" b="0">
                <a:solidFill>
                  <a:srgbClr val="163640"/>
                </a:solidFill>
                <a:latin typeface="DejaVu Sans"/>
              </a:defRPr>
            </a:pPr>
            <a:r>
              <a:t>Independent reviewer</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EXPECTED RESULT</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562"/>
              </a:lnSpc>
              <a:spcBef>
                <a:spcPts val="0"/>
              </a:spcBef>
              <a:spcAft>
                <a:spcPts val="0"/>
              </a:spcAft>
              <a:defRPr sz="2050" b="0">
                <a:solidFill>
                  <a:srgbClr val="163640"/>
                </a:solidFill>
                <a:latin typeface="DejaVu Sans"/>
              </a:defRPr>
            </a:pPr>
            <a:r>
              <a:t>₹1,500 / 150,000</a:t>
            </a:r>
          </a:p>
          <a:p>
            <a:pPr>
              <a:lnSpc>
                <a:spcPts val="2562"/>
              </a:lnSpc>
              <a:spcBef>
                <a:spcPts val="0"/>
              </a:spcBef>
              <a:spcAft>
                <a:spcPts val="0"/>
              </a:spcAft>
              <a:defRPr sz="2050" b="0">
                <a:solidFill>
                  <a:srgbClr val="163640"/>
                </a:solidFill>
                <a:latin typeface="DejaVu Sans"/>
              </a:defRPr>
            </a:pPr>
            <a:r>
              <a:t>paise</a:t>
            </a:r>
          </a:p>
          <a:p>
            <a:pPr>
              <a:lnSpc>
                <a:spcPts val="2562"/>
              </a:lnSpc>
              <a:spcBef>
                <a:spcPts val="0"/>
              </a:spcBef>
              <a:spcAft>
                <a:spcPts val="0"/>
              </a:spcAft>
              <a:defRPr sz="2050" b="0">
                <a:solidFill>
                  <a:srgbClr val="163640"/>
                </a:solidFill>
                <a:latin typeface="DejaVu Sans"/>
              </a:defRPr>
            </a:pPr>
            <a:r>
              <a:t>One approved</a:t>
            </a:r>
          </a:p>
          <a:p>
            <a:pPr>
              <a:lnSpc>
                <a:spcPts val="2562"/>
              </a:lnSpc>
              <a:spcBef>
                <a:spcPts val="0"/>
              </a:spcBef>
              <a:spcAft>
                <a:spcPts val="0"/>
              </a:spcAft>
              <a:defRPr sz="2050" b="0">
                <a:solidFill>
                  <a:srgbClr val="163640"/>
                </a:solidFill>
                <a:latin typeface="DejaVu Sans"/>
              </a:defRPr>
            </a:pPr>
            <a:r>
              <a:t>settlement</a:t>
            </a:r>
          </a:p>
          <a:p>
            <a:pPr>
              <a:lnSpc>
                <a:spcPts val="2562"/>
              </a:lnSpc>
              <a:spcBef>
                <a:spcPts val="0"/>
              </a:spcBef>
              <a:spcAft>
                <a:spcPts val="0"/>
              </a:spcAft>
              <a:defRPr sz="2050" b="0">
                <a:solidFill>
                  <a:srgbClr val="163640"/>
                </a:solidFill>
                <a:latin typeface="DejaVu Sans"/>
              </a:defRPr>
            </a:pPr>
            <a:r>
              <a:t>One actual payment</a:t>
            </a:r>
          </a:p>
          <a:p>
            <a:pPr>
              <a:lnSpc>
                <a:spcPts val="2562"/>
              </a:lnSpc>
              <a:spcBef>
                <a:spcPts val="0"/>
              </a:spcBef>
              <a:spcAft>
                <a:spcPts val="0"/>
              </a:spcAft>
              <a:defRPr sz="2050" b="0">
                <a:solidFill>
                  <a:srgbClr val="163640"/>
                </a:solidFill>
                <a:latin typeface="DejaVu Sans"/>
              </a:defRPr>
            </a:pPr>
            <a:r>
              <a:t>ID</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Create the legitimate-delegation proposal immediately before review.</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18 / 29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85–103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Use an independent reviewer session</a:t>
            </a:r>
          </a:p>
        </p:txBody>
      </p:sp>
      <p:sp>
        <p:nvSpPr>
          <p:cNvPr id="6" name="Rounded Rectangle 5"/>
          <p:cNvSpPr/>
          <p:nvPr/>
        </p:nvSpPr>
        <p:spPr>
          <a:xfrm>
            <a:off x="53340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390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01</a:t>
            </a:r>
          </a:p>
        </p:txBody>
      </p:sp>
      <p:sp>
        <p:nvSpPr>
          <p:cNvPr id="8" name="TextBox 7"/>
          <p:cNvSpPr txBox="1"/>
          <p:nvPr/>
        </p:nvSpPr>
        <p:spPr>
          <a:xfrm>
            <a:off x="72390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Requester</a:t>
            </a:r>
          </a:p>
        </p:txBody>
      </p:sp>
      <p:sp>
        <p:nvSpPr>
          <p:cNvPr id="9" name="TextBox 8"/>
          <p:cNvSpPr txBox="1"/>
          <p:nvPr/>
        </p:nvSpPr>
        <p:spPr>
          <a:xfrm>
            <a:off x="72390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Run legitimate</a:t>
            </a:r>
          </a:p>
          <a:p>
            <a:pPr>
              <a:lnSpc>
                <a:spcPts val="2125"/>
              </a:lnSpc>
              <a:spcBef>
                <a:spcPts val="0"/>
              </a:spcBef>
              <a:spcAft>
                <a:spcPts val="0"/>
              </a:spcAft>
              <a:defRPr sz="1700" b="0">
                <a:solidFill>
                  <a:srgbClr val="163640"/>
                </a:solidFill>
                <a:latin typeface="DejaVu Sans"/>
              </a:defRPr>
            </a:pPr>
            <a:r>
              <a:t>delegation</a:t>
            </a:r>
          </a:p>
        </p:txBody>
      </p:sp>
      <p:sp>
        <p:nvSpPr>
          <p:cNvPr id="10" name="TextBox 9"/>
          <p:cNvSpPr txBox="1"/>
          <p:nvPr/>
        </p:nvSpPr>
        <p:spPr>
          <a:xfrm>
            <a:off x="314325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1" name="Rounded Rectangle 10"/>
          <p:cNvSpPr/>
          <p:nvPr/>
        </p:nvSpPr>
        <p:spPr>
          <a:xfrm>
            <a:off x="338455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7505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02</a:t>
            </a:r>
          </a:p>
        </p:txBody>
      </p:sp>
      <p:sp>
        <p:nvSpPr>
          <p:cNvPr id="13" name="TextBox 12"/>
          <p:cNvSpPr txBox="1"/>
          <p:nvPr/>
        </p:nvSpPr>
        <p:spPr>
          <a:xfrm>
            <a:off x="357505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Reviewer</a:t>
            </a:r>
          </a:p>
        </p:txBody>
      </p:sp>
      <p:sp>
        <p:nvSpPr>
          <p:cNvPr id="14" name="TextBox 13"/>
          <p:cNvSpPr txBox="1"/>
          <p:nvPr/>
        </p:nvSpPr>
        <p:spPr>
          <a:xfrm>
            <a:off x="357505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Separate private</a:t>
            </a:r>
          </a:p>
          <a:p>
            <a:pPr>
              <a:lnSpc>
                <a:spcPts val="2125"/>
              </a:lnSpc>
              <a:spcBef>
                <a:spcPts val="0"/>
              </a:spcBef>
              <a:spcAft>
                <a:spcPts val="0"/>
              </a:spcAft>
              <a:defRPr sz="1700" b="0">
                <a:solidFill>
                  <a:srgbClr val="163640"/>
                </a:solidFill>
                <a:latin typeface="DejaVu Sans"/>
              </a:defRPr>
            </a:pPr>
            <a:r>
              <a:t>browser</a:t>
            </a:r>
          </a:p>
        </p:txBody>
      </p:sp>
      <p:sp>
        <p:nvSpPr>
          <p:cNvPr id="15" name="TextBox 14"/>
          <p:cNvSpPr txBox="1"/>
          <p:nvPr/>
        </p:nvSpPr>
        <p:spPr>
          <a:xfrm>
            <a:off x="599440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6" name="Rounded Rectangle 15"/>
          <p:cNvSpPr/>
          <p:nvPr/>
        </p:nvSpPr>
        <p:spPr>
          <a:xfrm>
            <a:off x="623570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620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03</a:t>
            </a:r>
          </a:p>
        </p:txBody>
      </p:sp>
      <p:sp>
        <p:nvSpPr>
          <p:cNvPr id="18" name="TextBox 17"/>
          <p:cNvSpPr txBox="1"/>
          <p:nvPr/>
        </p:nvSpPr>
        <p:spPr>
          <a:xfrm>
            <a:off x="642620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Authorize</a:t>
            </a:r>
          </a:p>
        </p:txBody>
      </p:sp>
      <p:sp>
        <p:nvSpPr>
          <p:cNvPr id="19" name="TextBox 18"/>
          <p:cNvSpPr txBox="1"/>
          <p:nvPr/>
        </p:nvSpPr>
        <p:spPr>
          <a:xfrm>
            <a:off x="642620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Reviewer password</a:t>
            </a:r>
          </a:p>
          <a:p>
            <a:pPr>
              <a:lnSpc>
                <a:spcPts val="2125"/>
              </a:lnSpc>
              <a:spcBef>
                <a:spcPts val="0"/>
              </a:spcBef>
              <a:spcAft>
                <a:spcPts val="0"/>
              </a:spcAft>
              <a:defRPr sz="1700" b="0">
                <a:solidFill>
                  <a:srgbClr val="163640"/>
                </a:solidFill>
                <a:latin typeface="DejaVu Sans"/>
              </a:defRPr>
            </a:pPr>
            <a:r>
              <a:t>+ exact review</a:t>
            </a:r>
          </a:p>
        </p:txBody>
      </p:sp>
      <p:sp>
        <p:nvSpPr>
          <p:cNvPr id="20" name="TextBox 19"/>
          <p:cNvSpPr txBox="1"/>
          <p:nvPr/>
        </p:nvSpPr>
        <p:spPr>
          <a:xfrm>
            <a:off x="884555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21" name="Rounded Rectangle 20"/>
          <p:cNvSpPr/>
          <p:nvPr/>
        </p:nvSpPr>
        <p:spPr>
          <a:xfrm>
            <a:off x="908685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7735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04</a:t>
            </a:r>
          </a:p>
        </p:txBody>
      </p:sp>
      <p:sp>
        <p:nvSpPr>
          <p:cNvPr id="23" name="TextBox 22"/>
          <p:cNvSpPr txBox="1"/>
          <p:nvPr/>
        </p:nvSpPr>
        <p:spPr>
          <a:xfrm>
            <a:off x="927735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Decide</a:t>
            </a:r>
          </a:p>
        </p:txBody>
      </p:sp>
      <p:sp>
        <p:nvSpPr>
          <p:cNvPr id="24" name="TextBox 23"/>
          <p:cNvSpPr txBox="1"/>
          <p:nvPr/>
        </p:nvSpPr>
        <p:spPr>
          <a:xfrm>
            <a:off x="927735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Approve or reject</a:t>
            </a:r>
          </a:p>
        </p:txBody>
      </p:sp>
      <p:sp>
        <p:nvSpPr>
          <p:cNvPr id="25" name="Rounded Rectangle 24"/>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Selecting “Independent reviewer” alone grants no authority.</a:t>
            </a:r>
          </a:p>
        </p:txBody>
      </p:sp>
      <p:sp>
        <p:nvSpPr>
          <p:cNvPr id="27" name="TextBox 26"/>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8" name="TextBox 27"/>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19 / 29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85–103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Attempt self approval and transaction tampering</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3032760"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Attempt</a:t>
            </a:r>
          </a:p>
        </p:txBody>
      </p:sp>
      <p:sp>
        <p:nvSpPr>
          <p:cNvPr id="8" name="TextBox 7"/>
          <p:cNvSpPr txBox="1"/>
          <p:nvPr/>
        </p:nvSpPr>
        <p:spPr>
          <a:xfrm>
            <a:off x="4023360" y="2273300"/>
            <a:ext cx="3700272"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Expected result</a:t>
            </a:r>
          </a:p>
        </p:txBody>
      </p:sp>
      <p:sp>
        <p:nvSpPr>
          <p:cNvPr id="9" name="TextBox 8"/>
          <p:cNvSpPr txBox="1"/>
          <p:nvPr/>
        </p:nvSpPr>
        <p:spPr>
          <a:xfrm>
            <a:off x="8028432" y="2273300"/>
            <a:ext cx="347776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Meaning</a:t>
            </a:r>
          </a:p>
        </p:txBody>
      </p:sp>
      <p:sp>
        <p:nvSpPr>
          <p:cNvPr id="10" name="Rectangle 9"/>
          <p:cNvSpPr/>
          <p:nvPr/>
        </p:nvSpPr>
        <p:spPr>
          <a:xfrm>
            <a:off x="533400" y="265430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Payment agent approves</a:t>
            </a:r>
          </a:p>
          <a:p>
            <a:pPr>
              <a:lnSpc>
                <a:spcPts val="1972"/>
              </a:lnSpc>
              <a:spcBef>
                <a:spcPts val="0"/>
              </a:spcBef>
              <a:spcAft>
                <a:spcPts val="0"/>
              </a:spcAft>
              <a:defRPr sz="1700" b="0">
                <a:solidFill>
                  <a:srgbClr val="163640"/>
                </a:solidFill>
                <a:latin typeface="DejaVu Sans"/>
              </a:defRPr>
            </a:pPr>
            <a:r>
              <a:t>itself</a:t>
            </a:r>
          </a:p>
        </p:txBody>
      </p:sp>
      <p:sp>
        <p:nvSpPr>
          <p:cNvPr id="12" name="TextBox 11"/>
          <p:cNvSpPr txBox="1"/>
          <p:nvPr/>
        </p:nvSpPr>
        <p:spPr>
          <a:xfrm>
            <a:off x="4023360" y="2743200"/>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403</a:t>
            </a:r>
          </a:p>
        </p:txBody>
      </p:sp>
      <p:sp>
        <p:nvSpPr>
          <p:cNvPr id="13" name="TextBox 12"/>
          <p:cNvSpPr txBox="1"/>
          <p:nvPr/>
        </p:nvSpPr>
        <p:spPr>
          <a:xfrm>
            <a:off x="8028432" y="2743200"/>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Requester/delegation rule</a:t>
            </a:r>
          </a:p>
          <a:p>
            <a:pPr>
              <a:lnSpc>
                <a:spcPts val="1972"/>
              </a:lnSpc>
              <a:spcBef>
                <a:spcPts val="0"/>
              </a:spcBef>
              <a:spcAft>
                <a:spcPts val="0"/>
              </a:spcAft>
              <a:defRPr sz="1700" b="0">
                <a:solidFill>
                  <a:srgbClr val="163640"/>
                </a:solidFill>
                <a:latin typeface="DejaVu Sans"/>
              </a:defRPr>
            </a:pPr>
            <a:r>
              <a:t>enforced</a:t>
            </a:r>
          </a:p>
        </p:txBody>
      </p:sp>
      <p:sp>
        <p:nvSpPr>
          <p:cNvPr id="14" name="Rectangle 13"/>
          <p:cNvSpPr/>
          <p:nvPr/>
        </p:nvSpPr>
        <p:spPr>
          <a:xfrm>
            <a:off x="533400" y="340042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89325"/>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Independent exact review</a:t>
            </a:r>
          </a:p>
        </p:txBody>
      </p:sp>
      <p:sp>
        <p:nvSpPr>
          <p:cNvPr id="16" name="TextBox 15"/>
          <p:cNvSpPr txBox="1"/>
          <p:nvPr/>
        </p:nvSpPr>
        <p:spPr>
          <a:xfrm>
            <a:off x="4023360" y="3489325"/>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200</a:t>
            </a:r>
          </a:p>
        </p:txBody>
      </p:sp>
      <p:sp>
        <p:nvSpPr>
          <p:cNvPr id="17" name="TextBox 16"/>
          <p:cNvSpPr txBox="1"/>
          <p:nvPr/>
        </p:nvSpPr>
        <p:spPr>
          <a:xfrm>
            <a:off x="8028432" y="3489325"/>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Proposal approved</a:t>
            </a:r>
          </a:p>
        </p:txBody>
      </p:sp>
      <p:sp>
        <p:nvSpPr>
          <p:cNvPr id="18" name="Rectangle 17"/>
          <p:cNvSpPr/>
          <p:nvPr/>
        </p:nvSpPr>
        <p:spPr>
          <a:xfrm>
            <a:off x="533400" y="414655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235450"/>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Execute with changed</a:t>
            </a:r>
          </a:p>
          <a:p>
            <a:pPr>
              <a:lnSpc>
                <a:spcPts val="1972"/>
              </a:lnSpc>
              <a:spcBef>
                <a:spcPts val="0"/>
              </a:spcBef>
              <a:spcAft>
                <a:spcPts val="0"/>
              </a:spcAft>
              <a:defRPr sz="1700" b="0">
                <a:solidFill>
                  <a:srgbClr val="163640"/>
                </a:solidFill>
                <a:latin typeface="DejaVu Sans"/>
              </a:defRPr>
            </a:pPr>
            <a:r>
              <a:t>arguments</a:t>
            </a:r>
          </a:p>
        </p:txBody>
      </p:sp>
      <p:sp>
        <p:nvSpPr>
          <p:cNvPr id="20" name="TextBox 19"/>
          <p:cNvSpPr txBox="1"/>
          <p:nvPr/>
        </p:nvSpPr>
        <p:spPr>
          <a:xfrm>
            <a:off x="4023360" y="4235450"/>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400</a:t>
            </a:r>
          </a:p>
        </p:txBody>
      </p:sp>
      <p:sp>
        <p:nvSpPr>
          <p:cNvPr id="21" name="TextBox 20"/>
          <p:cNvSpPr txBox="1"/>
          <p:nvPr/>
        </p:nvSpPr>
        <p:spPr>
          <a:xfrm>
            <a:off x="8028432" y="4235450"/>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Approval does not cover the</a:t>
            </a:r>
          </a:p>
          <a:p>
            <a:pPr>
              <a:lnSpc>
                <a:spcPts val="1972"/>
              </a:lnSpc>
              <a:spcBef>
                <a:spcPts val="0"/>
              </a:spcBef>
              <a:spcAft>
                <a:spcPts val="0"/>
              </a:spcAft>
              <a:defRPr sz="1700" b="0">
                <a:solidFill>
                  <a:srgbClr val="163640"/>
                </a:solidFill>
                <a:latin typeface="DejaVu Sans"/>
              </a:defRPr>
            </a:pPr>
            <a:r>
              <a:t>change</a:t>
            </a:r>
          </a:p>
        </p:txBody>
      </p:sp>
      <p:sp>
        <p:nvSpPr>
          <p:cNvPr id="22" name="Rectangle 21"/>
          <p:cNvSpPr/>
          <p:nvPr/>
        </p:nvSpPr>
        <p:spPr>
          <a:xfrm>
            <a:off x="533400" y="489267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981575"/>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Execute exact approved</a:t>
            </a:r>
          </a:p>
          <a:p>
            <a:pPr>
              <a:lnSpc>
                <a:spcPts val="1972"/>
              </a:lnSpc>
              <a:spcBef>
                <a:spcPts val="0"/>
              </a:spcBef>
              <a:spcAft>
                <a:spcPts val="0"/>
              </a:spcAft>
              <a:defRPr sz="1700" b="0">
                <a:solidFill>
                  <a:srgbClr val="163640"/>
                </a:solidFill>
                <a:latin typeface="DejaVu Sans"/>
              </a:defRPr>
            </a:pPr>
            <a:r>
              <a:t>request</a:t>
            </a:r>
          </a:p>
        </p:txBody>
      </p:sp>
      <p:sp>
        <p:nvSpPr>
          <p:cNvPr id="24" name="TextBox 23"/>
          <p:cNvSpPr txBox="1"/>
          <p:nvPr/>
        </p:nvSpPr>
        <p:spPr>
          <a:xfrm>
            <a:off x="4023360" y="4981575"/>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200</a:t>
            </a:r>
          </a:p>
        </p:txBody>
      </p:sp>
      <p:sp>
        <p:nvSpPr>
          <p:cNvPr id="25" name="TextBox 24"/>
          <p:cNvSpPr txBox="1"/>
          <p:nvPr/>
        </p:nvSpPr>
        <p:spPr>
          <a:xfrm>
            <a:off x="8028432" y="4981575"/>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Authorized settlement can</a:t>
            </a:r>
          </a:p>
          <a:p>
            <a:pPr>
              <a:lnSpc>
                <a:spcPts val="1972"/>
              </a:lnSpc>
              <a:spcBef>
                <a:spcPts val="0"/>
              </a:spcBef>
              <a:spcAft>
                <a:spcPts val="0"/>
              </a:spcAft>
              <a:defRPr sz="1700" b="0">
                <a:solidFill>
                  <a:srgbClr val="163640"/>
                </a:solidFill>
                <a:latin typeface="DejaVu Sans"/>
              </a:defRPr>
            </a:pPr>
            <a:r>
              <a:t>proceed</a:t>
            </a:r>
          </a:p>
        </p:txBody>
      </p:sp>
      <p:sp>
        <p:nvSpPr>
          <p:cNvPr id="26" name="Rounded Rectangle 25"/>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Inspect each boundary result and the actual ledger effect.</a:t>
            </a:r>
          </a:p>
        </p:txBody>
      </p:sp>
      <p:sp>
        <p:nvSpPr>
          <p:cNvPr id="28" name="TextBox 27"/>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9" name="TextBox 28"/>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20 / 29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85–103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One effect survives a retry</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EXECUTE</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Use the approved</a:t>
            </a:r>
          </a:p>
          <a:p>
            <a:pPr>
              <a:lnSpc>
                <a:spcPts val="2625"/>
              </a:lnSpc>
              <a:spcBef>
                <a:spcPts val="0"/>
              </a:spcBef>
              <a:spcAft>
                <a:spcPts val="0"/>
              </a:spcAft>
              <a:defRPr sz="2100" b="0">
                <a:solidFill>
                  <a:srgbClr val="163640"/>
                </a:solidFill>
                <a:latin typeface="DejaVu Sans"/>
              </a:defRPr>
            </a:pPr>
            <a:r>
              <a:t>exact arguments and</a:t>
            </a:r>
          </a:p>
          <a:p>
            <a:pPr>
              <a:lnSpc>
                <a:spcPts val="2625"/>
              </a:lnSpc>
              <a:spcBef>
                <a:spcPts val="0"/>
              </a:spcBef>
              <a:spcAft>
                <a:spcPts val="0"/>
              </a:spcAft>
              <a:defRPr sz="2100" b="0">
                <a:solidFill>
                  <a:srgbClr val="163640"/>
                </a:solidFill>
                <a:latin typeface="DejaVu Sans"/>
              </a:defRPr>
            </a:pPr>
            <a:r>
              <a:t>stable financial key.</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RETRY</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Return the existing</a:t>
            </a:r>
          </a:p>
          <a:p>
            <a:pPr>
              <a:lnSpc>
                <a:spcPts val="2625"/>
              </a:lnSpc>
              <a:spcBef>
                <a:spcPts val="0"/>
              </a:spcBef>
              <a:spcAft>
                <a:spcPts val="0"/>
              </a:spcAft>
              <a:defRPr sz="2100" b="0">
                <a:solidFill>
                  <a:srgbClr val="163640"/>
                </a:solidFill>
                <a:latin typeface="DejaVu Sans"/>
              </a:defRPr>
            </a:pPr>
            <a:r>
              <a:t>result under the same</a:t>
            </a:r>
          </a:p>
          <a:p>
            <a:pPr>
              <a:lnSpc>
                <a:spcPts val="2625"/>
              </a:lnSpc>
              <a:spcBef>
                <a:spcPts val="0"/>
              </a:spcBef>
              <a:spcAft>
                <a:spcPts val="0"/>
              </a:spcAft>
              <a:defRPr sz="2100" b="0">
                <a:solidFill>
                  <a:srgbClr val="163640"/>
                </a:solidFill>
                <a:latin typeface="DejaVu Sans"/>
              </a:defRPr>
            </a:pPr>
            <a:r>
              <a:t>key.</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PROVE</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562"/>
              </a:lnSpc>
              <a:spcBef>
                <a:spcPts val="0"/>
              </a:spcBef>
              <a:spcAft>
                <a:spcPts val="0"/>
              </a:spcAft>
              <a:defRPr sz="2050" b="0">
                <a:solidFill>
                  <a:srgbClr val="163640"/>
                </a:solidFill>
                <a:latin typeface="DejaVu Sans"/>
              </a:defRPr>
            </a:pPr>
            <a:r>
              <a:t>Balance delta:</a:t>
            </a:r>
          </a:p>
          <a:p>
            <a:pPr>
              <a:lnSpc>
                <a:spcPts val="2562"/>
              </a:lnSpc>
              <a:spcBef>
                <a:spcPts val="0"/>
              </a:spcBef>
              <a:spcAft>
                <a:spcPts val="0"/>
              </a:spcAft>
              <a:defRPr sz="2050" b="0">
                <a:solidFill>
                  <a:srgbClr val="163640"/>
                </a:solidFill>
                <a:latin typeface="DejaVu Sans"/>
              </a:defRPr>
            </a:pPr>
            <a:r>
              <a:t>−150,000 paise</a:t>
            </a:r>
          </a:p>
          <a:p>
            <a:pPr>
              <a:lnSpc>
                <a:spcPts val="2562"/>
              </a:lnSpc>
              <a:spcBef>
                <a:spcPts val="0"/>
              </a:spcBef>
              <a:spcAft>
                <a:spcPts val="0"/>
              </a:spcAft>
              <a:defRPr sz="2050" b="0">
                <a:solidFill>
                  <a:srgbClr val="163640"/>
                </a:solidFill>
                <a:latin typeface="DejaVu Sans"/>
              </a:defRPr>
            </a:pPr>
            <a:r>
              <a:t>Payment count delta:</a:t>
            </a:r>
          </a:p>
          <a:p>
            <a:pPr>
              <a:lnSpc>
                <a:spcPts val="2562"/>
              </a:lnSpc>
              <a:spcBef>
                <a:spcPts val="0"/>
              </a:spcBef>
              <a:spcAft>
                <a:spcPts val="0"/>
              </a:spcAft>
              <a:defRPr sz="2050" b="0">
                <a:solidFill>
                  <a:srgbClr val="163640"/>
                </a:solidFill>
                <a:latin typeface="DejaVu Sans"/>
              </a:defRPr>
            </a:pPr>
            <a:r>
              <a:t>+1</a:t>
            </a:r>
          </a:p>
          <a:p>
            <a:pPr>
              <a:lnSpc>
                <a:spcPts val="2562"/>
              </a:lnSpc>
              <a:spcBef>
                <a:spcPts val="0"/>
              </a:spcBef>
              <a:spcAft>
                <a:spcPts val="0"/>
              </a:spcAft>
              <a:defRPr sz="2050" b="0">
                <a:solidFill>
                  <a:srgbClr val="163640"/>
                </a:solidFill>
                <a:latin typeface="DejaVu Sans"/>
              </a:defRPr>
            </a:pPr>
            <a:r>
              <a:t>Same payment</a:t>
            </a:r>
          </a:p>
          <a:p>
            <a:pPr>
              <a:lnSpc>
                <a:spcPts val="2562"/>
              </a:lnSpc>
              <a:spcBef>
                <a:spcPts val="0"/>
              </a:spcBef>
              <a:spcAft>
                <a:spcPts val="0"/>
              </a:spcAft>
              <a:defRPr sz="2050" b="0">
                <a:solidFill>
                  <a:srgbClr val="163640"/>
                </a:solidFill>
                <a:latin typeface="DejaVu Sans"/>
              </a:defRPr>
            </a:pPr>
            <a:r>
              <a:t>identity</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For an uncertain response, select the original run and reconcile.</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21 / 29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103–119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A second agent creates a second boundary</a:t>
            </a:r>
          </a:p>
        </p:txBody>
      </p:sp>
      <p:sp>
        <p:nvSpPr>
          <p:cNvPr id="6" name="Rounded Rectangle 5"/>
          <p:cNvSpPr/>
          <p:nvPr/>
        </p:nvSpPr>
        <p:spPr>
          <a:xfrm>
            <a:off x="533400" y="2451100"/>
            <a:ext cx="200152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3900" y="2654300"/>
            <a:ext cx="162052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01</a:t>
            </a:r>
          </a:p>
        </p:txBody>
      </p:sp>
      <p:sp>
        <p:nvSpPr>
          <p:cNvPr id="8" name="TextBox 7"/>
          <p:cNvSpPr txBox="1"/>
          <p:nvPr/>
        </p:nvSpPr>
        <p:spPr>
          <a:xfrm>
            <a:off x="723900" y="3289300"/>
            <a:ext cx="1620520" cy="8255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NegotiatorBot</a:t>
            </a:r>
          </a:p>
        </p:txBody>
      </p:sp>
      <p:sp>
        <p:nvSpPr>
          <p:cNvPr id="9" name="TextBox 8"/>
          <p:cNvSpPr txBox="1"/>
          <p:nvPr/>
        </p:nvSpPr>
        <p:spPr>
          <a:xfrm>
            <a:off x="723900" y="4140200"/>
            <a:ext cx="162052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Owns the</a:t>
            </a:r>
          </a:p>
          <a:p>
            <a:pPr>
              <a:lnSpc>
                <a:spcPts val="2125"/>
              </a:lnSpc>
              <a:spcBef>
                <a:spcPts val="0"/>
              </a:spcBef>
              <a:spcAft>
                <a:spcPts val="0"/>
              </a:spcAft>
              <a:defRPr sz="1700" b="0">
                <a:solidFill>
                  <a:srgbClr val="163640"/>
                </a:solidFill>
                <a:latin typeface="DejaVu Sans"/>
              </a:defRPr>
            </a:pPr>
            <a:r>
              <a:t>delegated</a:t>
            </a:r>
          </a:p>
          <a:p>
            <a:pPr>
              <a:lnSpc>
                <a:spcPts val="2125"/>
              </a:lnSpc>
              <a:spcBef>
                <a:spcPts val="0"/>
              </a:spcBef>
              <a:spcAft>
                <a:spcPts val="0"/>
              </a:spcAft>
              <a:defRPr sz="1700" b="0">
                <a:solidFill>
                  <a:srgbClr val="163640"/>
                </a:solidFill>
                <a:latin typeface="DejaVu Sans"/>
              </a:defRPr>
            </a:pPr>
            <a:r>
              <a:t>task</a:t>
            </a:r>
          </a:p>
        </p:txBody>
      </p:sp>
      <p:sp>
        <p:nvSpPr>
          <p:cNvPr id="10" name="TextBox 9"/>
          <p:cNvSpPr txBox="1"/>
          <p:nvPr/>
        </p:nvSpPr>
        <p:spPr>
          <a:xfrm>
            <a:off x="257302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1" name="Rounded Rectangle 10"/>
          <p:cNvSpPr/>
          <p:nvPr/>
        </p:nvSpPr>
        <p:spPr>
          <a:xfrm>
            <a:off x="2814320" y="2451100"/>
            <a:ext cx="200152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04820" y="2654300"/>
            <a:ext cx="162052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02</a:t>
            </a:r>
          </a:p>
        </p:txBody>
      </p:sp>
      <p:sp>
        <p:nvSpPr>
          <p:cNvPr id="13" name="TextBox 12"/>
          <p:cNvSpPr txBox="1"/>
          <p:nvPr/>
        </p:nvSpPr>
        <p:spPr>
          <a:xfrm>
            <a:off x="3004820" y="3289300"/>
            <a:ext cx="1620520" cy="8255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PaymentsAge</a:t>
            </a:r>
          </a:p>
          <a:p>
            <a:pPr>
              <a:lnSpc>
                <a:spcPts val="1875"/>
              </a:lnSpc>
              <a:spcBef>
                <a:spcPts val="0"/>
              </a:spcBef>
              <a:spcAft>
                <a:spcPts val="0"/>
              </a:spcAft>
              <a:defRPr sz="1500" b="1">
                <a:solidFill>
                  <a:srgbClr val="163640"/>
                </a:solidFill>
                <a:latin typeface="DejaVu Sans"/>
              </a:defRPr>
            </a:pPr>
            <a:r>
              <a:t>nt</a:t>
            </a:r>
          </a:p>
        </p:txBody>
      </p:sp>
      <p:sp>
        <p:nvSpPr>
          <p:cNvPr id="14" name="TextBox 13"/>
          <p:cNvSpPr txBox="1"/>
          <p:nvPr/>
        </p:nvSpPr>
        <p:spPr>
          <a:xfrm>
            <a:off x="3004820" y="4140200"/>
            <a:ext cx="162052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Designated</a:t>
            </a:r>
          </a:p>
          <a:p>
            <a:pPr>
              <a:lnSpc>
                <a:spcPts val="2125"/>
              </a:lnSpc>
              <a:spcBef>
                <a:spcPts val="0"/>
              </a:spcBef>
              <a:spcAft>
                <a:spcPts val="0"/>
              </a:spcAft>
              <a:defRPr sz="1700" b="0">
                <a:solidFill>
                  <a:srgbClr val="163640"/>
                </a:solidFill>
                <a:latin typeface="DejaVu Sans"/>
              </a:defRPr>
            </a:pPr>
            <a:r>
              <a:t>executor</a:t>
            </a:r>
          </a:p>
        </p:txBody>
      </p:sp>
      <p:sp>
        <p:nvSpPr>
          <p:cNvPr id="15" name="TextBox 14"/>
          <p:cNvSpPr txBox="1"/>
          <p:nvPr/>
        </p:nvSpPr>
        <p:spPr>
          <a:xfrm>
            <a:off x="485394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6" name="Rounded Rectangle 15"/>
          <p:cNvSpPr/>
          <p:nvPr/>
        </p:nvSpPr>
        <p:spPr>
          <a:xfrm>
            <a:off x="5095240" y="2451100"/>
            <a:ext cx="200152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85740" y="2654300"/>
            <a:ext cx="162052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03</a:t>
            </a:r>
          </a:p>
        </p:txBody>
      </p:sp>
      <p:sp>
        <p:nvSpPr>
          <p:cNvPr id="18" name="TextBox 17"/>
          <p:cNvSpPr txBox="1"/>
          <p:nvPr/>
        </p:nvSpPr>
        <p:spPr>
          <a:xfrm>
            <a:off x="5285740" y="3289300"/>
            <a:ext cx="162052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Reviewer</a:t>
            </a:r>
          </a:p>
        </p:txBody>
      </p:sp>
      <p:sp>
        <p:nvSpPr>
          <p:cNvPr id="19" name="TextBox 18"/>
          <p:cNvSpPr txBox="1"/>
          <p:nvPr/>
        </p:nvSpPr>
        <p:spPr>
          <a:xfrm>
            <a:off x="5285740" y="4140200"/>
            <a:ext cx="162052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Independent</a:t>
            </a:r>
          </a:p>
          <a:p>
            <a:pPr>
              <a:lnSpc>
                <a:spcPts val="2125"/>
              </a:lnSpc>
              <a:spcBef>
                <a:spcPts val="0"/>
              </a:spcBef>
              <a:spcAft>
                <a:spcPts val="0"/>
              </a:spcAft>
              <a:defRPr sz="1700" b="0">
                <a:solidFill>
                  <a:srgbClr val="163640"/>
                </a:solidFill>
                <a:latin typeface="DejaVu Sans"/>
              </a:defRPr>
            </a:pPr>
            <a:r>
              <a:t>approval</a:t>
            </a:r>
          </a:p>
        </p:txBody>
      </p:sp>
      <p:sp>
        <p:nvSpPr>
          <p:cNvPr id="20" name="TextBox 19"/>
          <p:cNvSpPr txBox="1"/>
          <p:nvPr/>
        </p:nvSpPr>
        <p:spPr>
          <a:xfrm>
            <a:off x="7134859"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21" name="Rounded Rectangle 20"/>
          <p:cNvSpPr/>
          <p:nvPr/>
        </p:nvSpPr>
        <p:spPr>
          <a:xfrm>
            <a:off x="7376159" y="2451100"/>
            <a:ext cx="200152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66659" y="2654300"/>
            <a:ext cx="162052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04</a:t>
            </a:r>
          </a:p>
        </p:txBody>
      </p:sp>
      <p:sp>
        <p:nvSpPr>
          <p:cNvPr id="23" name="TextBox 22"/>
          <p:cNvSpPr txBox="1"/>
          <p:nvPr/>
        </p:nvSpPr>
        <p:spPr>
          <a:xfrm>
            <a:off x="7566659" y="3289300"/>
            <a:ext cx="162052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Banking API</a:t>
            </a:r>
          </a:p>
        </p:txBody>
      </p:sp>
      <p:sp>
        <p:nvSpPr>
          <p:cNvPr id="24" name="TextBox 23"/>
          <p:cNvSpPr txBox="1"/>
          <p:nvPr/>
        </p:nvSpPr>
        <p:spPr>
          <a:xfrm>
            <a:off x="7566659" y="4140200"/>
            <a:ext cx="162052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Exact</a:t>
            </a:r>
          </a:p>
          <a:p>
            <a:pPr>
              <a:lnSpc>
                <a:spcPts val="2125"/>
              </a:lnSpc>
              <a:spcBef>
                <a:spcPts val="0"/>
              </a:spcBef>
              <a:spcAft>
                <a:spcPts val="0"/>
              </a:spcAft>
              <a:defRPr sz="1700" b="0">
                <a:solidFill>
                  <a:srgbClr val="163640"/>
                </a:solidFill>
                <a:latin typeface="DejaVu Sans"/>
              </a:defRPr>
            </a:pPr>
            <a:r>
              <a:t>settlement</a:t>
            </a:r>
          </a:p>
        </p:txBody>
      </p:sp>
      <p:sp>
        <p:nvSpPr>
          <p:cNvPr id="25" name="TextBox 24"/>
          <p:cNvSpPr txBox="1"/>
          <p:nvPr/>
        </p:nvSpPr>
        <p:spPr>
          <a:xfrm>
            <a:off x="941578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26" name="Rounded Rectangle 25"/>
          <p:cNvSpPr/>
          <p:nvPr/>
        </p:nvSpPr>
        <p:spPr>
          <a:xfrm>
            <a:off x="9657080" y="2451100"/>
            <a:ext cx="200152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47580" y="2654300"/>
            <a:ext cx="162052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05</a:t>
            </a:r>
          </a:p>
        </p:txBody>
      </p:sp>
      <p:sp>
        <p:nvSpPr>
          <p:cNvPr id="28" name="TextBox 27"/>
          <p:cNvSpPr txBox="1"/>
          <p:nvPr/>
        </p:nvSpPr>
        <p:spPr>
          <a:xfrm>
            <a:off x="9847580" y="3289300"/>
            <a:ext cx="162052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Task output</a:t>
            </a:r>
          </a:p>
        </p:txBody>
      </p:sp>
      <p:sp>
        <p:nvSpPr>
          <p:cNvPr id="29" name="TextBox 28"/>
          <p:cNvSpPr txBox="1"/>
          <p:nvPr/>
        </p:nvSpPr>
        <p:spPr>
          <a:xfrm>
            <a:off x="9847580" y="4140200"/>
            <a:ext cx="162052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Bound to the</a:t>
            </a:r>
          </a:p>
          <a:p>
            <a:pPr>
              <a:lnSpc>
                <a:spcPts val="2125"/>
              </a:lnSpc>
              <a:spcBef>
                <a:spcPts val="0"/>
              </a:spcBef>
              <a:spcAft>
                <a:spcPts val="0"/>
              </a:spcAft>
              <a:defRPr sz="1700" b="0">
                <a:solidFill>
                  <a:srgbClr val="163640"/>
                </a:solidFill>
                <a:latin typeface="DejaVu Sans"/>
              </a:defRPr>
            </a:pPr>
            <a:r>
              <a:t>actual</a:t>
            </a:r>
          </a:p>
          <a:p>
            <a:pPr>
              <a:lnSpc>
                <a:spcPts val="2125"/>
              </a:lnSpc>
              <a:spcBef>
                <a:spcPts val="0"/>
              </a:spcBef>
              <a:spcAft>
                <a:spcPts val="0"/>
              </a:spcAft>
              <a:defRPr sz="1700" b="0">
                <a:solidFill>
                  <a:srgbClr val="163640"/>
                </a:solidFill>
                <a:latin typeface="DejaVu Sans"/>
              </a:defRPr>
            </a:pPr>
            <a:r>
              <a:t>payment</a:t>
            </a:r>
          </a:p>
        </p:txBody>
      </p:sp>
      <p:sp>
        <p:nvSpPr>
          <p:cNvPr id="30" name="Rounded Rectangle 29"/>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Delegation needs explicit permissions for read, execute, approve and complete.</a:t>
            </a:r>
          </a:p>
        </p:txBody>
      </p:sp>
      <p:sp>
        <p:nvSpPr>
          <p:cNvPr id="32" name="TextBox 31"/>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33" name="TextBox 32"/>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22 / 29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103–119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Test access to the delegated task</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3032760"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Attempt</a:t>
            </a:r>
          </a:p>
        </p:txBody>
      </p:sp>
      <p:sp>
        <p:nvSpPr>
          <p:cNvPr id="8" name="TextBox 7"/>
          <p:cNvSpPr txBox="1"/>
          <p:nvPr/>
        </p:nvSpPr>
        <p:spPr>
          <a:xfrm>
            <a:off x="4023360" y="2273300"/>
            <a:ext cx="3700272"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Expected result</a:t>
            </a:r>
          </a:p>
        </p:txBody>
      </p:sp>
      <p:sp>
        <p:nvSpPr>
          <p:cNvPr id="9" name="TextBox 8"/>
          <p:cNvSpPr txBox="1"/>
          <p:nvPr/>
        </p:nvSpPr>
        <p:spPr>
          <a:xfrm>
            <a:off x="8028432" y="2273300"/>
            <a:ext cx="347776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Evidence</a:t>
            </a:r>
          </a:p>
        </p:txBody>
      </p:sp>
      <p:sp>
        <p:nvSpPr>
          <p:cNvPr id="10" name="Rectangle 9"/>
          <p:cNvSpPr/>
          <p:nvPr/>
        </p:nvSpPr>
        <p:spPr>
          <a:xfrm>
            <a:off x="533400" y="265430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Foreign principal reads</a:t>
            </a:r>
          </a:p>
          <a:p>
            <a:pPr>
              <a:lnSpc>
                <a:spcPts val="1972"/>
              </a:lnSpc>
              <a:spcBef>
                <a:spcPts val="0"/>
              </a:spcBef>
              <a:spcAft>
                <a:spcPts val="0"/>
              </a:spcAft>
              <a:defRPr sz="1700" b="0">
                <a:solidFill>
                  <a:srgbClr val="163640"/>
                </a:solidFill>
                <a:latin typeface="DejaVu Sans"/>
              </a:defRPr>
            </a:pPr>
            <a:r>
              <a:t>task</a:t>
            </a:r>
          </a:p>
        </p:txBody>
      </p:sp>
      <p:sp>
        <p:nvSpPr>
          <p:cNvPr id="12" name="TextBox 11"/>
          <p:cNvSpPr txBox="1"/>
          <p:nvPr/>
        </p:nvSpPr>
        <p:spPr>
          <a:xfrm>
            <a:off x="4023360" y="2743200"/>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403</a:t>
            </a:r>
          </a:p>
        </p:txBody>
      </p:sp>
      <p:sp>
        <p:nvSpPr>
          <p:cNvPr id="13" name="TextBox 12"/>
          <p:cNvSpPr txBox="1"/>
          <p:nvPr/>
        </p:nvSpPr>
        <p:spPr>
          <a:xfrm>
            <a:off x="8028432" y="2743200"/>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Task-access denial</a:t>
            </a:r>
          </a:p>
        </p:txBody>
      </p:sp>
      <p:sp>
        <p:nvSpPr>
          <p:cNvPr id="14" name="Rectangle 13"/>
          <p:cNvSpPr/>
          <p:nvPr/>
        </p:nvSpPr>
        <p:spPr>
          <a:xfrm>
            <a:off x="533400" y="340042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89325"/>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Non-executor completes</a:t>
            </a:r>
          </a:p>
          <a:p>
            <a:pPr>
              <a:lnSpc>
                <a:spcPts val="1972"/>
              </a:lnSpc>
              <a:spcBef>
                <a:spcPts val="0"/>
              </a:spcBef>
              <a:spcAft>
                <a:spcPts val="0"/>
              </a:spcAft>
              <a:defRPr sz="1700" b="0">
                <a:solidFill>
                  <a:srgbClr val="163640"/>
                </a:solidFill>
                <a:latin typeface="DejaVu Sans"/>
              </a:defRPr>
            </a:pPr>
            <a:r>
              <a:t>task</a:t>
            </a:r>
          </a:p>
        </p:txBody>
      </p:sp>
      <p:sp>
        <p:nvSpPr>
          <p:cNvPr id="16" name="TextBox 15"/>
          <p:cNvSpPr txBox="1"/>
          <p:nvPr/>
        </p:nvSpPr>
        <p:spPr>
          <a:xfrm>
            <a:off x="4023360" y="3489325"/>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403</a:t>
            </a:r>
          </a:p>
        </p:txBody>
      </p:sp>
      <p:sp>
        <p:nvSpPr>
          <p:cNvPr id="17" name="TextBox 16"/>
          <p:cNvSpPr txBox="1"/>
          <p:nvPr/>
        </p:nvSpPr>
        <p:spPr>
          <a:xfrm>
            <a:off x="8028432" y="3489325"/>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Completion denial</a:t>
            </a:r>
          </a:p>
        </p:txBody>
      </p:sp>
      <p:sp>
        <p:nvSpPr>
          <p:cNvPr id="18" name="Rectangle 17"/>
          <p:cNvSpPr/>
          <p:nvPr/>
        </p:nvSpPr>
        <p:spPr>
          <a:xfrm>
            <a:off x="533400" y="414655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235450"/>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Bind payment to</a:t>
            </a:r>
          </a:p>
          <a:p>
            <a:pPr>
              <a:lnSpc>
                <a:spcPts val="1972"/>
              </a:lnSpc>
              <a:spcBef>
                <a:spcPts val="0"/>
              </a:spcBef>
              <a:spcAft>
                <a:spcPts val="0"/>
              </a:spcAft>
              <a:defRPr sz="1700" b="0">
                <a:solidFill>
                  <a:srgbClr val="163640"/>
                </a:solidFill>
                <a:latin typeface="DejaVu Sans"/>
              </a:defRPr>
            </a:pPr>
            <a:r>
              <a:t>mismatched task</a:t>
            </a:r>
          </a:p>
        </p:txBody>
      </p:sp>
      <p:sp>
        <p:nvSpPr>
          <p:cNvPr id="20" name="TextBox 19"/>
          <p:cNvSpPr txBox="1"/>
          <p:nvPr/>
        </p:nvSpPr>
        <p:spPr>
          <a:xfrm>
            <a:off x="4023360" y="4235450"/>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400</a:t>
            </a:r>
          </a:p>
        </p:txBody>
      </p:sp>
      <p:sp>
        <p:nvSpPr>
          <p:cNvPr id="21" name="TextBox 20"/>
          <p:cNvSpPr txBox="1"/>
          <p:nvPr/>
        </p:nvSpPr>
        <p:spPr>
          <a:xfrm>
            <a:off x="8028432" y="4235450"/>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Binding validation failure</a:t>
            </a:r>
          </a:p>
        </p:txBody>
      </p:sp>
      <p:sp>
        <p:nvSpPr>
          <p:cNvPr id="22" name="Rectangle 21"/>
          <p:cNvSpPr/>
          <p:nvPr/>
        </p:nvSpPr>
        <p:spPr>
          <a:xfrm>
            <a:off x="533400" y="489267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981575"/>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Valid bound task</a:t>
            </a:r>
          </a:p>
          <a:p>
            <a:pPr>
              <a:lnSpc>
                <a:spcPts val="1972"/>
              </a:lnSpc>
              <a:spcBef>
                <a:spcPts val="0"/>
              </a:spcBef>
              <a:spcAft>
                <a:spcPts val="0"/>
              </a:spcAft>
              <a:defRPr sz="1700" b="0">
                <a:solidFill>
                  <a:srgbClr val="163640"/>
                </a:solidFill>
                <a:latin typeface="DejaVu Sans"/>
              </a:defRPr>
            </a:pPr>
            <a:r>
              <a:t>completion</a:t>
            </a:r>
          </a:p>
        </p:txBody>
      </p:sp>
      <p:sp>
        <p:nvSpPr>
          <p:cNvPr id="24" name="TextBox 23"/>
          <p:cNvSpPr txBox="1"/>
          <p:nvPr/>
        </p:nvSpPr>
        <p:spPr>
          <a:xfrm>
            <a:off x="4023360" y="4981575"/>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200</a:t>
            </a:r>
          </a:p>
        </p:txBody>
      </p:sp>
      <p:sp>
        <p:nvSpPr>
          <p:cNvPr id="25" name="TextBox 24"/>
          <p:cNvSpPr txBox="1"/>
          <p:nvPr/>
        </p:nvSpPr>
        <p:spPr>
          <a:xfrm>
            <a:off x="8028432" y="4981575"/>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Task output has actual</a:t>
            </a:r>
          </a:p>
          <a:p>
            <a:pPr>
              <a:lnSpc>
                <a:spcPts val="1972"/>
              </a:lnSpc>
              <a:spcBef>
                <a:spcPts val="0"/>
              </a:spcBef>
              <a:spcAft>
                <a:spcPts val="0"/>
              </a:spcAft>
              <a:defRPr sz="1700" b="0">
                <a:solidFill>
                  <a:srgbClr val="163640"/>
                </a:solidFill>
                <a:latin typeface="DejaVu Sans"/>
              </a:defRPr>
            </a:pPr>
            <a:r>
              <a:t>payment ID</a:t>
            </a:r>
          </a:p>
        </p:txBody>
      </p:sp>
      <p:sp>
        <p:nvSpPr>
          <p:cNvPr id="26" name="Rounded Rectangle 25"/>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A valid agent identity does not grant access to every task.</a:t>
            </a:r>
          </a:p>
        </p:txBody>
      </p:sp>
      <p:sp>
        <p:nvSpPr>
          <p:cNvPr id="28" name="TextBox 27"/>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9" name="TextBox 28"/>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23 / 29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103–119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Bind completion to a business fact</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MATCH</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Source, amount,</a:t>
            </a:r>
          </a:p>
          <a:p>
            <a:pPr>
              <a:lnSpc>
                <a:spcPts val="2625"/>
              </a:lnSpc>
              <a:spcBef>
                <a:spcPts val="0"/>
              </a:spcBef>
              <a:spcAft>
                <a:spcPts val="0"/>
              </a:spcAft>
              <a:defRPr sz="2100" b="0">
                <a:solidFill>
                  <a:srgbClr val="163640"/>
                </a:solidFill>
                <a:latin typeface="DejaVu Sans"/>
              </a:defRPr>
            </a:pPr>
            <a:r>
              <a:t>currency, beneficiary</a:t>
            </a:r>
          </a:p>
          <a:p>
            <a:pPr>
              <a:lnSpc>
                <a:spcPts val="2625"/>
              </a:lnSpc>
              <a:spcBef>
                <a:spcPts val="0"/>
              </a:spcBef>
              <a:spcAft>
                <a:spcPts val="0"/>
              </a:spcAft>
              <a:defRPr sz="2100" b="0">
                <a:solidFill>
                  <a:srgbClr val="163640"/>
                </a:solidFill>
                <a:latin typeface="DejaVu Sans"/>
              </a:defRPr>
            </a:pPr>
            <a:r>
              <a:t>and proposal context.</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LINK</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Task output payment</a:t>
            </a:r>
          </a:p>
          <a:p>
            <a:pPr>
              <a:lnSpc>
                <a:spcPts val="2625"/>
              </a:lnSpc>
              <a:spcBef>
                <a:spcPts val="0"/>
              </a:spcBef>
              <a:spcAft>
                <a:spcPts val="0"/>
              </a:spcAft>
              <a:defRPr sz="2100" b="0">
                <a:solidFill>
                  <a:srgbClr val="163640"/>
                </a:solidFill>
                <a:latin typeface="DejaVu Sans"/>
              </a:defRPr>
            </a:pPr>
            <a:r>
              <a:t>ID equals the actual</a:t>
            </a:r>
          </a:p>
          <a:p>
            <a:pPr>
              <a:lnSpc>
                <a:spcPts val="2625"/>
              </a:lnSpc>
              <a:spcBef>
                <a:spcPts val="0"/>
              </a:spcBef>
              <a:spcAft>
                <a:spcPts val="0"/>
              </a:spcAft>
              <a:defRPr sz="2100" b="0">
                <a:solidFill>
                  <a:srgbClr val="163640"/>
                </a:solidFill>
                <a:latin typeface="DejaVu Sans"/>
              </a:defRPr>
            </a:pPr>
            <a:r>
              <a:t>settled ledger</a:t>
            </a:r>
          </a:p>
          <a:p>
            <a:pPr>
              <a:lnSpc>
                <a:spcPts val="2625"/>
              </a:lnSpc>
              <a:spcBef>
                <a:spcPts val="0"/>
              </a:spcBef>
              <a:spcAft>
                <a:spcPts val="0"/>
              </a:spcAft>
              <a:defRPr sz="2100" b="0">
                <a:solidFill>
                  <a:srgbClr val="163640"/>
                </a:solidFill>
                <a:latin typeface="DejaVu Sans"/>
              </a:defRPr>
            </a:pPr>
            <a:r>
              <a:t>payment ID.</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REJECT</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A plausible success</a:t>
            </a:r>
          </a:p>
          <a:p>
            <a:pPr>
              <a:lnSpc>
                <a:spcPts val="2625"/>
              </a:lnSpc>
              <a:spcBef>
                <a:spcPts val="0"/>
              </a:spcBef>
              <a:spcAft>
                <a:spcPts val="0"/>
              </a:spcAft>
              <a:defRPr sz="2100" b="0">
                <a:solidFill>
                  <a:srgbClr val="163640"/>
                </a:solidFill>
                <a:latin typeface="DejaVu Sans"/>
              </a:defRPr>
            </a:pPr>
            <a:r>
              <a:t>message or unrelated</a:t>
            </a:r>
          </a:p>
          <a:p>
            <a:pPr>
              <a:lnSpc>
                <a:spcPts val="2625"/>
              </a:lnSpc>
              <a:spcBef>
                <a:spcPts val="0"/>
              </a:spcBef>
              <a:spcAft>
                <a:spcPts val="0"/>
              </a:spcAft>
              <a:defRPr sz="2100" b="0">
                <a:solidFill>
                  <a:srgbClr val="163640"/>
                </a:solidFill>
                <a:latin typeface="DejaVu Sans"/>
              </a:defRPr>
            </a:pPr>
            <a:r>
              <a:t>payment is</a:t>
            </a:r>
          </a:p>
          <a:p>
            <a:pPr>
              <a:lnSpc>
                <a:spcPts val="2625"/>
              </a:lnSpc>
              <a:spcBef>
                <a:spcPts val="0"/>
              </a:spcBef>
              <a:spcAft>
                <a:spcPts val="0"/>
              </a:spcAft>
              <a:defRPr sz="2100" b="0">
                <a:solidFill>
                  <a:srgbClr val="163640"/>
                </a:solidFill>
                <a:latin typeface="DejaVu Sans"/>
              </a:defRPr>
            </a:pPr>
            <a:r>
              <a:t>insufficient.</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Task completion is proven by its relationship to the real settlement.</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24 / 29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119–130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Prove the repaired system in both directions</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3032760"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Control</a:t>
            </a:r>
          </a:p>
        </p:txBody>
      </p:sp>
      <p:sp>
        <p:nvSpPr>
          <p:cNvPr id="8" name="TextBox 7"/>
          <p:cNvSpPr txBox="1"/>
          <p:nvPr/>
        </p:nvSpPr>
        <p:spPr>
          <a:xfrm>
            <a:off x="4023360" y="2273300"/>
            <a:ext cx="3700272"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Attack result</a:t>
            </a:r>
          </a:p>
        </p:txBody>
      </p:sp>
      <p:sp>
        <p:nvSpPr>
          <p:cNvPr id="9" name="TextBox 8"/>
          <p:cNvSpPr txBox="1"/>
          <p:nvPr/>
        </p:nvSpPr>
        <p:spPr>
          <a:xfrm>
            <a:off x="8028432" y="2273300"/>
            <a:ext cx="347776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Legitimate result</a:t>
            </a:r>
          </a:p>
        </p:txBody>
      </p:sp>
      <p:sp>
        <p:nvSpPr>
          <p:cNvPr id="10" name="Rectangle 9"/>
          <p:cNvSpPr/>
          <p:nvPr/>
        </p:nvSpPr>
        <p:spPr>
          <a:xfrm>
            <a:off x="533400" y="26543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3032760"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Inference</a:t>
            </a:r>
          </a:p>
        </p:txBody>
      </p:sp>
      <p:sp>
        <p:nvSpPr>
          <p:cNvPr id="12" name="TextBox 11"/>
          <p:cNvSpPr txBox="1"/>
          <p:nvPr/>
        </p:nvSpPr>
        <p:spPr>
          <a:xfrm>
            <a:off x="4023360" y="2743200"/>
            <a:ext cx="3700272" cy="482600"/>
          </a:xfrm>
          <a:prstGeom prst="rect">
            <a:avLst/>
          </a:prstGeom>
          <a:noFill/>
        </p:spPr>
        <p:txBody>
          <a:bodyPr wrap="none" lIns="0" rIns="0" tIns="0" bIns="0" anchor="t">
            <a:spAutoFit/>
          </a:bodyPr>
          <a:lstStyle/>
          <a:p>
            <a:pPr>
              <a:lnSpc>
                <a:spcPts val="1855"/>
              </a:lnSpc>
              <a:spcBef>
                <a:spcPts val="0"/>
              </a:spcBef>
              <a:spcAft>
                <a:spcPts val="0"/>
              </a:spcAft>
              <a:defRPr sz="1600" b="0">
                <a:solidFill>
                  <a:srgbClr val="163640"/>
                </a:solidFill>
                <a:latin typeface="DejaVu Sans"/>
              </a:defRPr>
            </a:pPr>
            <a:r>
              <a:t>Budget exhaustion blocks dispatch</a:t>
            </a:r>
          </a:p>
        </p:txBody>
      </p:sp>
      <p:sp>
        <p:nvSpPr>
          <p:cNvPr id="13" name="TextBox 12"/>
          <p:cNvSpPr txBox="1"/>
          <p:nvPr/>
        </p:nvSpPr>
        <p:spPr>
          <a:xfrm>
            <a:off x="8028432" y="2743200"/>
            <a:ext cx="3477768" cy="482600"/>
          </a:xfrm>
          <a:prstGeom prst="rect">
            <a:avLst/>
          </a:prstGeom>
          <a:noFill/>
        </p:spPr>
        <p:txBody>
          <a:bodyPr wrap="none" lIns="0" rIns="0" tIns="0" bIns="0" anchor="t">
            <a:spAutoFit/>
          </a:bodyPr>
          <a:lstStyle/>
          <a:p>
            <a:pPr>
              <a:lnSpc>
                <a:spcPts val="1798"/>
              </a:lnSpc>
              <a:spcBef>
                <a:spcPts val="0"/>
              </a:spcBef>
              <a:spcAft>
                <a:spcPts val="0"/>
              </a:spcAft>
              <a:defRPr sz="1550" b="0">
                <a:solidFill>
                  <a:srgbClr val="163640"/>
                </a:solidFill>
                <a:latin typeface="DejaVu Sans"/>
              </a:defRPr>
            </a:pPr>
            <a:r>
              <a:t>Bounded access remains possible</a:t>
            </a:r>
          </a:p>
        </p:txBody>
      </p:sp>
      <p:sp>
        <p:nvSpPr>
          <p:cNvPr id="14" name="Rectangle 13"/>
          <p:cNvSpPr/>
          <p:nvPr/>
        </p:nvSpPr>
        <p:spPr>
          <a:xfrm>
            <a:off x="533400" y="3251200"/>
            <a:ext cx="11125200" cy="596900"/>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40100"/>
            <a:ext cx="3032760"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Tool policy</a:t>
            </a:r>
          </a:p>
        </p:txBody>
      </p:sp>
      <p:sp>
        <p:nvSpPr>
          <p:cNvPr id="16" name="TextBox 15"/>
          <p:cNvSpPr txBox="1"/>
          <p:nvPr/>
        </p:nvSpPr>
        <p:spPr>
          <a:xfrm>
            <a:off x="4023360" y="3340100"/>
            <a:ext cx="3700272"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Beneficiary / ceiling denials</a:t>
            </a:r>
          </a:p>
        </p:txBody>
      </p:sp>
      <p:sp>
        <p:nvSpPr>
          <p:cNvPr id="17" name="TextBox 16"/>
          <p:cNvSpPr txBox="1"/>
          <p:nvPr/>
        </p:nvSpPr>
        <p:spPr>
          <a:xfrm>
            <a:off x="8028432" y="3340100"/>
            <a:ext cx="3477768"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₹250 vendor payment</a:t>
            </a:r>
          </a:p>
        </p:txBody>
      </p:sp>
      <p:sp>
        <p:nvSpPr>
          <p:cNvPr id="18" name="Rectangle 17"/>
          <p:cNvSpPr/>
          <p:nvPr/>
        </p:nvSpPr>
        <p:spPr>
          <a:xfrm>
            <a:off x="533400" y="38481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937000"/>
            <a:ext cx="3032760"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Identity</a:t>
            </a:r>
          </a:p>
        </p:txBody>
      </p:sp>
      <p:sp>
        <p:nvSpPr>
          <p:cNvPr id="20" name="TextBox 19"/>
          <p:cNvSpPr txBox="1"/>
          <p:nvPr/>
        </p:nvSpPr>
        <p:spPr>
          <a:xfrm>
            <a:off x="4023360" y="3937000"/>
            <a:ext cx="3700272" cy="482600"/>
          </a:xfrm>
          <a:prstGeom prst="rect">
            <a:avLst/>
          </a:prstGeom>
          <a:noFill/>
        </p:spPr>
        <p:txBody>
          <a:bodyPr wrap="none" lIns="0" rIns="0" tIns="0" bIns="0" anchor="t">
            <a:spAutoFit/>
          </a:bodyPr>
          <a:lstStyle/>
          <a:p>
            <a:pPr>
              <a:lnSpc>
                <a:spcPts val="1798"/>
              </a:lnSpc>
              <a:spcBef>
                <a:spcPts val="0"/>
              </a:spcBef>
              <a:spcAft>
                <a:spcPts val="0"/>
              </a:spcAft>
              <a:defRPr sz="1550" b="0">
                <a:solidFill>
                  <a:srgbClr val="163640"/>
                </a:solidFill>
                <a:latin typeface="DejaVu Sans"/>
              </a:defRPr>
            </a:pPr>
            <a:r>
              <a:t>Wrong audience / escalation denied</a:t>
            </a:r>
          </a:p>
        </p:txBody>
      </p:sp>
      <p:sp>
        <p:nvSpPr>
          <p:cNvPr id="21" name="TextBox 20"/>
          <p:cNvSpPr txBox="1"/>
          <p:nvPr/>
        </p:nvSpPr>
        <p:spPr>
          <a:xfrm>
            <a:off x="8028432" y="3937000"/>
            <a:ext cx="3477768"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Entitled read-scope exchange</a:t>
            </a:r>
          </a:p>
        </p:txBody>
      </p:sp>
      <p:sp>
        <p:nvSpPr>
          <p:cNvPr id="22" name="Rectangle 21"/>
          <p:cNvSpPr/>
          <p:nvPr/>
        </p:nvSpPr>
        <p:spPr>
          <a:xfrm>
            <a:off x="533400" y="4445000"/>
            <a:ext cx="11125200" cy="596900"/>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533900"/>
            <a:ext cx="3032760"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Approval</a:t>
            </a:r>
          </a:p>
        </p:txBody>
      </p:sp>
      <p:sp>
        <p:nvSpPr>
          <p:cNvPr id="24" name="TextBox 23"/>
          <p:cNvSpPr txBox="1"/>
          <p:nvPr/>
        </p:nvSpPr>
        <p:spPr>
          <a:xfrm>
            <a:off x="4023360" y="4533900"/>
            <a:ext cx="3700272"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Self review / tampering denied</a:t>
            </a:r>
          </a:p>
        </p:txBody>
      </p:sp>
      <p:sp>
        <p:nvSpPr>
          <p:cNvPr id="25" name="TextBox 24"/>
          <p:cNvSpPr txBox="1"/>
          <p:nvPr/>
        </p:nvSpPr>
        <p:spPr>
          <a:xfrm>
            <a:off x="8028432" y="4533900"/>
            <a:ext cx="3477768"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Exact ₹1,500 settlement</a:t>
            </a:r>
          </a:p>
        </p:txBody>
      </p:sp>
      <p:sp>
        <p:nvSpPr>
          <p:cNvPr id="26" name="Rectangle 25"/>
          <p:cNvSpPr/>
          <p:nvPr/>
        </p:nvSpPr>
        <p:spPr>
          <a:xfrm>
            <a:off x="533400" y="50419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30800"/>
            <a:ext cx="3032760"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Delegation</a:t>
            </a:r>
          </a:p>
        </p:txBody>
      </p:sp>
      <p:sp>
        <p:nvSpPr>
          <p:cNvPr id="28" name="TextBox 27"/>
          <p:cNvSpPr txBox="1"/>
          <p:nvPr/>
        </p:nvSpPr>
        <p:spPr>
          <a:xfrm>
            <a:off x="4023360" y="5130800"/>
            <a:ext cx="3700272" cy="482600"/>
          </a:xfrm>
          <a:prstGeom prst="rect">
            <a:avLst/>
          </a:prstGeom>
          <a:noFill/>
        </p:spPr>
        <p:txBody>
          <a:bodyPr wrap="none" lIns="0" rIns="0" tIns="0" bIns="0" anchor="t">
            <a:spAutoFit/>
          </a:bodyPr>
          <a:lstStyle/>
          <a:p>
            <a:pPr>
              <a:lnSpc>
                <a:spcPts val="1913"/>
              </a:lnSpc>
              <a:spcBef>
                <a:spcPts val="0"/>
              </a:spcBef>
              <a:spcAft>
                <a:spcPts val="0"/>
              </a:spcAft>
              <a:defRPr sz="1650" b="0">
                <a:solidFill>
                  <a:srgbClr val="163640"/>
                </a:solidFill>
                <a:latin typeface="DejaVu Sans"/>
              </a:defRPr>
            </a:pPr>
            <a:r>
              <a:t>Foreign access / mismatch denied</a:t>
            </a:r>
          </a:p>
        </p:txBody>
      </p:sp>
      <p:sp>
        <p:nvSpPr>
          <p:cNvPr id="29" name="TextBox 28"/>
          <p:cNvSpPr txBox="1"/>
          <p:nvPr/>
        </p:nvSpPr>
        <p:spPr>
          <a:xfrm>
            <a:off x="8028432" y="5130800"/>
            <a:ext cx="3477768"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Payment bound to task</a:t>
            </a:r>
          </a:p>
        </p:txBody>
      </p:sp>
      <p:sp>
        <p:nvSpPr>
          <p:cNvPr id="30" name="Rounded Rectangle 29"/>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Use your observed service results; keep unresolved outcomes visible.</a:t>
            </a:r>
          </a:p>
        </p:txBody>
      </p:sp>
      <p:sp>
        <p:nvSpPr>
          <p:cNvPr id="32" name="TextBox 31"/>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33" name="TextBox 32"/>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25 / 29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119–130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Reconstruct the incident from familiar records</a:t>
            </a:r>
          </a:p>
        </p:txBody>
      </p:sp>
      <p:sp>
        <p:nvSpPr>
          <p:cNvPr id="6" name="Rounded Rectangle 5"/>
          <p:cNvSpPr/>
          <p:nvPr/>
        </p:nvSpPr>
        <p:spPr>
          <a:xfrm>
            <a:off x="533400" y="2451100"/>
            <a:ext cx="200152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3900" y="2654300"/>
            <a:ext cx="162052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01</a:t>
            </a:r>
          </a:p>
        </p:txBody>
      </p:sp>
      <p:sp>
        <p:nvSpPr>
          <p:cNvPr id="8" name="TextBox 7"/>
          <p:cNvSpPr txBox="1"/>
          <p:nvPr/>
        </p:nvSpPr>
        <p:spPr>
          <a:xfrm>
            <a:off x="723900" y="3289300"/>
            <a:ext cx="162052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Run</a:t>
            </a:r>
          </a:p>
        </p:txBody>
      </p:sp>
      <p:sp>
        <p:nvSpPr>
          <p:cNvPr id="9" name="TextBox 8"/>
          <p:cNvSpPr txBox="1"/>
          <p:nvPr/>
        </p:nvSpPr>
        <p:spPr>
          <a:xfrm>
            <a:off x="723900" y="4140200"/>
            <a:ext cx="162052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Scenario,</a:t>
            </a:r>
          </a:p>
          <a:p>
            <a:pPr>
              <a:lnSpc>
                <a:spcPts val="2125"/>
              </a:lnSpc>
              <a:spcBef>
                <a:spcPts val="0"/>
              </a:spcBef>
              <a:spcAft>
                <a:spcPts val="0"/>
              </a:spcAft>
              <a:defRPr sz="1700" b="0">
                <a:solidFill>
                  <a:srgbClr val="163640"/>
                </a:solidFill>
                <a:latin typeface="DejaVu Sans"/>
              </a:defRPr>
            </a:pPr>
            <a:r>
              <a:t>mode, time</a:t>
            </a:r>
          </a:p>
        </p:txBody>
      </p:sp>
      <p:sp>
        <p:nvSpPr>
          <p:cNvPr id="10" name="TextBox 9"/>
          <p:cNvSpPr txBox="1"/>
          <p:nvPr/>
        </p:nvSpPr>
        <p:spPr>
          <a:xfrm>
            <a:off x="257302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1" name="Rounded Rectangle 10"/>
          <p:cNvSpPr/>
          <p:nvPr/>
        </p:nvSpPr>
        <p:spPr>
          <a:xfrm>
            <a:off x="2814320" y="2451100"/>
            <a:ext cx="200152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04820" y="2654300"/>
            <a:ext cx="162052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02</a:t>
            </a:r>
          </a:p>
        </p:txBody>
      </p:sp>
      <p:sp>
        <p:nvSpPr>
          <p:cNvPr id="13" name="TextBox 12"/>
          <p:cNvSpPr txBox="1"/>
          <p:nvPr/>
        </p:nvSpPr>
        <p:spPr>
          <a:xfrm>
            <a:off x="3004820" y="3289300"/>
            <a:ext cx="162052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Proposal</a:t>
            </a:r>
          </a:p>
        </p:txBody>
      </p:sp>
      <p:sp>
        <p:nvSpPr>
          <p:cNvPr id="14" name="TextBox 13"/>
          <p:cNvSpPr txBox="1"/>
          <p:nvPr/>
        </p:nvSpPr>
        <p:spPr>
          <a:xfrm>
            <a:off x="3004820" y="4140200"/>
            <a:ext cx="162052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Exact request</a:t>
            </a:r>
          </a:p>
          <a:p>
            <a:pPr>
              <a:lnSpc>
                <a:spcPts val="2125"/>
              </a:lnSpc>
              <a:spcBef>
                <a:spcPts val="0"/>
              </a:spcBef>
              <a:spcAft>
                <a:spcPts val="0"/>
              </a:spcAft>
              <a:defRPr sz="1700" b="0">
                <a:solidFill>
                  <a:srgbClr val="163640"/>
                </a:solidFill>
                <a:latin typeface="DejaVu Sans"/>
              </a:defRPr>
            </a:pPr>
            <a:r>
              <a:t>+ reviewer</a:t>
            </a:r>
          </a:p>
        </p:txBody>
      </p:sp>
      <p:sp>
        <p:nvSpPr>
          <p:cNvPr id="15" name="TextBox 14"/>
          <p:cNvSpPr txBox="1"/>
          <p:nvPr/>
        </p:nvSpPr>
        <p:spPr>
          <a:xfrm>
            <a:off x="485394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6" name="Rounded Rectangle 15"/>
          <p:cNvSpPr/>
          <p:nvPr/>
        </p:nvSpPr>
        <p:spPr>
          <a:xfrm>
            <a:off x="5095240" y="2451100"/>
            <a:ext cx="200152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85740" y="2654300"/>
            <a:ext cx="162052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03</a:t>
            </a:r>
          </a:p>
        </p:txBody>
      </p:sp>
      <p:sp>
        <p:nvSpPr>
          <p:cNvPr id="18" name="TextBox 17"/>
          <p:cNvSpPr txBox="1"/>
          <p:nvPr/>
        </p:nvSpPr>
        <p:spPr>
          <a:xfrm>
            <a:off x="5285740" y="3289300"/>
            <a:ext cx="162052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Task</a:t>
            </a:r>
          </a:p>
        </p:txBody>
      </p:sp>
      <p:sp>
        <p:nvSpPr>
          <p:cNvPr id="19" name="TextBox 18"/>
          <p:cNvSpPr txBox="1"/>
          <p:nvPr/>
        </p:nvSpPr>
        <p:spPr>
          <a:xfrm>
            <a:off x="5285740" y="4140200"/>
            <a:ext cx="162052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Owner +</a:t>
            </a:r>
          </a:p>
          <a:p>
            <a:pPr>
              <a:lnSpc>
                <a:spcPts val="2125"/>
              </a:lnSpc>
              <a:spcBef>
                <a:spcPts val="0"/>
              </a:spcBef>
              <a:spcAft>
                <a:spcPts val="0"/>
              </a:spcAft>
              <a:defRPr sz="1700" b="0">
                <a:solidFill>
                  <a:srgbClr val="163640"/>
                </a:solidFill>
                <a:latin typeface="DejaVu Sans"/>
              </a:defRPr>
            </a:pPr>
            <a:r>
              <a:t>executor</a:t>
            </a:r>
          </a:p>
        </p:txBody>
      </p:sp>
      <p:sp>
        <p:nvSpPr>
          <p:cNvPr id="20" name="TextBox 19"/>
          <p:cNvSpPr txBox="1"/>
          <p:nvPr/>
        </p:nvSpPr>
        <p:spPr>
          <a:xfrm>
            <a:off x="7134859"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21" name="Rounded Rectangle 20"/>
          <p:cNvSpPr/>
          <p:nvPr/>
        </p:nvSpPr>
        <p:spPr>
          <a:xfrm>
            <a:off x="7376159" y="2451100"/>
            <a:ext cx="200152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66659" y="2654300"/>
            <a:ext cx="162052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04</a:t>
            </a:r>
          </a:p>
        </p:txBody>
      </p:sp>
      <p:sp>
        <p:nvSpPr>
          <p:cNvPr id="23" name="TextBox 22"/>
          <p:cNvSpPr txBox="1"/>
          <p:nvPr/>
        </p:nvSpPr>
        <p:spPr>
          <a:xfrm>
            <a:off x="7566659" y="3289300"/>
            <a:ext cx="162052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Payment</a:t>
            </a:r>
          </a:p>
        </p:txBody>
      </p:sp>
      <p:sp>
        <p:nvSpPr>
          <p:cNvPr id="24" name="TextBox 23"/>
          <p:cNvSpPr txBox="1"/>
          <p:nvPr/>
        </p:nvSpPr>
        <p:spPr>
          <a:xfrm>
            <a:off x="7566659" y="4140200"/>
            <a:ext cx="162052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ID + stable</a:t>
            </a:r>
          </a:p>
          <a:p>
            <a:pPr>
              <a:lnSpc>
                <a:spcPts val="2125"/>
              </a:lnSpc>
              <a:spcBef>
                <a:spcPts val="0"/>
              </a:spcBef>
              <a:spcAft>
                <a:spcPts val="0"/>
              </a:spcAft>
              <a:defRPr sz="1700" b="0">
                <a:solidFill>
                  <a:srgbClr val="163640"/>
                </a:solidFill>
                <a:latin typeface="DejaVu Sans"/>
              </a:defRPr>
            </a:pPr>
            <a:r>
              <a:t>key</a:t>
            </a:r>
          </a:p>
        </p:txBody>
      </p:sp>
      <p:sp>
        <p:nvSpPr>
          <p:cNvPr id="25" name="TextBox 24"/>
          <p:cNvSpPr txBox="1"/>
          <p:nvPr/>
        </p:nvSpPr>
        <p:spPr>
          <a:xfrm>
            <a:off x="941578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26" name="Rounded Rectangle 25"/>
          <p:cNvSpPr/>
          <p:nvPr/>
        </p:nvSpPr>
        <p:spPr>
          <a:xfrm>
            <a:off x="9657080" y="2451100"/>
            <a:ext cx="200152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47580" y="2654300"/>
            <a:ext cx="162052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05</a:t>
            </a:r>
          </a:p>
        </p:txBody>
      </p:sp>
      <p:sp>
        <p:nvSpPr>
          <p:cNvPr id="28" name="TextBox 27"/>
          <p:cNvSpPr txBox="1"/>
          <p:nvPr/>
        </p:nvSpPr>
        <p:spPr>
          <a:xfrm>
            <a:off x="9847580" y="3289300"/>
            <a:ext cx="162052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Ledger</a:t>
            </a:r>
          </a:p>
        </p:txBody>
      </p:sp>
      <p:sp>
        <p:nvSpPr>
          <p:cNvPr id="29" name="TextBox 28"/>
          <p:cNvSpPr txBox="1"/>
          <p:nvPr/>
        </p:nvSpPr>
        <p:spPr>
          <a:xfrm>
            <a:off x="9847580" y="4140200"/>
            <a:ext cx="162052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Balance +</a:t>
            </a:r>
          </a:p>
          <a:p>
            <a:pPr>
              <a:lnSpc>
                <a:spcPts val="2125"/>
              </a:lnSpc>
              <a:spcBef>
                <a:spcPts val="0"/>
              </a:spcBef>
              <a:spcAft>
                <a:spcPts val="0"/>
              </a:spcAft>
              <a:defRPr sz="1700" b="0">
                <a:solidFill>
                  <a:srgbClr val="163640"/>
                </a:solidFill>
                <a:latin typeface="DejaVu Sans"/>
              </a:defRPr>
            </a:pPr>
            <a:r>
              <a:t>count deltas</a:t>
            </a:r>
          </a:p>
        </p:txBody>
      </p:sp>
      <p:sp>
        <p:nvSpPr>
          <p:cNvPr id="30" name="Rounded Rectangle 29"/>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Correlate observed spans, or explicitly label the trace incomplete.</a:t>
            </a:r>
          </a:p>
        </p:txBody>
      </p:sp>
      <p:sp>
        <p:nvSpPr>
          <p:cNvPr id="32" name="TextBox 31"/>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33" name="TextBox 32"/>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26 / 29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130–135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Incident review: what did your first vote miss?</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EXPLAIN A DENIAL</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Name the caller,</a:t>
            </a:r>
          </a:p>
          <a:p>
            <a:pPr>
              <a:lnSpc>
                <a:spcPts val="2625"/>
              </a:lnSpc>
              <a:spcBef>
                <a:spcPts val="0"/>
              </a:spcBef>
              <a:spcAft>
                <a:spcPts val="0"/>
              </a:spcAft>
              <a:defRPr sz="2100" b="0">
                <a:solidFill>
                  <a:srgbClr val="163640"/>
                </a:solidFill>
                <a:latin typeface="DejaVu Sans"/>
              </a:defRPr>
            </a:pPr>
            <a:r>
              <a:t>arguments, boundary</a:t>
            </a:r>
          </a:p>
          <a:p>
            <a:pPr>
              <a:lnSpc>
                <a:spcPts val="2625"/>
              </a:lnSpc>
              <a:spcBef>
                <a:spcPts val="0"/>
              </a:spcBef>
              <a:spcAft>
                <a:spcPts val="0"/>
              </a:spcAft>
              <a:defRPr sz="2100" b="0">
                <a:solidFill>
                  <a:srgbClr val="163640"/>
                </a:solidFill>
                <a:latin typeface="DejaVu Sans"/>
              </a:defRPr>
            </a:pPr>
            <a:r>
              <a:t>response and</a:t>
            </a:r>
          </a:p>
          <a:p>
            <a:pPr>
              <a:lnSpc>
                <a:spcPts val="2625"/>
              </a:lnSpc>
              <a:spcBef>
                <a:spcPts val="0"/>
              </a:spcBef>
              <a:spcAft>
                <a:spcPts val="0"/>
              </a:spcAft>
              <a:defRPr sz="2100" b="0">
                <a:solidFill>
                  <a:srgbClr val="163640"/>
                </a:solidFill>
                <a:latin typeface="DejaVu Sans"/>
              </a:defRPr>
            </a:pPr>
            <a:r>
              <a:t>observed ledger</a:t>
            </a:r>
          </a:p>
          <a:p>
            <a:pPr>
              <a:lnSpc>
                <a:spcPts val="2625"/>
              </a:lnSpc>
              <a:spcBef>
                <a:spcPts val="0"/>
              </a:spcBef>
              <a:spcAft>
                <a:spcPts val="0"/>
              </a:spcAft>
              <a:defRPr sz="2100" b="0">
                <a:solidFill>
                  <a:srgbClr val="163640"/>
                </a:solidFill>
                <a:latin typeface="DejaVu Sans"/>
              </a:defRPr>
            </a:pPr>
            <a:r>
              <a:t>delta.</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PROVE A PAYMENT</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Link independent</a:t>
            </a:r>
          </a:p>
          <a:p>
            <a:pPr>
              <a:lnSpc>
                <a:spcPts val="2625"/>
              </a:lnSpc>
              <a:spcBef>
                <a:spcPts val="0"/>
              </a:spcBef>
              <a:spcAft>
                <a:spcPts val="0"/>
              </a:spcAft>
              <a:defRPr sz="2100" b="0">
                <a:solidFill>
                  <a:srgbClr val="163640"/>
                </a:solidFill>
                <a:latin typeface="DejaVu Sans"/>
              </a:defRPr>
            </a:pPr>
            <a:r>
              <a:t>review, proposal,</a:t>
            </a:r>
          </a:p>
          <a:p>
            <a:pPr>
              <a:lnSpc>
                <a:spcPts val="2625"/>
              </a:lnSpc>
              <a:spcBef>
                <a:spcPts val="0"/>
              </a:spcBef>
              <a:spcAft>
                <a:spcPts val="0"/>
              </a:spcAft>
              <a:defRPr sz="2100" b="0">
                <a:solidFill>
                  <a:srgbClr val="163640"/>
                </a:solidFill>
                <a:latin typeface="DejaVu Sans"/>
              </a:defRPr>
            </a:pPr>
            <a:r>
              <a:t>task, payment and</a:t>
            </a:r>
          </a:p>
          <a:p>
            <a:pPr>
              <a:lnSpc>
                <a:spcPts val="2625"/>
              </a:lnSpc>
              <a:spcBef>
                <a:spcPts val="0"/>
              </a:spcBef>
              <a:spcAft>
                <a:spcPts val="0"/>
              </a:spcAft>
              <a:defRPr sz="2100" b="0">
                <a:solidFill>
                  <a:srgbClr val="163640"/>
                </a:solidFill>
                <a:latin typeface="DejaVu Sans"/>
              </a:defRPr>
            </a:pPr>
            <a:r>
              <a:t>one financial effect.</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ASSIGN OWNERS</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Inference, tool policy,</a:t>
            </a:r>
          </a:p>
          <a:p>
            <a:pPr>
              <a:lnSpc>
                <a:spcPts val="2625"/>
              </a:lnSpc>
              <a:spcBef>
                <a:spcPts val="0"/>
              </a:spcBef>
              <a:spcAft>
                <a:spcPts val="0"/>
              </a:spcAft>
              <a:defRPr sz="2100" b="0">
                <a:solidFill>
                  <a:srgbClr val="163640"/>
                </a:solidFill>
                <a:latin typeface="DejaVu Sans"/>
              </a:defRPr>
            </a:pPr>
            <a:r>
              <a:t>identity, approval,</a:t>
            </a:r>
          </a:p>
          <a:p>
            <a:pPr>
              <a:lnSpc>
                <a:spcPts val="2625"/>
              </a:lnSpc>
              <a:spcBef>
                <a:spcPts val="0"/>
              </a:spcBef>
              <a:spcAft>
                <a:spcPts val="0"/>
              </a:spcAft>
              <a:defRPr sz="2100" b="0">
                <a:solidFill>
                  <a:srgbClr val="163640"/>
                </a:solidFill>
                <a:latin typeface="DejaVu Sans"/>
              </a:defRPr>
            </a:pPr>
            <a:r>
              <a:t>audit and incident</a:t>
            </a:r>
          </a:p>
          <a:p>
            <a:pPr>
              <a:lnSpc>
                <a:spcPts val="2625"/>
              </a:lnSpc>
              <a:spcBef>
                <a:spcPts val="0"/>
              </a:spcBef>
              <a:spcAft>
                <a:spcPts val="0"/>
              </a:spcAft>
              <a:defRPr sz="2100" b="0">
                <a:solidFill>
                  <a:srgbClr val="163640"/>
                </a:solidFill>
                <a:latin typeface="DejaVu Sans"/>
              </a:defRPr>
            </a:pPr>
            <a:r>
              <a:t>operations.</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Before production: managed identity, resilient state, audit operations and conformance.</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27 / 29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FF99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FF9982"/>
                </a:solidFill>
                <a:latin typeface="DejaVu Sans"/>
              </a:defRPr>
            </a:pPr>
            <a:r>
              <a:t>WORKSHOP 4  /  130–135 MIN</a:t>
            </a:r>
          </a:p>
        </p:txBody>
      </p:sp>
      <p:sp>
        <p:nvSpPr>
          <p:cNvPr id="5" name="TextBox 4"/>
          <p:cNvSpPr txBox="1"/>
          <p:nvPr/>
        </p:nvSpPr>
        <p:spPr>
          <a:xfrm>
            <a:off x="533400" y="1358900"/>
            <a:ext cx="11049000" cy="2260600"/>
          </a:xfrm>
          <a:prstGeom prst="rect">
            <a:avLst/>
          </a:prstGeom>
          <a:noFill/>
        </p:spPr>
        <p:txBody>
          <a:bodyPr wrap="none" lIns="0" rIns="0" tIns="0" bIns="0" anchor="t">
            <a:spAutoFit/>
          </a:bodyPr>
          <a:lstStyle/>
          <a:p>
            <a:pPr>
              <a:lnSpc>
                <a:spcPts val="5059"/>
              </a:lnSpc>
              <a:spcBef>
                <a:spcPts val="0"/>
              </a:spcBef>
              <a:spcAft>
                <a:spcPts val="0"/>
              </a:spcAft>
              <a:defRPr sz="4400" b="1">
                <a:solidFill>
                  <a:srgbClr val="FFFFFF"/>
                </a:solidFill>
                <a:latin typeface="DejaVu Sans"/>
              </a:defRPr>
            </a:pPr>
            <a:r>
              <a:t>Restore useful work under explicit</a:t>
            </a:r>
          </a:p>
          <a:p>
            <a:pPr>
              <a:lnSpc>
                <a:spcPts val="5059"/>
              </a:lnSpc>
              <a:spcBef>
                <a:spcPts val="0"/>
              </a:spcBef>
              <a:spcAft>
                <a:spcPts val="0"/>
              </a:spcAft>
              <a:defRPr sz="4400" b="1">
                <a:solidFill>
                  <a:srgbClr val="FFFFFF"/>
                </a:solidFill>
                <a:latin typeface="DejaVu Sans"/>
              </a:defRPr>
            </a:pPr>
            <a:r>
              <a:t>authority</a:t>
            </a:r>
          </a:p>
        </p:txBody>
      </p:sp>
      <p:sp>
        <p:nvSpPr>
          <p:cNvPr id="6" name="TextBox 5"/>
          <p:cNvSpPr txBox="1"/>
          <p:nvPr/>
        </p:nvSpPr>
        <p:spPr>
          <a:xfrm>
            <a:off x="558800" y="3810000"/>
            <a:ext cx="10807700" cy="1536700"/>
          </a:xfrm>
          <a:prstGeom prst="rect">
            <a:avLst/>
          </a:prstGeom>
          <a:noFill/>
        </p:spPr>
        <p:txBody>
          <a:bodyPr wrap="none" lIns="0" rIns="0" tIns="0" bIns="0" anchor="t">
            <a:spAutoFit/>
          </a:bodyPr>
          <a:lstStyle/>
          <a:p>
            <a:pPr>
              <a:lnSpc>
                <a:spcPts val="3250"/>
              </a:lnSpc>
              <a:spcBef>
                <a:spcPts val="0"/>
              </a:spcBef>
              <a:spcAft>
                <a:spcPts val="0"/>
              </a:spcAft>
              <a:defRPr sz="2600" b="0">
                <a:solidFill>
                  <a:srgbClr val="C1D5D8"/>
                </a:solidFill>
                <a:latin typeface="DejaVu Sans"/>
              </a:defRPr>
            </a:pPr>
            <a:r>
              <a:t>The final evidence: blocked attacks alongside a correctly</a:t>
            </a:r>
          </a:p>
          <a:p>
            <a:pPr>
              <a:lnSpc>
                <a:spcPts val="3250"/>
              </a:lnSpc>
              <a:spcBef>
                <a:spcPts val="0"/>
              </a:spcBef>
              <a:spcAft>
                <a:spcPts val="0"/>
              </a:spcAft>
              <a:defRPr sz="2600" b="0">
                <a:solidFill>
                  <a:srgbClr val="C1D5D8"/>
                </a:solidFill>
                <a:latin typeface="DejaVu Sans"/>
              </a:defRPr>
            </a:pPr>
            <a:r>
              <a:t>approved and bound payment.</a:t>
            </a:r>
          </a:p>
        </p:txBody>
      </p:sp>
      <p:sp>
        <p:nvSpPr>
          <p:cNvPr id="7" name="TextBox 6"/>
          <p:cNvSpPr txBox="1"/>
          <p:nvPr/>
        </p:nvSpPr>
        <p:spPr>
          <a:xfrm>
            <a:off x="558800" y="5829300"/>
            <a:ext cx="10960100" cy="571500"/>
          </a:xfrm>
          <a:prstGeom prst="rect">
            <a:avLst/>
          </a:prstGeom>
          <a:noFill/>
        </p:spPr>
        <p:txBody>
          <a:bodyPr wrap="none" lIns="0" rIns="0" tIns="0" bIns="0" anchor="t">
            <a:spAutoFit/>
          </a:bodyPr>
          <a:lstStyle/>
          <a:p>
            <a:pPr>
              <a:lnSpc>
                <a:spcPts val="2125"/>
              </a:lnSpc>
              <a:spcBef>
                <a:spcPts val="0"/>
              </a:spcBef>
              <a:spcAft>
                <a:spcPts val="0"/>
              </a:spcAft>
              <a:defRPr sz="1700" b="1">
                <a:solidFill>
                  <a:srgbClr val="FF9982"/>
                </a:solidFill>
                <a:latin typeface="DejaVu Sans"/>
              </a:defRPr>
            </a:pPr>
            <a:r>
              <a:t>Capabilities → Governance → Durability → Incident-tested boundaries</a:t>
            </a:r>
          </a:p>
        </p:txBody>
      </p:sp>
      <p:sp>
        <p:nvSpPr>
          <p:cNvPr id="8" name="TextBox 7"/>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AAC0C6"/>
                </a:solidFill>
                <a:latin typeface="DejaVu Sans"/>
              </a:defRPr>
            </a:pPr>
            <a:r>
              <a:t>FLO BANK  /  WORKSHOP 4  /  FICTIONAL LAB</a:t>
            </a:r>
          </a:p>
        </p:txBody>
      </p:sp>
      <p:sp>
        <p:nvSpPr>
          <p:cNvPr id="9" name="TextBox 8"/>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AAC0C6"/>
                </a:solidFill>
                <a:latin typeface="DejaVu Sans"/>
              </a:defRPr>
            </a:pPr>
            <a:r>
              <a:t>28 / 29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4  /  REFERENCE / OUTSIDE TIMED DELIVERY</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Presenter preparation &amp; source guide</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PREPARE</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Local w4 per pair.</a:t>
            </a:r>
          </a:p>
          <a:p>
            <a:pPr>
              <a:lnSpc>
                <a:spcPts val="2625"/>
              </a:lnSpc>
              <a:spcBef>
                <a:spcPts val="0"/>
              </a:spcBef>
              <a:spcAft>
                <a:spcPts val="0"/>
              </a:spcAft>
              <a:defRPr sz="2100" b="0">
                <a:solidFill>
                  <a:srgbClr val="163640"/>
                </a:solidFill>
                <a:latin typeface="DejaVu Sans"/>
              </a:defRPr>
            </a:pPr>
            <a:r>
              <a:t>Independent reviewer</a:t>
            </a:r>
          </a:p>
          <a:p>
            <a:pPr>
              <a:lnSpc>
                <a:spcPts val="2625"/>
              </a:lnSpc>
              <a:spcBef>
                <a:spcPts val="0"/>
              </a:spcBef>
              <a:spcAft>
                <a:spcPts val="0"/>
              </a:spcAft>
              <a:defRPr sz="2100" b="0">
                <a:solidFill>
                  <a:srgbClr val="163640"/>
                </a:solidFill>
                <a:latin typeface="DejaVu Sans"/>
              </a:defRPr>
            </a:pPr>
            <a:r>
              <a:t>session. Optional</a:t>
            </a:r>
          </a:p>
          <a:p>
            <a:pPr>
              <a:lnSpc>
                <a:spcPts val="2625"/>
              </a:lnSpc>
              <a:spcBef>
                <a:spcPts val="0"/>
              </a:spcBef>
              <a:spcAft>
                <a:spcPts val="0"/>
              </a:spcAft>
              <a:defRPr sz="2100" b="0">
                <a:solidFill>
                  <a:srgbClr val="163640"/>
                </a:solidFill>
                <a:latin typeface="DejaVu Sans"/>
              </a:defRPr>
            </a:pPr>
            <a:r>
              <a:t>isolated presenter</a:t>
            </a:r>
          </a:p>
          <a:p>
            <a:pPr>
              <a:lnSpc>
                <a:spcPts val="2625"/>
              </a:lnSpc>
              <a:spcBef>
                <a:spcPts val="0"/>
              </a:spcBef>
              <a:spcAft>
                <a:spcPts val="0"/>
              </a:spcAft>
              <a:defRPr sz="2100" b="0">
                <a:solidFill>
                  <a:srgbClr val="163640"/>
                </a:solidFill>
                <a:latin typeface="DejaVu Sans"/>
              </a:defRPr>
            </a:pPr>
            <a:r>
              <a:t>sandbox.</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CHECK</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562"/>
              </a:lnSpc>
              <a:spcBef>
                <a:spcPts val="0"/>
              </a:spcBef>
              <a:spcAft>
                <a:spcPts val="0"/>
              </a:spcAft>
              <a:defRPr sz="2050" b="0">
                <a:solidFill>
                  <a:srgbClr val="163640"/>
                </a:solidFill>
                <a:latin typeface="DejaVu Sans"/>
              </a:defRPr>
            </a:pPr>
            <a:r>
              <a:t>workshop status +</a:t>
            </a:r>
          </a:p>
          <a:p>
            <a:pPr>
              <a:lnSpc>
                <a:spcPts val="2562"/>
              </a:lnSpc>
              <a:spcBef>
                <a:spcPts val="0"/>
              </a:spcBef>
              <a:spcAft>
                <a:spcPts val="0"/>
              </a:spcAft>
              <a:defRPr sz="2050" b="0">
                <a:solidFill>
                  <a:srgbClr val="163640"/>
                </a:solidFill>
                <a:latin typeface="DejaVu Sans"/>
              </a:defRPr>
            </a:pPr>
            <a:r>
              <a:t>verify w4</a:t>
            </a:r>
          </a:p>
          <a:p>
            <a:pPr>
              <a:lnSpc>
                <a:spcPts val="2562"/>
              </a:lnSpc>
              <a:spcBef>
                <a:spcPts val="0"/>
              </a:spcBef>
              <a:spcAft>
                <a:spcPts val="0"/>
              </a:spcAft>
              <a:defRPr sz="2050" b="0">
                <a:solidFill>
                  <a:srgbClr val="163640"/>
                </a:solidFill>
                <a:latin typeface="DejaVu Sans"/>
              </a:defRPr>
            </a:pPr>
            <a:r>
              <a:t>Incident Room</a:t>
            </a:r>
          </a:p>
          <a:p>
            <a:pPr>
              <a:lnSpc>
                <a:spcPts val="2562"/>
              </a:lnSpc>
              <a:spcBef>
                <a:spcPts val="0"/>
              </a:spcBef>
              <a:spcAft>
                <a:spcPts val="0"/>
              </a:spcAft>
              <a:defRPr sz="2050" b="0">
                <a:solidFill>
                  <a:srgbClr val="163640"/>
                </a:solidFill>
                <a:latin typeface="DejaVu Sans"/>
              </a:defRPr>
            </a:pPr>
            <a:r>
              <a:t>readiness</a:t>
            </a:r>
          </a:p>
          <a:p>
            <a:pPr>
              <a:lnSpc>
                <a:spcPts val="2562"/>
              </a:lnSpc>
              <a:spcBef>
                <a:spcPts val="0"/>
              </a:spcBef>
              <a:spcAft>
                <a:spcPts val="0"/>
              </a:spcAft>
              <a:defRPr sz="2050" b="0">
                <a:solidFill>
                  <a:srgbClr val="163640"/>
                </a:solidFill>
                <a:latin typeface="DejaVu Sans"/>
              </a:defRPr>
            </a:pPr>
            <a:r>
              <a:t>Completed local</a:t>
            </a:r>
          </a:p>
          <a:p>
            <a:pPr>
              <a:lnSpc>
                <a:spcPts val="2562"/>
              </a:lnSpc>
              <a:spcBef>
                <a:spcPts val="0"/>
              </a:spcBef>
              <a:spcAft>
                <a:spcPts val="0"/>
              </a:spcAft>
              <a:defRPr sz="2050" b="0">
                <a:solidFill>
                  <a:srgbClr val="163640"/>
                </a:solidFill>
                <a:latin typeface="DejaVu Sans"/>
              </a:defRPr>
            </a:pPr>
            <a:r>
              <a:t>checkpoints</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RECOVER</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Timebox stalls to two</a:t>
            </a:r>
          </a:p>
          <a:p>
            <a:pPr>
              <a:lnSpc>
                <a:spcPts val="2625"/>
              </a:lnSpc>
              <a:spcBef>
                <a:spcPts val="0"/>
              </a:spcBef>
              <a:spcAft>
                <a:spcPts val="0"/>
              </a:spcAft>
              <a:defRPr sz="2100" b="0">
                <a:solidFill>
                  <a:srgbClr val="163640"/>
                </a:solidFill>
                <a:latin typeface="DejaVu Sans"/>
              </a:defRPr>
            </a:pPr>
            <a:r>
              <a:t>minutes. Export</a:t>
            </a:r>
          </a:p>
          <a:p>
            <a:pPr>
              <a:lnSpc>
                <a:spcPts val="2625"/>
              </a:lnSpc>
              <a:spcBef>
                <a:spcPts val="0"/>
              </a:spcBef>
              <a:spcAft>
                <a:spcPts val="0"/>
              </a:spcAft>
              <a:defRPr sz="2100" b="0">
                <a:solidFill>
                  <a:srgbClr val="163640"/>
                </a:solidFill>
                <a:latin typeface="DejaVu Sans"/>
              </a:defRPr>
            </a:pPr>
            <a:r>
              <a:t>evidence. Reconcile</a:t>
            </a:r>
          </a:p>
          <a:p>
            <a:pPr>
              <a:lnSpc>
                <a:spcPts val="2625"/>
              </a:lnSpc>
              <a:spcBef>
                <a:spcPts val="0"/>
              </a:spcBef>
              <a:spcAft>
                <a:spcPts val="0"/>
              </a:spcAft>
              <a:defRPr sz="2100" b="0">
                <a:solidFill>
                  <a:srgbClr val="163640"/>
                </a:solidFill>
                <a:latin typeface="DejaVu Sans"/>
              </a:defRPr>
            </a:pPr>
            <a:r>
              <a:t>original runs.</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Follow the W4 answer key for secret configuration, isolation and rehearsal setup.</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4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29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day the agent broke the bank</dc:title>
  <dc:subject>Implementing Triple-Gate Architecture &amp; A2A Security for Autonomous AI Workloads</dc:subject>
  <dc:creator>Flo Bank Workshop Series</dc:creator>
  <cp:keywords>Flo Bank, workshop 4, fictional lab</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