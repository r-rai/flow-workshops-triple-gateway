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0–5 min</a:t>
            </a:r>
          </a:p>
          <a:p>
            <a:r>
              <a:t>Flo is allowed to read a support ticket. Someone has placed instructions inside it. Ask what decides whether the bank pays if those instructions become a tool call. Use Governance Studio at http://localhost:9080/workshop-2.</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0–5 min</a:t>
            </a:r>
          </a:p>
          <a:p>
            <a:r>
              <a:t>Use one presenter against the shared seeded ledger. Recorded scenarios need no provider key. Installation and setup are outside this clock. Optional live inference remains bounded and separately labelled.</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0–5 min</a:t>
            </a:r>
          </a:p>
          <a:p>
            <a:r>
              <a:t>Open Replay the unsafe proposal. Identify where data could be mistaken for an instruction. The ticket asks for 900000 INR, while the fixed W2 request is 900,000 paise. Keep those distinct.</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0–5 min</a:t>
            </a:r>
          </a:p>
          <a:p>
            <a:r>
              <a:t>The fixture bypasses model inference but exercises the real governance services. A denial proves the submitted request was blocked. It does not establish that a live model was compromised, or that the ticket's rupee amount was interpreted faithfully.</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5–12 min</a:t>
            </a:r>
          </a:p>
          <a:p>
            <a:r>
              <a:t>A recorded proposal skips inference. A denied payment may stop at Gate 2 before reaching the banking API. Avoid narrating a full successful call path when the observed request was stopped earlier.</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5–12 min</a:t>
            </a:r>
          </a:p>
          <a:p>
            <a:r>
              <a:t>Read the diagram in two stages. The Governance Studio backend first reads the case through MCP and Gate 3. For live review, it sends minimal case context through Gate 1 to the hosted model and validates at most one returned payment proposal. Recorded replay supplies a fixed proposal without inference. Both payment paths enter Gate 2, where the MCP adapter validates signed identity and arguments and queries OPA. An allowed payment traverses Gate 3 API-key authentication and Core Banking's signed-identity, approval and ledger rules. Approval-required requests can persist a pending proposal with no debit. PostgreSQL holds banking records; exported telemetry is inspected in Jaeger. APISIX implements all three logical gateway routes. Gate 1 enforces inference budgets and output limits; this lab has no dedicated gateway prompt-injection filter. Model instructions treat case text as untrusted. Denied payment calls stop at Gate 2; independent observer reads do not prove that payment reached Core Banking.</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12–22 min</a:t>
            </a:r>
          </a:p>
          <a:p>
            <a:r>
              <a:t>If configured, use Ask Flo to review the case. It makes at most one bounded provider call with minimal case context and validates at most one payment proposal. Accept refusal or provider failure as the observed result. Never silently relabel replay as live.</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22–34 min</a:t>
            </a:r>
          </a:p>
          <a:p>
            <a:r>
              <a:t>Give pairs a short prediction window. Record the validated signed role, actual amount and beneficiary. The console uses fixed server-owned scenarios; browser selection is not arbitrary identity or tool authority.</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22–34 min</a:t>
            </a:r>
          </a:p>
          <a:p>
            <a:r>
              <a:t>Exact ceiling reason: AMOUNT_EXCEEDS_TRANSFER_CEILING. Review each downloaded result. Repeated successful small-payment scenarios mutate the fictional ledger, so compare per-run effects, not an assumed absolute balance.</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22–34 min</a:t>
            </a:r>
          </a:p>
          <a:p>
            <a:r>
              <a:t>Show spikes/spike3_opa/policy.rego and the checkpoints linked from the worksheet. Ask what removing support_agent from both the low-risk decision and reason rules would do. Make consistent changes on a private offline copy; do not install the broad teaching checkpoint on the shared presenter stack.</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22–34 min</a:t>
            </a:r>
          </a:p>
          <a:p>
            <a:r>
              <a:t>These are W2 support-agent policy thresholds, not W3 resolver approval rules. Raising an OPA allowance alone does not bypass the banking approval requirement. The W2 console stores pending proposals but does not approve or settle them.</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22–34 min</a:t>
            </a:r>
          </a:p>
          <a:p>
            <a:r>
              <a:t>Ask participants which component owns the persisted approval record. W2 introduces this lightweight state; W3 supplies a durable workflow pause and W4 demonstrates independent exact-transaction review.</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34–41 min</a:t>
            </a:r>
          </a:p>
          <a:p>
            <a:r>
              <a:t>Use the small-payment button: case-review actions require a governed case read first. The automated outage runner restores OPA in a finally block. A timeout must never become execution permission.</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34–41 min</a:t>
            </a:r>
          </a:p>
          <a:p>
            <a:r>
              <a:t>Open Jaeger at http://localhost:16686. Observer reads are separate from the denied request. W2 console payment requests currently lack idempotency keys: inspect ledger effects before retrying an ambiguous response.</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41–45 min</a:t>
            </a:r>
          </a:p>
          <a:p>
            <a:r>
              <a:t>The blueprint panels discuss enterprise controls beyond the lab. Do not imply the development stack implements enterprise DLP, shadow-AI discovery, full MCP OAuth discovery, production IAM, immutable audit storage or compliance certification.</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41–45 min</a:t>
            </a:r>
          </a:p>
          <a:p>
            <a:r>
              <a:t>Ask each pair to explain one denial and the pending-proposal result using evidence. Close with the difference between model behavior and enforcement.</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Reference / outside timed delivery</a:t>
            </a:r>
          </a:p>
          <a:p>
            <a:r>
              <a:t>Use sample login maya@flobank.demo / flo-demo. The rehearsal writes timestamped evidence in workshops/w2/evidence and does not reset or switch profiles. Preserve old evidence before any fictional-ledger reset. For optional live review, see docs/workshops/openrouter-setup.md and provider configuration guidance. No live calls are needed for the recorded exercise.</a:t>
            </a:r>
          </a:p>
          <a:p/>
          <a:p>
            <a:r>
              <a:t>SOURCE FILES (repository root):</a:t>
            </a:r>
          </a:p>
          <a:p>
            <a:r>
              <a:t>docs/workshops/workshop-2-story.md</a:t>
            </a:r>
          </a:p>
          <a:p>
            <a:r>
              <a:t>workshops/w2/worksheet.md</a:t>
            </a:r>
          </a:p>
          <a:p>
            <a:r>
              <a:t>workshops/w2/answer-key.md</a:t>
            </a:r>
          </a:p>
          <a:p>
            <a:r>
              <a:t>docs/workshops/delivery-plan.md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5B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5BC69"/>
                </a:solidFill>
                <a:latin typeface="DejaVu Sans"/>
              </a:defRPr>
            </a:pPr>
            <a:r>
              <a:t>WORKSHOP 2  /  0–5 MIN</a:t>
            </a:r>
          </a:p>
        </p:txBody>
      </p:sp>
      <p:sp>
        <p:nvSpPr>
          <p:cNvPr id="5" name="Rounded Rectangle 4"/>
          <p:cNvSpPr/>
          <p:nvPr/>
        </p:nvSpPr>
        <p:spPr>
          <a:xfrm>
            <a:off x="9664700" y="1079500"/>
            <a:ext cx="1981200" cy="4013200"/>
          </a:xfrm>
          <a:prstGeom prst="roundRect">
            <a:avLst>
              <a:gd name="adj" fmla="val 6000"/>
            </a:avLst>
          </a:prstGeom>
          <a:solidFill>
            <a:srgbClr val="193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31400" y="1498600"/>
            <a:ext cx="1600200" cy="1778000"/>
          </a:xfrm>
          <a:prstGeom prst="rect">
            <a:avLst/>
          </a:prstGeom>
          <a:noFill/>
        </p:spPr>
        <p:txBody>
          <a:bodyPr wrap="none" lIns="0" rIns="0" tIns="0" bIns="0" anchor="t">
            <a:spAutoFit/>
          </a:bodyPr>
          <a:lstStyle/>
          <a:p>
            <a:pPr>
              <a:lnSpc>
                <a:spcPts val="10250"/>
              </a:lnSpc>
              <a:spcBef>
                <a:spcPts val="0"/>
              </a:spcBef>
              <a:spcAft>
                <a:spcPts val="0"/>
              </a:spcAft>
              <a:defRPr sz="8200" b="1">
                <a:solidFill>
                  <a:srgbClr val="F5BC69"/>
                </a:solidFill>
                <a:latin typeface="DejaVu Sans"/>
              </a:defRPr>
            </a:pPr>
            <a:r>
              <a:t>02</a:t>
            </a:r>
          </a:p>
        </p:txBody>
      </p:sp>
      <p:sp>
        <p:nvSpPr>
          <p:cNvPr id="7" name="TextBox 6"/>
          <p:cNvSpPr txBox="1"/>
          <p:nvPr/>
        </p:nvSpPr>
        <p:spPr>
          <a:xfrm>
            <a:off x="9931400" y="3505200"/>
            <a:ext cx="1562100" cy="1270000"/>
          </a:xfrm>
          <a:prstGeom prst="rect">
            <a:avLst/>
          </a:prstGeom>
          <a:noFill/>
        </p:spPr>
        <p:txBody>
          <a:bodyPr wrap="none" lIns="0" rIns="0" tIns="0" bIns="0" anchor="t">
            <a:spAutoFit/>
          </a:bodyPr>
          <a:lstStyle/>
          <a:p>
            <a:pPr>
              <a:lnSpc>
                <a:spcPts val="3125"/>
              </a:lnSpc>
              <a:spcBef>
                <a:spcPts val="0"/>
              </a:spcBef>
              <a:spcAft>
                <a:spcPts val="0"/>
              </a:spcAft>
              <a:defRPr sz="2500" b="0">
                <a:solidFill>
                  <a:srgbClr val="FFFFFF"/>
                </a:solidFill>
                <a:latin typeface="DejaVu Sans"/>
              </a:defRPr>
            </a:pPr>
            <a:r>
              <a:t>45</a:t>
            </a:r>
          </a:p>
          <a:p>
            <a:pPr>
              <a:lnSpc>
                <a:spcPts val="3125"/>
              </a:lnSpc>
              <a:spcBef>
                <a:spcPts val="0"/>
              </a:spcBef>
              <a:spcAft>
                <a:spcPts val="0"/>
              </a:spcAft>
              <a:defRPr sz="2500" b="0">
                <a:solidFill>
                  <a:srgbClr val="FFFFFF"/>
                </a:solidFill>
                <a:latin typeface="DejaVu Sans"/>
              </a:defRPr>
            </a:pPr>
            <a:r>
              <a:t>MINUTES</a:t>
            </a:r>
          </a:p>
        </p:txBody>
      </p:sp>
      <p:sp>
        <p:nvSpPr>
          <p:cNvPr id="8" name="TextBox 7"/>
          <p:cNvSpPr txBox="1"/>
          <p:nvPr/>
        </p:nvSpPr>
        <p:spPr>
          <a:xfrm>
            <a:off x="533400" y="1371600"/>
            <a:ext cx="8661400" cy="2565400"/>
          </a:xfrm>
          <a:prstGeom prst="rect">
            <a:avLst/>
          </a:prstGeom>
          <a:noFill/>
        </p:spPr>
        <p:txBody>
          <a:bodyPr wrap="none" lIns="0" rIns="0" tIns="0" bIns="0" anchor="t">
            <a:spAutoFit/>
          </a:bodyPr>
          <a:lstStyle/>
          <a:p>
            <a:pPr>
              <a:lnSpc>
                <a:spcPts val="5290"/>
              </a:lnSpc>
              <a:spcBef>
                <a:spcPts val="0"/>
              </a:spcBef>
              <a:spcAft>
                <a:spcPts val="0"/>
              </a:spcAft>
              <a:defRPr sz="4600" b="1">
                <a:solidFill>
                  <a:srgbClr val="FFFFFF"/>
                </a:solidFill>
                <a:latin typeface="DejaVu Sans"/>
              </a:defRPr>
            </a:pPr>
            <a:r>
              <a:t>The ticket that tried to</a:t>
            </a:r>
          </a:p>
          <a:p>
            <a:pPr>
              <a:lnSpc>
                <a:spcPts val="5290"/>
              </a:lnSpc>
              <a:spcBef>
                <a:spcPts val="0"/>
              </a:spcBef>
              <a:spcAft>
                <a:spcPts val="0"/>
              </a:spcAft>
              <a:defRPr sz="4600" b="1">
                <a:solidFill>
                  <a:srgbClr val="FFFFFF"/>
                </a:solidFill>
                <a:latin typeface="DejaVu Sans"/>
              </a:defRPr>
            </a:pPr>
            <a:r>
              <a:t>give orders</a:t>
            </a:r>
          </a:p>
        </p:txBody>
      </p:sp>
      <p:sp>
        <p:nvSpPr>
          <p:cNvPr id="9" name="TextBox 8"/>
          <p:cNvSpPr txBox="1"/>
          <p:nvPr/>
        </p:nvSpPr>
        <p:spPr>
          <a:xfrm>
            <a:off x="558800" y="4152900"/>
            <a:ext cx="8382000" cy="1295400"/>
          </a:xfrm>
          <a:prstGeom prst="rect">
            <a:avLst/>
          </a:prstGeom>
          <a:noFill/>
        </p:spPr>
        <p:txBody>
          <a:bodyPr wrap="none" lIns="0" rIns="0" tIns="0" bIns="0" anchor="t">
            <a:spAutoFit/>
          </a:bodyPr>
          <a:lstStyle/>
          <a:p>
            <a:pPr>
              <a:lnSpc>
                <a:spcPts val="2750"/>
              </a:lnSpc>
              <a:spcBef>
                <a:spcPts val="0"/>
              </a:spcBef>
              <a:spcAft>
                <a:spcPts val="0"/>
              </a:spcAft>
              <a:defRPr sz="2200" b="0">
                <a:solidFill>
                  <a:srgbClr val="C1D5D8"/>
                </a:solidFill>
                <a:latin typeface="DejaVu Sans"/>
              </a:defRPr>
            </a:pPr>
            <a:r>
              <a:t>Beyond API Governance: Securing AI Agents, MCP Servers,</a:t>
            </a:r>
          </a:p>
          <a:p>
            <a:pPr>
              <a:lnSpc>
                <a:spcPts val="2750"/>
              </a:lnSpc>
              <a:spcBef>
                <a:spcPts val="0"/>
              </a:spcBef>
              <a:spcAft>
                <a:spcPts val="0"/>
              </a:spcAft>
              <a:defRPr sz="2200" b="0">
                <a:solidFill>
                  <a:srgbClr val="C1D5D8"/>
                </a:solidFill>
                <a:latin typeface="DejaVu Sans"/>
              </a:defRPr>
            </a:pPr>
            <a:r>
              <a:t>and Enterprise Integrations</a:t>
            </a:r>
          </a:p>
        </p:txBody>
      </p:sp>
      <p:sp>
        <p:nvSpPr>
          <p:cNvPr id="10" name="TextBox 9"/>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5BC69"/>
                </a:solidFill>
                <a:latin typeface="DejaVu Sans"/>
              </a:defRPr>
            </a:pPr>
            <a:r>
              <a:t>Identity • Actual arguments • Observable business effects</a:t>
            </a:r>
          </a:p>
        </p:txBody>
      </p:sp>
      <p:sp>
        <p:nvSpPr>
          <p:cNvPr id="11" name="TextBox 10"/>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2  /  FICTIONAL LAB</a:t>
            </a:r>
          </a:p>
        </p:txBody>
      </p:sp>
      <p:sp>
        <p:nvSpPr>
          <p:cNvPr id="12" name="TextBox 11"/>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01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0–5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The 45-minute route</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1030223"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Time</a:t>
            </a:r>
          </a:p>
        </p:txBody>
      </p:sp>
      <p:sp>
        <p:nvSpPr>
          <p:cNvPr id="8" name="TextBox 7"/>
          <p:cNvSpPr txBox="1"/>
          <p:nvPr/>
        </p:nvSpPr>
        <p:spPr>
          <a:xfrm>
            <a:off x="2020824"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Activity</a:t>
            </a:r>
          </a:p>
        </p:txBody>
      </p:sp>
      <p:sp>
        <p:nvSpPr>
          <p:cNvPr id="9" name="TextBox 8"/>
          <p:cNvSpPr txBox="1"/>
          <p:nvPr/>
        </p:nvSpPr>
        <p:spPr>
          <a:xfrm>
            <a:off x="6915911"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Evidence</a:t>
            </a:r>
          </a:p>
        </p:txBody>
      </p:sp>
      <p:sp>
        <p:nvSpPr>
          <p:cNvPr id="10" name="Rectangle 9"/>
          <p:cNvSpPr/>
          <p:nvPr/>
        </p:nvSpPr>
        <p:spPr>
          <a:xfrm>
            <a:off x="533400" y="2654300"/>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0–5</a:t>
            </a:r>
          </a:p>
        </p:txBody>
      </p:sp>
      <p:sp>
        <p:nvSpPr>
          <p:cNvPr id="12" name="TextBox 11"/>
          <p:cNvSpPr txBox="1"/>
          <p:nvPr/>
        </p:nvSpPr>
        <p:spPr>
          <a:xfrm>
            <a:off x="2020824" y="274320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Read the injected ticket</a:t>
            </a:r>
          </a:p>
        </p:txBody>
      </p:sp>
      <p:sp>
        <p:nvSpPr>
          <p:cNvPr id="13" name="TextBox 12"/>
          <p:cNvSpPr txBox="1"/>
          <p:nvPr/>
        </p:nvSpPr>
        <p:spPr>
          <a:xfrm>
            <a:off x="6915911" y="274320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Unsafe recorded request</a:t>
            </a:r>
          </a:p>
        </p:txBody>
      </p:sp>
      <p:sp>
        <p:nvSpPr>
          <p:cNvPr id="14" name="Rectangle 13"/>
          <p:cNvSpPr/>
          <p:nvPr/>
        </p:nvSpPr>
        <p:spPr>
          <a:xfrm>
            <a:off x="533400" y="3151716"/>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240616"/>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5–12</a:t>
            </a:r>
          </a:p>
        </p:txBody>
      </p:sp>
      <p:sp>
        <p:nvSpPr>
          <p:cNvPr id="16" name="TextBox 15"/>
          <p:cNvSpPr txBox="1"/>
          <p:nvPr/>
        </p:nvSpPr>
        <p:spPr>
          <a:xfrm>
            <a:off x="2020824" y="324061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Assign boundary responsibilities</a:t>
            </a:r>
          </a:p>
        </p:txBody>
      </p:sp>
      <p:sp>
        <p:nvSpPr>
          <p:cNvPr id="17" name="TextBox 16"/>
          <p:cNvSpPr txBox="1"/>
          <p:nvPr/>
        </p:nvSpPr>
        <p:spPr>
          <a:xfrm>
            <a:off x="6915911" y="324061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Identity / tool / API controls</a:t>
            </a:r>
          </a:p>
        </p:txBody>
      </p:sp>
      <p:sp>
        <p:nvSpPr>
          <p:cNvPr id="18" name="Rectangle 17"/>
          <p:cNvSpPr/>
          <p:nvPr/>
        </p:nvSpPr>
        <p:spPr>
          <a:xfrm>
            <a:off x="533400" y="3649133"/>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8033"/>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12–22</a:t>
            </a:r>
          </a:p>
        </p:txBody>
      </p:sp>
      <p:sp>
        <p:nvSpPr>
          <p:cNvPr id="20" name="TextBox 19"/>
          <p:cNvSpPr txBox="1"/>
          <p:nvPr/>
        </p:nvSpPr>
        <p:spPr>
          <a:xfrm>
            <a:off x="2020824" y="373803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Compare proposal and execution</a:t>
            </a:r>
          </a:p>
        </p:txBody>
      </p:sp>
      <p:sp>
        <p:nvSpPr>
          <p:cNvPr id="21" name="TextBox 20"/>
          <p:cNvSpPr txBox="1"/>
          <p:nvPr/>
        </p:nvSpPr>
        <p:spPr>
          <a:xfrm>
            <a:off x="6915911" y="373803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Actual model + policy outcomes</a:t>
            </a:r>
          </a:p>
        </p:txBody>
      </p:sp>
      <p:sp>
        <p:nvSpPr>
          <p:cNvPr id="22" name="Rectangle 21"/>
          <p:cNvSpPr/>
          <p:nvPr/>
        </p:nvSpPr>
        <p:spPr>
          <a:xfrm>
            <a:off x="533400" y="4146550"/>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35450"/>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22–34</a:t>
            </a:r>
          </a:p>
        </p:txBody>
      </p:sp>
      <p:sp>
        <p:nvSpPr>
          <p:cNvPr id="24" name="TextBox 23"/>
          <p:cNvSpPr txBox="1"/>
          <p:nvPr/>
        </p:nvSpPr>
        <p:spPr>
          <a:xfrm>
            <a:off x="2020824" y="423545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Predict policy decisions</a:t>
            </a:r>
          </a:p>
        </p:txBody>
      </p:sp>
      <p:sp>
        <p:nvSpPr>
          <p:cNvPr id="25" name="TextBox 24"/>
          <p:cNvSpPr txBox="1"/>
          <p:nvPr/>
        </p:nvSpPr>
        <p:spPr>
          <a:xfrm>
            <a:off x="6915911" y="423545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Four scenario results</a:t>
            </a:r>
          </a:p>
        </p:txBody>
      </p:sp>
      <p:sp>
        <p:nvSpPr>
          <p:cNvPr id="26" name="Rectangle 25"/>
          <p:cNvSpPr/>
          <p:nvPr/>
        </p:nvSpPr>
        <p:spPr>
          <a:xfrm>
            <a:off x="533400" y="4643966"/>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732866"/>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34–41</a:t>
            </a:r>
          </a:p>
        </p:txBody>
      </p:sp>
      <p:sp>
        <p:nvSpPr>
          <p:cNvPr id="28" name="TextBox 27"/>
          <p:cNvSpPr txBox="1"/>
          <p:nvPr/>
        </p:nvSpPr>
        <p:spPr>
          <a:xfrm>
            <a:off x="2020824" y="473286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Make policy unavailable</a:t>
            </a:r>
          </a:p>
        </p:txBody>
      </p:sp>
      <p:sp>
        <p:nvSpPr>
          <p:cNvPr id="29" name="TextBox 28"/>
          <p:cNvSpPr txBox="1"/>
          <p:nvPr/>
        </p:nvSpPr>
        <p:spPr>
          <a:xfrm>
            <a:off x="6915911" y="473286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Fail-closed denial + ledger</a:t>
            </a:r>
          </a:p>
        </p:txBody>
      </p:sp>
      <p:sp>
        <p:nvSpPr>
          <p:cNvPr id="30" name="Rectangle 29"/>
          <p:cNvSpPr/>
          <p:nvPr/>
        </p:nvSpPr>
        <p:spPr>
          <a:xfrm>
            <a:off x="533400" y="5141383"/>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230283"/>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41–45</a:t>
            </a:r>
          </a:p>
        </p:txBody>
      </p:sp>
      <p:sp>
        <p:nvSpPr>
          <p:cNvPr id="32" name="TextBox 31"/>
          <p:cNvSpPr txBox="1"/>
          <p:nvPr/>
        </p:nvSpPr>
        <p:spPr>
          <a:xfrm>
            <a:off x="2020824" y="523028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Review ownership</a:t>
            </a:r>
          </a:p>
        </p:txBody>
      </p:sp>
      <p:sp>
        <p:nvSpPr>
          <p:cNvPr id="33" name="TextBox 32"/>
          <p:cNvSpPr txBox="1"/>
          <p:nvPr/>
        </p:nvSpPr>
        <p:spPr>
          <a:xfrm>
            <a:off x="6915911" y="523028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Governance responsibilities</a:t>
            </a:r>
          </a:p>
        </p:txBody>
      </p:sp>
      <p:sp>
        <p:nvSpPr>
          <p:cNvPr id="34" name="Rounded Rectangle 33"/>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Follow the worksheet; record the actual evidence from your run.</a:t>
            </a:r>
          </a:p>
        </p:txBody>
      </p:sp>
      <p:sp>
        <p:nvSpPr>
          <p:cNvPr id="36" name="TextBox 35"/>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37" name="TextBox 36"/>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0–5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An authorized read can return untrusted text</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Read case-502</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Legitimate support</a:t>
            </a:r>
          </a:p>
          <a:p>
            <a:pPr>
              <a:lnSpc>
                <a:spcPts val="2125"/>
              </a:lnSpc>
              <a:spcBef>
                <a:spcPts val="0"/>
              </a:spcBef>
              <a:spcAft>
                <a:spcPts val="0"/>
              </a:spcAft>
              <a:defRPr sz="1700" b="0">
                <a:solidFill>
                  <a:srgbClr val="163640"/>
                </a:solidFill>
                <a:latin typeface="DejaVu Sans"/>
              </a:defRPr>
            </a:pPr>
            <a:r>
              <a:t>operation</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Encounter text</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Ticket asks for a</a:t>
            </a:r>
          </a:p>
          <a:p>
            <a:pPr>
              <a:lnSpc>
                <a:spcPts val="2125"/>
              </a:lnSpc>
              <a:spcBef>
                <a:spcPts val="0"/>
              </a:spcBef>
              <a:spcAft>
                <a:spcPts val="0"/>
              </a:spcAft>
              <a:defRPr sz="1700" b="0">
                <a:solidFill>
                  <a:srgbClr val="163640"/>
                </a:solidFill>
                <a:latin typeface="DejaVu Sans"/>
              </a:defRPr>
            </a:pPr>
            <a:r>
              <a:t>payment</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Propose a tool</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Arguments need</a:t>
            </a:r>
          </a:p>
          <a:p>
            <a:pPr>
              <a:lnSpc>
                <a:spcPts val="2125"/>
              </a:lnSpc>
              <a:spcBef>
                <a:spcPts val="0"/>
              </a:spcBef>
              <a:spcAft>
                <a:spcPts val="0"/>
              </a:spcAft>
              <a:defRPr sz="1700" b="0">
                <a:solidFill>
                  <a:srgbClr val="163640"/>
                </a:solidFill>
                <a:latin typeface="DejaVu Sans"/>
              </a:defRPr>
            </a:pPr>
            <a:r>
              <a:t>validation</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Authorize</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External policy</a:t>
            </a:r>
          </a:p>
          <a:p>
            <a:pPr>
              <a:lnSpc>
                <a:spcPts val="2125"/>
              </a:lnSpc>
              <a:spcBef>
                <a:spcPts val="0"/>
              </a:spcBef>
              <a:spcAft>
                <a:spcPts val="0"/>
              </a:spcAft>
              <a:defRPr sz="1700" b="0">
                <a:solidFill>
                  <a:srgbClr val="163640"/>
                </a:solidFill>
                <a:latin typeface="DejaVu Sans"/>
              </a:defRPr>
            </a:pPr>
            <a:r>
              <a:t>decides</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Ticket content can influence a proposal; it cannot grant payment authority.</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0–5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Replay the unsafe proposal</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REQUEST</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create_payment</a:t>
            </a:r>
          </a:p>
          <a:p>
            <a:pPr>
              <a:lnSpc>
                <a:spcPts val="2625"/>
              </a:lnSpc>
              <a:spcBef>
                <a:spcPts val="0"/>
              </a:spcBef>
              <a:spcAft>
                <a:spcPts val="0"/>
              </a:spcAft>
              <a:defRPr sz="2100" b="0">
                <a:solidFill>
                  <a:srgbClr val="163640"/>
                </a:solidFill>
                <a:latin typeface="DejaVu Sans"/>
              </a:defRPr>
            </a:pPr>
            <a:r>
              <a:t>900,000 paise =</a:t>
            </a:r>
          </a:p>
          <a:p>
            <a:pPr>
              <a:lnSpc>
                <a:spcPts val="2625"/>
              </a:lnSpc>
              <a:spcBef>
                <a:spcPts val="0"/>
              </a:spcBef>
              <a:spcAft>
                <a:spcPts val="0"/>
              </a:spcAft>
              <a:defRPr sz="2100" b="0">
                <a:solidFill>
                  <a:srgbClr val="163640"/>
                </a:solidFill>
                <a:latin typeface="DejaVu Sans"/>
              </a:defRPr>
            </a:pPr>
            <a:r>
              <a:t>₹9,000</a:t>
            </a:r>
          </a:p>
          <a:p>
            <a:pPr>
              <a:lnSpc>
                <a:spcPts val="2625"/>
              </a:lnSpc>
              <a:spcBef>
                <a:spcPts val="0"/>
              </a:spcBef>
              <a:spcAft>
                <a:spcPts val="0"/>
              </a:spcAft>
              <a:defRPr sz="2100" b="0">
                <a:solidFill>
                  <a:srgbClr val="163640"/>
                </a:solidFill>
                <a:latin typeface="DejaVu Sans"/>
              </a:defRPr>
            </a:pPr>
            <a:r>
              <a:t>fraud-account-66</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DECISION</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163640"/>
                </a:solidFill>
                <a:latin typeface="DejaVu Sans"/>
              </a:defRPr>
            </a:pPr>
            <a:r>
              <a:t>PROHIBITED_BENEFICIARY</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BUSINESS EFFECT</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Expected balance</a:t>
            </a:r>
          </a:p>
          <a:p>
            <a:pPr>
              <a:lnSpc>
                <a:spcPts val="2625"/>
              </a:lnSpc>
              <a:spcBef>
                <a:spcPts val="0"/>
              </a:spcBef>
              <a:spcAft>
                <a:spcPts val="0"/>
              </a:spcAft>
              <a:defRPr sz="2100" b="0">
                <a:solidFill>
                  <a:srgbClr val="163640"/>
                </a:solidFill>
                <a:latin typeface="DejaVu Sans"/>
              </a:defRPr>
            </a:pPr>
            <a:r>
              <a:t>delta: ₹0</a:t>
            </a:r>
          </a:p>
          <a:p>
            <a:pPr>
              <a:lnSpc>
                <a:spcPts val="2625"/>
              </a:lnSpc>
              <a:spcBef>
                <a:spcPts val="0"/>
              </a:spcBef>
              <a:spcAft>
                <a:spcPts val="0"/>
              </a:spcAft>
              <a:defRPr sz="2100" b="0">
                <a:solidFill>
                  <a:srgbClr val="163640"/>
                </a:solidFill>
                <a:latin typeface="DejaVu Sans"/>
              </a:defRPr>
            </a:pPr>
            <a:r>
              <a:t>Expected new</a:t>
            </a:r>
          </a:p>
          <a:p>
            <a:pPr>
              <a:lnSpc>
                <a:spcPts val="2625"/>
              </a:lnSpc>
              <a:spcBef>
                <a:spcPts val="0"/>
              </a:spcBef>
              <a:spcAft>
                <a:spcPts val="0"/>
              </a:spcAft>
              <a:defRPr sz="2100" b="0">
                <a:solidFill>
                  <a:srgbClr val="163640"/>
                </a:solidFill>
                <a:latin typeface="DejaVu Sans"/>
              </a:defRPr>
            </a:pPr>
            <a:r>
              <a:t>payments: 0</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Recorded proposal; actual policy execution. Observe the result in your run.</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5–12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Give each gate a precise responsibility</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1 / INFERENCE</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Control model access</a:t>
            </a:r>
          </a:p>
          <a:p>
            <a:pPr>
              <a:lnSpc>
                <a:spcPts val="2625"/>
              </a:lnSpc>
              <a:spcBef>
                <a:spcPts val="0"/>
              </a:spcBef>
              <a:spcAft>
                <a:spcPts val="0"/>
              </a:spcAft>
              <a:defRPr sz="2100" b="0">
                <a:solidFill>
                  <a:srgbClr val="163640"/>
                </a:solidFill>
                <a:latin typeface="DejaVu Sans"/>
              </a:defRPr>
            </a:pPr>
            <a:r>
              <a:t>and dispatch limits.</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2 / CAPABILITY</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Evaluate signed</a:t>
            </a:r>
          </a:p>
          <a:p>
            <a:pPr>
              <a:lnSpc>
                <a:spcPts val="2625"/>
              </a:lnSpc>
              <a:spcBef>
                <a:spcPts val="0"/>
              </a:spcBef>
              <a:spcAft>
                <a:spcPts val="0"/>
              </a:spcAft>
              <a:defRPr sz="2100" b="0">
                <a:solidFill>
                  <a:srgbClr val="163640"/>
                </a:solidFill>
                <a:latin typeface="DejaVu Sans"/>
              </a:defRPr>
            </a:pPr>
            <a:r>
              <a:t>identity, tool name</a:t>
            </a:r>
          </a:p>
          <a:p>
            <a:pPr>
              <a:lnSpc>
                <a:spcPts val="2625"/>
              </a:lnSpc>
              <a:spcBef>
                <a:spcPts val="0"/>
              </a:spcBef>
              <a:spcAft>
                <a:spcPts val="0"/>
              </a:spcAft>
              <a:defRPr sz="2100" b="0">
                <a:solidFill>
                  <a:srgbClr val="163640"/>
                </a:solidFill>
                <a:latin typeface="DejaVu Sans"/>
              </a:defRPr>
            </a:pPr>
            <a:r>
              <a:t>and normalized</a:t>
            </a:r>
          </a:p>
          <a:p>
            <a:pPr>
              <a:lnSpc>
                <a:spcPts val="2625"/>
              </a:lnSpc>
              <a:spcBef>
                <a:spcPts val="0"/>
              </a:spcBef>
              <a:spcAft>
                <a:spcPts val="0"/>
              </a:spcAft>
              <a:defRPr sz="2100" b="0">
                <a:solidFill>
                  <a:srgbClr val="163640"/>
                </a:solidFill>
                <a:latin typeface="DejaVu Sans"/>
              </a:defRPr>
            </a:pPr>
            <a:r>
              <a:t>arguments.</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3 / BANKING</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Enforce scoped API</a:t>
            </a:r>
          </a:p>
          <a:p>
            <a:pPr>
              <a:lnSpc>
                <a:spcPts val="2625"/>
              </a:lnSpc>
              <a:spcBef>
                <a:spcPts val="0"/>
              </a:spcBef>
              <a:spcAft>
                <a:spcPts val="0"/>
              </a:spcAft>
              <a:defRPr sz="2100" b="0">
                <a:solidFill>
                  <a:srgbClr val="163640"/>
                </a:solidFill>
                <a:latin typeface="DejaVu Sans"/>
              </a:defRPr>
            </a:pPr>
            <a:r>
              <a:t>access; retain</a:t>
            </a:r>
          </a:p>
          <a:p>
            <a:pPr>
              <a:lnSpc>
                <a:spcPts val="2625"/>
              </a:lnSpc>
              <a:spcBef>
                <a:spcPts val="0"/>
              </a:spcBef>
              <a:spcAft>
                <a:spcPts val="0"/>
              </a:spcAft>
              <a:defRPr sz="2100" b="0">
                <a:solidFill>
                  <a:srgbClr val="163640"/>
                </a:solidFill>
                <a:latin typeface="DejaVu Sans"/>
              </a:defRPr>
            </a:pPr>
            <a:r>
              <a:t>independent banking</a:t>
            </a:r>
          </a:p>
          <a:p>
            <a:pPr>
              <a:lnSpc>
                <a:spcPts val="2625"/>
              </a:lnSpc>
              <a:spcBef>
                <a:spcPts val="0"/>
              </a:spcBef>
              <a:spcAft>
                <a:spcPts val="0"/>
              </a:spcAft>
              <a:defRPr sz="2100" b="0">
                <a:solidFill>
                  <a:srgbClr val="163640"/>
                </a:solidFill>
                <a:latin typeface="DejaVu Sans"/>
              </a:defRPr>
            </a:pPr>
            <a:r>
              <a:t>and approval rules.</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The lab shares APISIX infrastructure across these logical boundaries.</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5–12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Workshop 2 architecture: proposal to execution</a:t>
            </a:r>
          </a:p>
        </p:txBody>
      </p:sp>
      <p:sp>
        <p:nvSpPr>
          <p:cNvPr id="6" name="Rounded Rectangle 5"/>
          <p:cNvSpPr/>
          <p:nvPr/>
        </p:nvSpPr>
        <p:spPr>
          <a:xfrm>
            <a:off x="533400" y="2006600"/>
            <a:ext cx="23495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0400" y="2120900"/>
            <a:ext cx="2095500" cy="317500"/>
          </a:xfrm>
          <a:prstGeom prst="rect">
            <a:avLst/>
          </a:prstGeom>
          <a:noFill/>
        </p:spPr>
        <p:txBody>
          <a:bodyPr wrap="none" lIns="0" rIns="0" tIns="0" bIns="0" anchor="t">
            <a:spAutoFit/>
          </a:bodyPr>
          <a:lstStyle/>
          <a:p>
            <a:pPr>
              <a:lnSpc>
                <a:spcPts val="1687"/>
              </a:lnSpc>
              <a:spcBef>
                <a:spcPts val="0"/>
              </a:spcBef>
              <a:spcAft>
                <a:spcPts val="0"/>
              </a:spcAft>
              <a:defRPr sz="1350" b="1">
                <a:solidFill>
                  <a:srgbClr val="007F79"/>
                </a:solidFill>
                <a:latin typeface="DejaVu Sans"/>
              </a:defRPr>
            </a:pPr>
            <a:r>
              <a:t>Flo / Studio backend</a:t>
            </a:r>
          </a:p>
        </p:txBody>
      </p:sp>
      <p:sp>
        <p:nvSpPr>
          <p:cNvPr id="8" name="TextBox 7"/>
          <p:cNvSpPr txBox="1"/>
          <p:nvPr/>
        </p:nvSpPr>
        <p:spPr>
          <a:xfrm>
            <a:off x="660400" y="2463800"/>
            <a:ext cx="2095500" cy="5334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Read case via MCP first;</a:t>
            </a:r>
          </a:p>
          <a:p>
            <a:pPr>
              <a:lnSpc>
                <a:spcPts val="1380"/>
              </a:lnSpc>
              <a:spcBef>
                <a:spcPts val="0"/>
              </a:spcBef>
              <a:spcAft>
                <a:spcPts val="0"/>
              </a:spcAft>
              <a:defRPr sz="1200" b="0">
                <a:solidFill>
                  <a:srgbClr val="163640"/>
                </a:solidFill>
                <a:latin typeface="DejaVu Sans"/>
              </a:defRPr>
            </a:pPr>
            <a:r>
              <a:t>validate model proposal</a:t>
            </a:r>
          </a:p>
        </p:txBody>
      </p:sp>
      <p:sp>
        <p:nvSpPr>
          <p:cNvPr id="9" name="TextBox 8"/>
          <p:cNvSpPr txBox="1"/>
          <p:nvPr/>
        </p:nvSpPr>
        <p:spPr>
          <a:xfrm>
            <a:off x="2971800" y="22860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10" name="Rounded Rectangle 9"/>
          <p:cNvSpPr/>
          <p:nvPr/>
        </p:nvSpPr>
        <p:spPr>
          <a:xfrm>
            <a:off x="3390900" y="2006600"/>
            <a:ext cx="2413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7900" y="2120900"/>
            <a:ext cx="21590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Gate 1 / AI adapter</a:t>
            </a:r>
          </a:p>
        </p:txBody>
      </p:sp>
      <p:sp>
        <p:nvSpPr>
          <p:cNvPr id="12" name="TextBox 11"/>
          <p:cNvSpPr txBox="1"/>
          <p:nvPr/>
        </p:nvSpPr>
        <p:spPr>
          <a:xfrm>
            <a:off x="3517900" y="2463800"/>
            <a:ext cx="2159000" cy="5334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Inference token budget</a:t>
            </a:r>
          </a:p>
          <a:p>
            <a:pPr>
              <a:lnSpc>
                <a:spcPts val="1380"/>
              </a:lnSpc>
              <a:spcBef>
                <a:spcPts val="0"/>
              </a:spcBef>
              <a:spcAft>
                <a:spcPts val="0"/>
              </a:spcAft>
              <a:defRPr sz="1200" b="0">
                <a:solidFill>
                  <a:srgbClr val="163640"/>
                </a:solidFill>
                <a:latin typeface="DejaVu Sans"/>
              </a:defRPr>
            </a:pPr>
            <a:r>
              <a:t>and output limits</a:t>
            </a:r>
          </a:p>
        </p:txBody>
      </p:sp>
      <p:sp>
        <p:nvSpPr>
          <p:cNvPr id="13" name="TextBox 12"/>
          <p:cNvSpPr txBox="1"/>
          <p:nvPr/>
        </p:nvSpPr>
        <p:spPr>
          <a:xfrm>
            <a:off x="5905500" y="22860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14" name="Rounded Rectangle 13"/>
          <p:cNvSpPr/>
          <p:nvPr/>
        </p:nvSpPr>
        <p:spPr>
          <a:xfrm>
            <a:off x="6337300" y="2006600"/>
            <a:ext cx="23495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300" y="2120900"/>
            <a:ext cx="20955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Hosted LLM</a:t>
            </a:r>
          </a:p>
        </p:txBody>
      </p:sp>
      <p:sp>
        <p:nvSpPr>
          <p:cNvPr id="16" name="TextBox 15"/>
          <p:cNvSpPr txBox="1"/>
          <p:nvPr/>
        </p:nvSpPr>
        <p:spPr>
          <a:xfrm>
            <a:off x="6464300" y="2463800"/>
            <a:ext cx="2095500" cy="5334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Live review: returns a</a:t>
            </a:r>
          </a:p>
          <a:p>
            <a:pPr>
              <a:lnSpc>
                <a:spcPts val="1380"/>
              </a:lnSpc>
              <a:spcBef>
                <a:spcPts val="0"/>
              </a:spcBef>
              <a:spcAft>
                <a:spcPts val="0"/>
              </a:spcAft>
              <a:defRPr sz="1200" b="0">
                <a:solidFill>
                  <a:srgbClr val="163640"/>
                </a:solidFill>
                <a:latin typeface="DejaVu Sans"/>
              </a:defRPr>
            </a:pPr>
            <a:r>
              <a:t>proposal or refusal</a:t>
            </a:r>
          </a:p>
        </p:txBody>
      </p:sp>
      <p:sp>
        <p:nvSpPr>
          <p:cNvPr id="17" name="TextBox 16"/>
          <p:cNvSpPr txBox="1"/>
          <p:nvPr/>
        </p:nvSpPr>
        <p:spPr>
          <a:xfrm>
            <a:off x="8877300" y="2133600"/>
            <a:ext cx="2730500" cy="330200"/>
          </a:xfrm>
          <a:prstGeom prst="rect">
            <a:avLst/>
          </a:prstGeom>
          <a:noFill/>
        </p:spPr>
        <p:txBody>
          <a:bodyPr wrap="none" lIns="0" rIns="0" tIns="0" bIns="0" anchor="t">
            <a:spAutoFit/>
          </a:bodyPr>
          <a:lstStyle/>
          <a:p>
            <a:pPr>
              <a:lnSpc>
                <a:spcPts val="1500"/>
              </a:lnSpc>
              <a:spcBef>
                <a:spcPts val="0"/>
              </a:spcBef>
              <a:spcAft>
                <a:spcPts val="0"/>
              </a:spcAft>
              <a:defRPr sz="1200" b="0">
                <a:solidFill>
                  <a:srgbClr val="536B73"/>
                </a:solidFill>
                <a:latin typeface="DejaVu Sans"/>
              </a:defRPr>
            </a:pPr>
            <a:r>
              <a:t>Proposal returns to Flo</a:t>
            </a:r>
          </a:p>
        </p:txBody>
      </p:sp>
      <p:sp>
        <p:nvSpPr>
          <p:cNvPr id="18" name="TextBox 17"/>
          <p:cNvSpPr txBox="1"/>
          <p:nvPr/>
        </p:nvSpPr>
        <p:spPr>
          <a:xfrm>
            <a:off x="8877300" y="2527300"/>
            <a:ext cx="2730500" cy="355600"/>
          </a:xfrm>
          <a:prstGeom prst="rect">
            <a:avLst/>
          </a:prstGeom>
          <a:noFill/>
        </p:spPr>
        <p:txBody>
          <a:bodyPr wrap="none" lIns="0" rIns="0" tIns="0" bIns="0" anchor="t">
            <a:spAutoFit/>
          </a:bodyPr>
          <a:lstStyle/>
          <a:p>
            <a:pPr>
              <a:lnSpc>
                <a:spcPts val="1500"/>
              </a:lnSpc>
              <a:spcBef>
                <a:spcPts val="0"/>
              </a:spcBef>
              <a:spcAft>
                <a:spcPts val="0"/>
              </a:spcAft>
              <a:defRPr sz="1200" b="0">
                <a:solidFill>
                  <a:srgbClr val="536B73"/>
                </a:solidFill>
                <a:latin typeface="DejaVu Sans"/>
              </a:defRPr>
            </a:pPr>
            <a:r>
              <a:t>then enters MCP below ↓</a:t>
            </a:r>
          </a:p>
        </p:txBody>
      </p:sp>
      <p:sp>
        <p:nvSpPr>
          <p:cNvPr id="19" name="Rounded Rectangle 18"/>
          <p:cNvSpPr/>
          <p:nvPr/>
        </p:nvSpPr>
        <p:spPr>
          <a:xfrm>
            <a:off x="533400" y="3429000"/>
            <a:ext cx="2349500" cy="11049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400" y="3543300"/>
            <a:ext cx="20955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Payment proposal</a:t>
            </a:r>
          </a:p>
        </p:txBody>
      </p:sp>
      <p:sp>
        <p:nvSpPr>
          <p:cNvPr id="21" name="TextBox 20"/>
          <p:cNvSpPr txBox="1"/>
          <p:nvPr/>
        </p:nvSpPr>
        <p:spPr>
          <a:xfrm>
            <a:off x="660400" y="3886200"/>
            <a:ext cx="2095500" cy="5969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Live: validated model call</a:t>
            </a:r>
          </a:p>
          <a:p>
            <a:pPr>
              <a:lnSpc>
                <a:spcPts val="1380"/>
              </a:lnSpc>
              <a:spcBef>
                <a:spcPts val="0"/>
              </a:spcBef>
              <a:spcAft>
                <a:spcPts val="0"/>
              </a:spcAft>
              <a:defRPr sz="1200" b="0">
                <a:solidFill>
                  <a:srgbClr val="163640"/>
                </a:solidFill>
                <a:latin typeface="DejaVu Sans"/>
              </a:defRPr>
            </a:pPr>
            <a:r>
              <a:t>Replay: fixed request</a:t>
            </a:r>
          </a:p>
        </p:txBody>
      </p:sp>
      <p:sp>
        <p:nvSpPr>
          <p:cNvPr id="22" name="TextBox 21"/>
          <p:cNvSpPr txBox="1"/>
          <p:nvPr/>
        </p:nvSpPr>
        <p:spPr>
          <a:xfrm>
            <a:off x="2971800" y="37465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23" name="Rounded Rectangle 22"/>
          <p:cNvSpPr/>
          <p:nvPr/>
        </p:nvSpPr>
        <p:spPr>
          <a:xfrm>
            <a:off x="3390900" y="3429000"/>
            <a:ext cx="2413000" cy="11049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7900" y="3543300"/>
            <a:ext cx="2159000" cy="317500"/>
          </a:xfrm>
          <a:prstGeom prst="rect">
            <a:avLst/>
          </a:prstGeom>
          <a:noFill/>
        </p:spPr>
        <p:txBody>
          <a:bodyPr wrap="none" lIns="0" rIns="0" tIns="0" bIns="0" anchor="t">
            <a:spAutoFit/>
          </a:bodyPr>
          <a:lstStyle/>
          <a:p>
            <a:pPr>
              <a:lnSpc>
                <a:spcPts val="1687"/>
              </a:lnSpc>
              <a:spcBef>
                <a:spcPts val="0"/>
              </a:spcBef>
              <a:spcAft>
                <a:spcPts val="0"/>
              </a:spcAft>
              <a:defRPr sz="1350" b="1">
                <a:solidFill>
                  <a:srgbClr val="007F79"/>
                </a:solidFill>
                <a:latin typeface="DejaVu Sans"/>
              </a:defRPr>
            </a:pPr>
            <a:r>
              <a:t>Gate 2 / MCP adapter</a:t>
            </a:r>
          </a:p>
        </p:txBody>
      </p:sp>
      <p:sp>
        <p:nvSpPr>
          <p:cNvPr id="25" name="TextBox 24"/>
          <p:cNvSpPr txBox="1"/>
          <p:nvPr/>
        </p:nvSpPr>
        <p:spPr>
          <a:xfrm>
            <a:off x="3517900" y="3886200"/>
            <a:ext cx="2159000" cy="5969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Signed identity +</a:t>
            </a:r>
          </a:p>
          <a:p>
            <a:pPr>
              <a:lnSpc>
                <a:spcPts val="1380"/>
              </a:lnSpc>
              <a:spcBef>
                <a:spcPts val="0"/>
              </a:spcBef>
              <a:spcAft>
                <a:spcPts val="0"/>
              </a:spcAft>
              <a:defRPr sz="1200" b="0">
                <a:solidFill>
                  <a:srgbClr val="163640"/>
                </a:solidFill>
                <a:latin typeface="DejaVu Sans"/>
              </a:defRPr>
            </a:pPr>
            <a:r>
              <a:t>arguments</a:t>
            </a:r>
          </a:p>
          <a:p>
            <a:pPr>
              <a:lnSpc>
                <a:spcPts val="1380"/>
              </a:lnSpc>
              <a:spcBef>
                <a:spcPts val="0"/>
              </a:spcBef>
              <a:spcAft>
                <a:spcPts val="0"/>
              </a:spcAft>
              <a:defRPr sz="1200" b="0">
                <a:solidFill>
                  <a:srgbClr val="163640"/>
                </a:solidFill>
                <a:latin typeface="DejaVu Sans"/>
              </a:defRPr>
            </a:pPr>
            <a:r>
              <a:t>OPA decision; fail closed</a:t>
            </a:r>
          </a:p>
        </p:txBody>
      </p:sp>
      <p:sp>
        <p:nvSpPr>
          <p:cNvPr id="26" name="TextBox 25"/>
          <p:cNvSpPr txBox="1"/>
          <p:nvPr/>
        </p:nvSpPr>
        <p:spPr>
          <a:xfrm>
            <a:off x="5905500" y="37465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27" name="Rounded Rectangle 26"/>
          <p:cNvSpPr/>
          <p:nvPr/>
        </p:nvSpPr>
        <p:spPr>
          <a:xfrm>
            <a:off x="6337300" y="3429000"/>
            <a:ext cx="2349500" cy="11049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4300" y="3543300"/>
            <a:ext cx="2095500" cy="317500"/>
          </a:xfrm>
          <a:prstGeom prst="rect">
            <a:avLst/>
          </a:prstGeom>
          <a:noFill/>
        </p:spPr>
        <p:txBody>
          <a:bodyPr wrap="none" lIns="0" rIns="0" tIns="0" bIns="0" anchor="t">
            <a:spAutoFit/>
          </a:bodyPr>
          <a:lstStyle/>
          <a:p>
            <a:pPr>
              <a:lnSpc>
                <a:spcPts val="1687"/>
              </a:lnSpc>
              <a:spcBef>
                <a:spcPts val="0"/>
              </a:spcBef>
              <a:spcAft>
                <a:spcPts val="0"/>
              </a:spcAft>
              <a:defRPr sz="1350" b="1">
                <a:solidFill>
                  <a:srgbClr val="007F79"/>
                </a:solidFill>
                <a:latin typeface="DejaVu Sans"/>
              </a:defRPr>
            </a:pPr>
            <a:r>
              <a:t>Gate 3 / API gateway</a:t>
            </a:r>
          </a:p>
        </p:txBody>
      </p:sp>
      <p:sp>
        <p:nvSpPr>
          <p:cNvPr id="29" name="TextBox 28"/>
          <p:cNvSpPr txBox="1"/>
          <p:nvPr/>
        </p:nvSpPr>
        <p:spPr>
          <a:xfrm>
            <a:off x="6464300" y="3886200"/>
            <a:ext cx="2095500" cy="5969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API-key authentication</a:t>
            </a:r>
          </a:p>
          <a:p>
            <a:pPr>
              <a:lnSpc>
                <a:spcPts val="1380"/>
              </a:lnSpc>
              <a:spcBef>
                <a:spcPts val="0"/>
              </a:spcBef>
              <a:spcAft>
                <a:spcPts val="0"/>
              </a:spcAft>
              <a:defRPr sz="1200" b="0">
                <a:solidFill>
                  <a:srgbClr val="163640"/>
                </a:solidFill>
                <a:latin typeface="DejaVu Sans"/>
              </a:defRPr>
            </a:pPr>
            <a:r>
              <a:t>Forward authorized calls</a:t>
            </a:r>
          </a:p>
        </p:txBody>
      </p:sp>
      <p:sp>
        <p:nvSpPr>
          <p:cNvPr id="30" name="TextBox 29"/>
          <p:cNvSpPr txBox="1"/>
          <p:nvPr/>
        </p:nvSpPr>
        <p:spPr>
          <a:xfrm>
            <a:off x="8788400" y="37465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1" name="Rounded Rectangle 30"/>
          <p:cNvSpPr/>
          <p:nvPr/>
        </p:nvSpPr>
        <p:spPr>
          <a:xfrm>
            <a:off x="9232900" y="3429000"/>
            <a:ext cx="2413000" cy="11049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59900" y="3543300"/>
            <a:ext cx="21590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Core Banking</a:t>
            </a:r>
          </a:p>
        </p:txBody>
      </p:sp>
      <p:sp>
        <p:nvSpPr>
          <p:cNvPr id="33" name="TextBox 32"/>
          <p:cNvSpPr txBox="1"/>
          <p:nvPr/>
        </p:nvSpPr>
        <p:spPr>
          <a:xfrm>
            <a:off x="9359900" y="3886200"/>
            <a:ext cx="2159000" cy="5969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JWT + business rules</a:t>
            </a:r>
          </a:p>
          <a:p>
            <a:pPr>
              <a:lnSpc>
                <a:spcPts val="1380"/>
              </a:lnSpc>
              <a:spcBef>
                <a:spcPts val="0"/>
              </a:spcBef>
              <a:spcAft>
                <a:spcPts val="0"/>
              </a:spcAft>
              <a:defRPr sz="1200" b="0">
                <a:solidFill>
                  <a:srgbClr val="163640"/>
                </a:solidFill>
                <a:latin typeface="DejaVu Sans"/>
              </a:defRPr>
            </a:pPr>
            <a:r>
              <a:t>Approvals and ledger</a:t>
            </a:r>
          </a:p>
        </p:txBody>
      </p:sp>
      <p:sp>
        <p:nvSpPr>
          <p:cNvPr id="34" name="TextBox 33"/>
          <p:cNvSpPr txBox="1"/>
          <p:nvPr/>
        </p:nvSpPr>
        <p:spPr>
          <a:xfrm>
            <a:off x="4432300" y="45339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5" name="Rounded Rectangle 34"/>
          <p:cNvSpPr/>
          <p:nvPr/>
        </p:nvSpPr>
        <p:spPr>
          <a:xfrm>
            <a:off x="3390900" y="4914900"/>
            <a:ext cx="2413000" cy="7366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17900" y="5029200"/>
            <a:ext cx="21590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OPA</a:t>
            </a:r>
          </a:p>
        </p:txBody>
      </p:sp>
      <p:sp>
        <p:nvSpPr>
          <p:cNvPr id="37" name="TextBox 36"/>
          <p:cNvSpPr txBox="1"/>
          <p:nvPr/>
        </p:nvSpPr>
        <p:spPr>
          <a:xfrm>
            <a:off x="3517900" y="5372100"/>
            <a:ext cx="2159000" cy="2286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Role / amount / beneficiary</a:t>
            </a:r>
          </a:p>
        </p:txBody>
      </p:sp>
      <p:sp>
        <p:nvSpPr>
          <p:cNvPr id="38" name="TextBox 37"/>
          <p:cNvSpPr txBox="1"/>
          <p:nvPr/>
        </p:nvSpPr>
        <p:spPr>
          <a:xfrm>
            <a:off x="10261600" y="4533900"/>
            <a:ext cx="381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9" name="Rounded Rectangle 38"/>
          <p:cNvSpPr/>
          <p:nvPr/>
        </p:nvSpPr>
        <p:spPr>
          <a:xfrm>
            <a:off x="9232900" y="4914900"/>
            <a:ext cx="2413000" cy="7366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59900" y="5029200"/>
            <a:ext cx="21590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PostgreSQL</a:t>
            </a:r>
          </a:p>
        </p:txBody>
      </p:sp>
      <p:sp>
        <p:nvSpPr>
          <p:cNvPr id="41" name="TextBox 40"/>
          <p:cNvSpPr txBox="1"/>
          <p:nvPr/>
        </p:nvSpPr>
        <p:spPr>
          <a:xfrm>
            <a:off x="9359900" y="5372100"/>
            <a:ext cx="2159000" cy="2286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Banking records</a:t>
            </a:r>
          </a:p>
        </p:txBody>
      </p:sp>
      <p:sp>
        <p:nvSpPr>
          <p:cNvPr id="42" name="Rounded Rectangle 41"/>
          <p:cNvSpPr/>
          <p:nvPr/>
        </p:nvSpPr>
        <p:spPr>
          <a:xfrm>
            <a:off x="6337300" y="4914900"/>
            <a:ext cx="2349500" cy="7366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64300" y="5029200"/>
            <a:ext cx="2095500" cy="3175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Jaeger</a:t>
            </a:r>
          </a:p>
        </p:txBody>
      </p:sp>
      <p:sp>
        <p:nvSpPr>
          <p:cNvPr id="44" name="TextBox 43"/>
          <p:cNvSpPr txBox="1"/>
          <p:nvPr/>
        </p:nvSpPr>
        <p:spPr>
          <a:xfrm>
            <a:off x="6464300" y="5372100"/>
            <a:ext cx="2095500" cy="228600"/>
          </a:xfrm>
          <a:prstGeom prst="rect">
            <a:avLst/>
          </a:prstGeom>
          <a:noFill/>
        </p:spPr>
        <p:txBody>
          <a:bodyPr wrap="none" lIns="0" rIns="0" tIns="0" bIns="0" anchor="t">
            <a:spAutoFit/>
          </a:bodyPr>
          <a:lstStyle/>
          <a:p>
            <a:pPr>
              <a:lnSpc>
                <a:spcPts val="1322"/>
              </a:lnSpc>
              <a:spcBef>
                <a:spcPts val="0"/>
              </a:spcBef>
              <a:spcAft>
                <a:spcPts val="0"/>
              </a:spcAft>
              <a:defRPr sz="1150" b="0">
                <a:solidFill>
                  <a:srgbClr val="163640"/>
                </a:solidFill>
                <a:latin typeface="DejaVu Sans"/>
              </a:defRPr>
            </a:pPr>
            <a:r>
              <a:t>Exported distributed traces</a:t>
            </a:r>
          </a:p>
        </p:txBody>
      </p:sp>
      <p:sp>
        <p:nvSpPr>
          <p:cNvPr id="45" name="TextBox 44"/>
          <p:cNvSpPr txBox="1"/>
          <p:nvPr/>
        </p:nvSpPr>
        <p:spPr>
          <a:xfrm>
            <a:off x="533400" y="4851400"/>
            <a:ext cx="2603500" cy="825500"/>
          </a:xfrm>
          <a:prstGeom prst="rect">
            <a:avLst/>
          </a:prstGeom>
          <a:noFill/>
        </p:spPr>
        <p:txBody>
          <a:bodyPr wrap="none" lIns="0" rIns="0" tIns="0" bIns="0" anchor="t">
            <a:spAutoFit/>
          </a:bodyPr>
          <a:lstStyle/>
          <a:p>
            <a:pPr>
              <a:lnSpc>
                <a:spcPts val="1439"/>
              </a:lnSpc>
              <a:spcBef>
                <a:spcPts val="0"/>
              </a:spcBef>
              <a:spcAft>
                <a:spcPts val="0"/>
              </a:spcAft>
              <a:defRPr sz="1200" b="0">
                <a:solidFill>
                  <a:srgbClr val="536B73"/>
                </a:solidFill>
                <a:latin typeface="DejaVu Sans"/>
              </a:defRPr>
            </a:pPr>
            <a:r>
              <a:t>APISIX hosts Gates 1–3.</a:t>
            </a:r>
          </a:p>
          <a:p>
            <a:pPr>
              <a:lnSpc>
                <a:spcPts val="1439"/>
              </a:lnSpc>
              <a:spcBef>
                <a:spcPts val="0"/>
              </a:spcBef>
              <a:spcAft>
                <a:spcPts val="0"/>
              </a:spcAft>
              <a:defRPr sz="1200" b="0">
                <a:solidFill>
                  <a:srgbClr val="536B73"/>
                </a:solidFill>
                <a:latin typeface="DejaVu Sans"/>
              </a:defRPr>
            </a:pPr>
            <a:r>
              <a:t>Denied payments stop at Gate 2.</a:t>
            </a:r>
          </a:p>
          <a:p>
            <a:pPr>
              <a:lnSpc>
                <a:spcPts val="1439"/>
              </a:lnSpc>
              <a:spcBef>
                <a:spcPts val="0"/>
              </a:spcBef>
              <a:spcAft>
                <a:spcPts val="0"/>
              </a:spcAft>
              <a:defRPr sz="1200" b="0">
                <a:solidFill>
                  <a:srgbClr val="536B73"/>
                </a:solidFill>
                <a:latin typeface="DejaVu Sans"/>
              </a:defRPr>
            </a:pPr>
            <a:r>
              <a:t>Pending approval: no debit.</a:t>
            </a:r>
          </a:p>
        </p:txBody>
      </p:sp>
      <p:sp>
        <p:nvSpPr>
          <p:cNvPr id="46" name="Rounded Rectangle 45"/>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Replay skips Gate 1. Gate 2 checks authority before payment execution.</a:t>
            </a:r>
          </a:p>
        </p:txBody>
      </p:sp>
      <p:sp>
        <p:nvSpPr>
          <p:cNvPr id="48" name="TextBox 4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49" name="TextBox 4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12–22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Model behavior and permission are distinct</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4924044"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Observed result</a:t>
            </a:r>
          </a:p>
        </p:txBody>
      </p:sp>
      <p:sp>
        <p:nvSpPr>
          <p:cNvPr id="8" name="TextBox 7"/>
          <p:cNvSpPr txBox="1"/>
          <p:nvPr/>
        </p:nvSpPr>
        <p:spPr>
          <a:xfrm>
            <a:off x="5914644" y="2273300"/>
            <a:ext cx="5591556"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What it establishes</a:t>
            </a:r>
          </a:p>
        </p:txBody>
      </p:sp>
      <p:sp>
        <p:nvSpPr>
          <p:cNvPr id="9" name="Rectangle 8"/>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No tool proposed</a:t>
            </a:r>
          </a:p>
        </p:txBody>
      </p:sp>
      <p:sp>
        <p:nvSpPr>
          <p:cNvPr id="11" name="TextBox 10"/>
          <p:cNvSpPr txBox="1"/>
          <p:nvPr/>
        </p:nvSpPr>
        <p:spPr>
          <a:xfrm>
            <a:off x="5914644" y="2743200"/>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This model made no payment proposal on this run</a:t>
            </a:r>
          </a:p>
        </p:txBody>
      </p:sp>
      <p:sp>
        <p:nvSpPr>
          <p:cNvPr id="12" name="Rectangle 11"/>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89325"/>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Policy denied</a:t>
            </a:r>
          </a:p>
        </p:txBody>
      </p:sp>
      <p:sp>
        <p:nvSpPr>
          <p:cNvPr id="14" name="TextBox 13"/>
          <p:cNvSpPr txBox="1"/>
          <p:nvPr/>
        </p:nvSpPr>
        <p:spPr>
          <a:xfrm>
            <a:off x="5914644" y="3489325"/>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The submitted tool request was blocked</a:t>
            </a:r>
          </a:p>
        </p:txBody>
      </p:sp>
      <p:sp>
        <p:nvSpPr>
          <p:cNvPr id="15" name="Rectangle 14"/>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35450"/>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Approval required</a:t>
            </a:r>
          </a:p>
        </p:txBody>
      </p:sp>
      <p:sp>
        <p:nvSpPr>
          <p:cNvPr id="17" name="TextBox 16"/>
          <p:cNvSpPr txBox="1"/>
          <p:nvPr/>
        </p:nvSpPr>
        <p:spPr>
          <a:xfrm>
            <a:off x="5914644" y="4235450"/>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 pending proposal exists; no payment yet</a:t>
            </a:r>
          </a:p>
        </p:txBody>
      </p:sp>
      <p:sp>
        <p:nvSpPr>
          <p:cNvPr id="18" name="Rectangle 17"/>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1575"/>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Payment recorded</a:t>
            </a:r>
          </a:p>
        </p:txBody>
      </p:sp>
      <p:sp>
        <p:nvSpPr>
          <p:cNvPr id="20" name="TextBox 19"/>
          <p:cNvSpPr txBox="1"/>
          <p:nvPr/>
        </p:nvSpPr>
        <p:spPr>
          <a:xfrm>
            <a:off x="5914644" y="4981575"/>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 business effect occurred; inspect the ledger</a:t>
            </a:r>
          </a:p>
        </p:txBody>
      </p:sp>
      <p:sp>
        <p:nvSpPr>
          <p:cNvPr id="21" name="Rounded Rectangle 20"/>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Ask separately: proposed? authorized? executed?</a:t>
            </a:r>
          </a:p>
        </p:txBody>
      </p:sp>
      <p:sp>
        <p:nvSpPr>
          <p:cNvPr id="23" name="TextBox 22"/>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4" name="TextBox 23"/>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22–34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Exercise: predict four business outcomes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2365247"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Caller</a:t>
            </a:r>
          </a:p>
        </p:txBody>
      </p:sp>
      <p:sp>
        <p:nvSpPr>
          <p:cNvPr id="8" name="TextBox 7"/>
          <p:cNvSpPr txBox="1"/>
          <p:nvPr/>
        </p:nvSpPr>
        <p:spPr>
          <a:xfrm>
            <a:off x="3355848" y="2273300"/>
            <a:ext cx="2031491"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Amount</a:t>
            </a:r>
          </a:p>
        </p:txBody>
      </p:sp>
      <p:sp>
        <p:nvSpPr>
          <p:cNvPr id="9" name="TextBox 8"/>
          <p:cNvSpPr txBox="1"/>
          <p:nvPr/>
        </p:nvSpPr>
        <p:spPr>
          <a:xfrm>
            <a:off x="5692139" y="2273300"/>
            <a:ext cx="2699004"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Destination</a:t>
            </a:r>
          </a:p>
        </p:txBody>
      </p:sp>
      <p:sp>
        <p:nvSpPr>
          <p:cNvPr id="10" name="TextBox 9"/>
          <p:cNvSpPr txBox="1"/>
          <p:nvPr/>
        </p:nvSpPr>
        <p:spPr>
          <a:xfrm>
            <a:off x="8695943" y="2273300"/>
            <a:ext cx="2810256"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Your prediction</a:t>
            </a:r>
          </a:p>
        </p:txBody>
      </p:sp>
      <p:sp>
        <p:nvSpPr>
          <p:cNvPr id="11" name="Rectangle 10"/>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43200"/>
            <a:ext cx="2365247"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support_agent</a:t>
            </a:r>
          </a:p>
        </p:txBody>
      </p:sp>
      <p:sp>
        <p:nvSpPr>
          <p:cNvPr id="13" name="TextBox 12"/>
          <p:cNvSpPr txBox="1"/>
          <p:nvPr/>
        </p:nvSpPr>
        <p:spPr>
          <a:xfrm>
            <a:off x="3355848" y="2743200"/>
            <a:ext cx="2031491"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a:t>
            </a:r>
          </a:p>
        </p:txBody>
      </p:sp>
      <p:sp>
        <p:nvSpPr>
          <p:cNvPr id="14" name="TextBox 13"/>
          <p:cNvSpPr txBox="1"/>
          <p:nvPr/>
        </p:nvSpPr>
        <p:spPr>
          <a:xfrm>
            <a:off x="5692139" y="2743200"/>
            <a:ext cx="269900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vendor-alpha</a:t>
            </a:r>
          </a:p>
        </p:txBody>
      </p:sp>
      <p:sp>
        <p:nvSpPr>
          <p:cNvPr id="15" name="TextBox 14"/>
          <p:cNvSpPr txBox="1"/>
          <p:nvPr/>
        </p:nvSpPr>
        <p:spPr>
          <a:xfrm>
            <a:off x="8695943" y="2743200"/>
            <a:ext cx="28102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 / review / deny?</a:t>
            </a:r>
          </a:p>
        </p:txBody>
      </p:sp>
      <p:sp>
        <p:nvSpPr>
          <p:cNvPr id="16" name="Rectangle 15"/>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489325"/>
            <a:ext cx="2365247"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support_agent</a:t>
            </a:r>
          </a:p>
        </p:txBody>
      </p:sp>
      <p:sp>
        <p:nvSpPr>
          <p:cNvPr id="18" name="TextBox 17"/>
          <p:cNvSpPr txBox="1"/>
          <p:nvPr/>
        </p:nvSpPr>
        <p:spPr>
          <a:xfrm>
            <a:off x="3355848" y="3489325"/>
            <a:ext cx="2031491"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₹5,000</a:t>
            </a:r>
          </a:p>
        </p:txBody>
      </p:sp>
      <p:sp>
        <p:nvSpPr>
          <p:cNvPr id="19" name="TextBox 18"/>
          <p:cNvSpPr txBox="1"/>
          <p:nvPr/>
        </p:nvSpPr>
        <p:spPr>
          <a:xfrm>
            <a:off x="5692139" y="3489325"/>
            <a:ext cx="269900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vendor-beta</a:t>
            </a:r>
          </a:p>
        </p:txBody>
      </p:sp>
      <p:sp>
        <p:nvSpPr>
          <p:cNvPr id="20" name="TextBox 19"/>
          <p:cNvSpPr txBox="1"/>
          <p:nvPr/>
        </p:nvSpPr>
        <p:spPr>
          <a:xfrm>
            <a:off x="8695943" y="3489325"/>
            <a:ext cx="28102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 / review / deny?</a:t>
            </a:r>
          </a:p>
        </p:txBody>
      </p:sp>
      <p:sp>
        <p:nvSpPr>
          <p:cNvPr id="21" name="Rectangle 20"/>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235450"/>
            <a:ext cx="2365247"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support_agent</a:t>
            </a:r>
          </a:p>
        </p:txBody>
      </p:sp>
      <p:sp>
        <p:nvSpPr>
          <p:cNvPr id="23" name="TextBox 22"/>
          <p:cNvSpPr txBox="1"/>
          <p:nvPr/>
        </p:nvSpPr>
        <p:spPr>
          <a:xfrm>
            <a:off x="3355848" y="4235450"/>
            <a:ext cx="2031491"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₹15,000</a:t>
            </a:r>
          </a:p>
        </p:txBody>
      </p:sp>
      <p:sp>
        <p:nvSpPr>
          <p:cNvPr id="24" name="TextBox 23"/>
          <p:cNvSpPr txBox="1"/>
          <p:nvPr/>
        </p:nvSpPr>
        <p:spPr>
          <a:xfrm>
            <a:off x="5692139" y="4235450"/>
            <a:ext cx="269900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Permitted vendor</a:t>
            </a:r>
          </a:p>
        </p:txBody>
      </p:sp>
      <p:sp>
        <p:nvSpPr>
          <p:cNvPr id="25" name="TextBox 24"/>
          <p:cNvSpPr txBox="1"/>
          <p:nvPr/>
        </p:nvSpPr>
        <p:spPr>
          <a:xfrm>
            <a:off x="8695943" y="4235450"/>
            <a:ext cx="28102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 / review / deny?</a:t>
            </a:r>
          </a:p>
        </p:txBody>
      </p:sp>
      <p:sp>
        <p:nvSpPr>
          <p:cNvPr id="26" name="Rectangle 25"/>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981575"/>
            <a:ext cx="2365247"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viewer</a:t>
            </a:r>
          </a:p>
        </p:txBody>
      </p:sp>
      <p:sp>
        <p:nvSpPr>
          <p:cNvPr id="28" name="TextBox 27"/>
          <p:cNvSpPr txBox="1"/>
          <p:nvPr/>
        </p:nvSpPr>
        <p:spPr>
          <a:xfrm>
            <a:off x="3355848" y="4981575"/>
            <a:ext cx="2031491"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a:t>
            </a:r>
          </a:p>
        </p:txBody>
      </p:sp>
      <p:sp>
        <p:nvSpPr>
          <p:cNvPr id="29" name="TextBox 28"/>
          <p:cNvSpPr txBox="1"/>
          <p:nvPr/>
        </p:nvSpPr>
        <p:spPr>
          <a:xfrm>
            <a:off x="5692139" y="4981575"/>
            <a:ext cx="269900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Permitted vendor</a:t>
            </a:r>
          </a:p>
        </p:txBody>
      </p:sp>
      <p:sp>
        <p:nvSpPr>
          <p:cNvPr id="30" name="TextBox 29"/>
          <p:cNvSpPr txBox="1"/>
          <p:nvPr/>
        </p:nvSpPr>
        <p:spPr>
          <a:xfrm>
            <a:off x="8695943" y="4981575"/>
            <a:ext cx="28102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 / review / deny?</a:t>
            </a:r>
          </a:p>
        </p:txBody>
      </p:sp>
      <p:sp>
        <p:nvSpPr>
          <p:cNvPr id="31" name="Rounded Rectangle 30"/>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Predict first. Then run each button and download its evidence.</a:t>
            </a:r>
          </a:p>
        </p:txBody>
      </p:sp>
      <p:sp>
        <p:nvSpPr>
          <p:cNvPr id="33" name="TextBox 32"/>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34" name="TextBox 33"/>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22–34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Compare predictions with actual evidence</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Scenario</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outcome</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Ledger effect</a:t>
            </a:r>
          </a:p>
        </p:txBody>
      </p:sp>
      <p:sp>
        <p:nvSpPr>
          <p:cNvPr id="10" name="Rectangle 9"/>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 / ₹250</a:t>
            </a:r>
          </a:p>
        </p:txBody>
      </p:sp>
      <p:sp>
        <p:nvSpPr>
          <p:cNvPr id="12" name="TextBox 11"/>
          <p:cNvSpPr txBox="1"/>
          <p:nvPr/>
        </p:nvSpPr>
        <p:spPr>
          <a:xfrm>
            <a:off x="4023360" y="274320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Payment executed</a:t>
            </a:r>
          </a:p>
        </p:txBody>
      </p:sp>
      <p:sp>
        <p:nvSpPr>
          <p:cNvPr id="13" name="TextBox 12"/>
          <p:cNvSpPr txBox="1"/>
          <p:nvPr/>
        </p:nvSpPr>
        <p:spPr>
          <a:xfrm>
            <a:off x="8028432" y="274320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 +1 payment</a:t>
            </a:r>
          </a:p>
        </p:txBody>
      </p:sp>
      <p:sp>
        <p:nvSpPr>
          <p:cNvPr id="14" name="Rectangle 13"/>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8932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 / ₹5,000</a:t>
            </a:r>
          </a:p>
        </p:txBody>
      </p:sp>
      <p:sp>
        <p:nvSpPr>
          <p:cNvPr id="16" name="TextBox 15"/>
          <p:cNvSpPr txBox="1"/>
          <p:nvPr/>
        </p:nvSpPr>
        <p:spPr>
          <a:xfrm>
            <a:off x="4023360" y="348932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APPROVAL_REQUIRED</a:t>
            </a:r>
          </a:p>
        </p:txBody>
      </p:sp>
      <p:sp>
        <p:nvSpPr>
          <p:cNvPr id="17" name="TextBox 16"/>
          <p:cNvSpPr txBox="1"/>
          <p:nvPr/>
        </p:nvSpPr>
        <p:spPr>
          <a:xfrm>
            <a:off x="8028432" y="348932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 pending proposal</a:t>
            </a:r>
          </a:p>
        </p:txBody>
      </p:sp>
      <p:sp>
        <p:nvSpPr>
          <p:cNvPr id="18" name="Rectangle 17"/>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3545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Support / ₹15,000</a:t>
            </a:r>
          </a:p>
        </p:txBody>
      </p:sp>
      <p:sp>
        <p:nvSpPr>
          <p:cNvPr id="20" name="TextBox 19"/>
          <p:cNvSpPr txBox="1"/>
          <p:nvPr/>
        </p:nvSpPr>
        <p:spPr>
          <a:xfrm>
            <a:off x="4023360" y="423545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Transfer ceiling denial</a:t>
            </a:r>
          </a:p>
        </p:txBody>
      </p:sp>
      <p:sp>
        <p:nvSpPr>
          <p:cNvPr id="21" name="TextBox 20"/>
          <p:cNvSpPr txBox="1"/>
          <p:nvPr/>
        </p:nvSpPr>
        <p:spPr>
          <a:xfrm>
            <a:off x="8028432" y="423545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 no payment</a:t>
            </a:r>
          </a:p>
        </p:txBody>
      </p:sp>
      <p:sp>
        <p:nvSpPr>
          <p:cNvPr id="22" name="Rectangle 21"/>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8157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Viewer / ₹250</a:t>
            </a:r>
          </a:p>
        </p:txBody>
      </p:sp>
      <p:sp>
        <p:nvSpPr>
          <p:cNvPr id="24" name="TextBox 23"/>
          <p:cNvSpPr txBox="1"/>
          <p:nvPr/>
        </p:nvSpPr>
        <p:spPr>
          <a:xfrm>
            <a:off x="4023360" y="498157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NO_MATCHING_RULE</a:t>
            </a:r>
          </a:p>
        </p:txBody>
      </p:sp>
      <p:sp>
        <p:nvSpPr>
          <p:cNvPr id="25" name="TextBox 24"/>
          <p:cNvSpPr txBox="1"/>
          <p:nvPr/>
        </p:nvSpPr>
        <p:spPr>
          <a:xfrm>
            <a:off x="8028432" y="498157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 no payment</a:t>
            </a:r>
          </a:p>
        </p:txBody>
      </p:sp>
      <p:sp>
        <p:nvSpPr>
          <p:cNvPr id="26" name="Rounded Rectangle 25"/>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persisted pending proposal is a record of work awaiting approval.</a:t>
            </a:r>
          </a:p>
        </p:txBody>
      </p:sp>
      <p:sp>
        <p:nvSpPr>
          <p:cNvPr id="28" name="TextBox 2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9" name="TextBox 2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22–34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Policy evaluates the real request</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IDENTITY</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input.principal.role</a:t>
            </a:r>
          </a:p>
          <a:p>
            <a:pPr>
              <a:lnSpc>
                <a:spcPts val="2625"/>
              </a:lnSpc>
              <a:spcBef>
                <a:spcPts val="0"/>
              </a:spcBef>
              <a:spcAft>
                <a:spcPts val="0"/>
              </a:spcAft>
              <a:defRPr sz="2100" b="0">
                <a:solidFill>
                  <a:srgbClr val="163640"/>
                </a:solidFill>
                <a:latin typeface="DejaVu Sans"/>
              </a:defRPr>
            </a:pPr>
            <a:r>
              <a:t>Use the validated</a:t>
            </a:r>
          </a:p>
          <a:p>
            <a:pPr>
              <a:lnSpc>
                <a:spcPts val="2625"/>
              </a:lnSpc>
              <a:spcBef>
                <a:spcPts val="0"/>
              </a:spcBef>
              <a:spcAft>
                <a:spcPts val="0"/>
              </a:spcAft>
              <a:defRPr sz="2100" b="0">
                <a:solidFill>
                  <a:srgbClr val="163640"/>
                </a:solidFill>
                <a:latin typeface="DejaVu Sans"/>
              </a:defRPr>
            </a:pPr>
            <a:r>
              <a:t>signed principal.</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AMOUNT</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312"/>
              </a:lnSpc>
              <a:spcBef>
                <a:spcPts val="0"/>
              </a:spcBef>
              <a:spcAft>
                <a:spcPts val="0"/>
              </a:spcAft>
              <a:defRPr sz="1850" b="0">
                <a:solidFill>
                  <a:srgbClr val="163640"/>
                </a:solidFill>
                <a:latin typeface="DejaVu Sans"/>
              </a:defRPr>
            </a:pPr>
            <a:r>
              <a:t>input.arguments.amount</a:t>
            </a:r>
          </a:p>
          <a:p>
            <a:pPr>
              <a:lnSpc>
                <a:spcPts val="2312"/>
              </a:lnSpc>
              <a:spcBef>
                <a:spcPts val="0"/>
              </a:spcBef>
              <a:spcAft>
                <a:spcPts val="0"/>
              </a:spcAft>
              <a:defRPr sz="1850" b="0">
                <a:solidFill>
                  <a:srgbClr val="163640"/>
                </a:solidFill>
                <a:latin typeface="DejaVu Sans"/>
              </a:defRPr>
            </a:pPr>
            <a:r>
              <a:t>Use integer paise from</a:t>
            </a:r>
          </a:p>
          <a:p>
            <a:pPr>
              <a:lnSpc>
                <a:spcPts val="2312"/>
              </a:lnSpc>
              <a:spcBef>
                <a:spcPts val="0"/>
              </a:spcBef>
              <a:spcAft>
                <a:spcPts val="0"/>
              </a:spcAft>
              <a:defRPr sz="1850" b="0">
                <a:solidFill>
                  <a:srgbClr val="163640"/>
                </a:solidFill>
                <a:latin typeface="DejaVu Sans"/>
              </a:defRPr>
            </a:pPr>
            <a:r>
              <a:t>the normalized request.</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DESTINATION</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062"/>
              </a:lnSpc>
              <a:spcBef>
                <a:spcPts val="0"/>
              </a:spcBef>
              <a:spcAft>
                <a:spcPts val="0"/>
              </a:spcAft>
              <a:defRPr sz="1650" b="0">
                <a:solidFill>
                  <a:srgbClr val="163640"/>
                </a:solidFill>
                <a:latin typeface="DejaVu Sans"/>
              </a:defRPr>
            </a:pPr>
            <a:r>
              <a:t>input.arguments.beneficiary</a:t>
            </a:r>
          </a:p>
          <a:p>
            <a:pPr>
              <a:lnSpc>
                <a:spcPts val="2062"/>
              </a:lnSpc>
              <a:spcBef>
                <a:spcPts val="0"/>
              </a:spcBef>
              <a:spcAft>
                <a:spcPts val="0"/>
              </a:spcAft>
              <a:defRPr sz="1650" b="0">
                <a:solidFill>
                  <a:srgbClr val="163640"/>
                </a:solidFill>
                <a:latin typeface="DejaVu Sans"/>
              </a:defRPr>
            </a:pPr>
            <a:r>
              <a:t>Keep prohibited</a:t>
            </a:r>
          </a:p>
          <a:p>
            <a:pPr>
              <a:lnSpc>
                <a:spcPts val="2062"/>
              </a:lnSpc>
              <a:spcBef>
                <a:spcPts val="0"/>
              </a:spcBef>
              <a:spcAft>
                <a:spcPts val="0"/>
              </a:spcAft>
              <a:defRPr sz="1650" b="0">
                <a:solidFill>
                  <a:srgbClr val="163640"/>
                </a:solidFill>
                <a:latin typeface="DejaVu Sans"/>
              </a:defRPr>
            </a:pPr>
            <a:r>
              <a:t>destinations blocked.</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Do not let ticket text or a model's explanation substitute for policy inputs.</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22–34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Thresholds define the support-agent path</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4924044"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Permitted beneficiary + support role</a:t>
            </a:r>
          </a:p>
        </p:txBody>
      </p:sp>
      <p:sp>
        <p:nvSpPr>
          <p:cNvPr id="8" name="TextBox 7"/>
          <p:cNvSpPr txBox="1"/>
          <p:nvPr/>
        </p:nvSpPr>
        <p:spPr>
          <a:xfrm>
            <a:off x="5914644" y="2273300"/>
            <a:ext cx="5591556"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policy outcome</a:t>
            </a:r>
          </a:p>
        </p:txBody>
      </p:sp>
      <p:sp>
        <p:nvSpPr>
          <p:cNvPr id="9" name="Rectangle 8"/>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Up to 100,000 paise / ₹1,000</a:t>
            </a:r>
          </a:p>
        </p:txBody>
      </p:sp>
      <p:sp>
        <p:nvSpPr>
          <p:cNvPr id="11" name="TextBox 10"/>
          <p:cNvSpPr txBox="1"/>
          <p:nvPr/>
        </p:nvSpPr>
        <p:spPr>
          <a:xfrm>
            <a:off x="5914644" y="2743200"/>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a:t>
            </a:r>
          </a:p>
        </p:txBody>
      </p:sp>
      <p:sp>
        <p:nvSpPr>
          <p:cNvPr id="12" name="Rectangle 11"/>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89325"/>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100,001–1,000,000 paise</a:t>
            </a:r>
          </a:p>
        </p:txBody>
      </p:sp>
      <p:sp>
        <p:nvSpPr>
          <p:cNvPr id="14" name="TextBox 13"/>
          <p:cNvSpPr txBox="1"/>
          <p:nvPr/>
        </p:nvSpPr>
        <p:spPr>
          <a:xfrm>
            <a:off x="5914644" y="3489325"/>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Require approval</a:t>
            </a:r>
          </a:p>
        </p:txBody>
      </p:sp>
      <p:sp>
        <p:nvSpPr>
          <p:cNvPr id="15" name="Rectangle 14"/>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235450"/>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Above 1,000,000 paise / ₹10,000</a:t>
            </a:r>
          </a:p>
        </p:txBody>
      </p:sp>
      <p:sp>
        <p:nvSpPr>
          <p:cNvPr id="17" name="TextBox 16"/>
          <p:cNvSpPr txBox="1"/>
          <p:nvPr/>
        </p:nvSpPr>
        <p:spPr>
          <a:xfrm>
            <a:off x="5914644" y="4235450"/>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Deny: transfer ceiling</a:t>
            </a:r>
          </a:p>
        </p:txBody>
      </p:sp>
      <p:sp>
        <p:nvSpPr>
          <p:cNvPr id="18" name="Rectangle 17"/>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1575"/>
            <a:ext cx="4924044"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Prohibited beneficiary</a:t>
            </a:r>
          </a:p>
        </p:txBody>
      </p:sp>
      <p:sp>
        <p:nvSpPr>
          <p:cNvPr id="20" name="TextBox 19"/>
          <p:cNvSpPr txBox="1"/>
          <p:nvPr/>
        </p:nvSpPr>
        <p:spPr>
          <a:xfrm>
            <a:off x="5914644" y="4981575"/>
            <a:ext cx="5591556"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Deny takes precedence</a:t>
            </a:r>
          </a:p>
        </p:txBody>
      </p:sp>
      <p:sp>
        <p:nvSpPr>
          <p:cNvPr id="21" name="Rounded Rectangle 20"/>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Core Banking independently requires approval above 100,000 paise.</a:t>
            </a:r>
          </a:p>
        </p:txBody>
      </p:sp>
      <p:sp>
        <p:nvSpPr>
          <p:cNvPr id="23" name="TextBox 22"/>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4" name="TextBox 23"/>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22–34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 pending proposal has no financial effect</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Request</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₹5,000 to</a:t>
            </a:r>
          </a:p>
          <a:p>
            <a:pPr>
              <a:lnSpc>
                <a:spcPts val="2125"/>
              </a:lnSpc>
              <a:spcBef>
                <a:spcPts val="0"/>
              </a:spcBef>
              <a:spcAft>
                <a:spcPts val="0"/>
              </a:spcAft>
              <a:defRPr sz="1700" b="0">
                <a:solidFill>
                  <a:srgbClr val="163640"/>
                </a:solidFill>
                <a:latin typeface="DejaVu Sans"/>
              </a:defRPr>
            </a:pPr>
            <a:r>
              <a:t>vendor-beta</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Evaluate</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Approval is</a:t>
            </a:r>
          </a:p>
          <a:p>
            <a:pPr>
              <a:lnSpc>
                <a:spcPts val="2125"/>
              </a:lnSpc>
              <a:spcBef>
                <a:spcPts val="0"/>
              </a:spcBef>
              <a:spcAft>
                <a:spcPts val="0"/>
              </a:spcAft>
              <a:defRPr sz="1700" b="0">
                <a:solidFill>
                  <a:srgbClr val="163640"/>
                </a:solidFill>
                <a:latin typeface="DejaVu Sans"/>
              </a:defRPr>
            </a:pPr>
            <a:r>
              <a:t>required</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Persist</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Record proposal +</a:t>
            </a:r>
          </a:p>
          <a:p>
            <a:pPr>
              <a:lnSpc>
                <a:spcPts val="2125"/>
              </a:lnSpc>
              <a:spcBef>
                <a:spcPts val="0"/>
              </a:spcBef>
              <a:spcAft>
                <a:spcPts val="0"/>
              </a:spcAft>
              <a:defRPr sz="1700" b="0">
                <a:solidFill>
                  <a:srgbClr val="163640"/>
                </a:solidFill>
                <a:latin typeface="DejaVu Sans"/>
              </a:defRPr>
            </a:pPr>
            <a:r>
              <a:t>status</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Wait</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No debit, no</a:t>
            </a:r>
          </a:p>
          <a:p>
            <a:pPr>
              <a:lnSpc>
                <a:spcPts val="2125"/>
              </a:lnSpc>
              <a:spcBef>
                <a:spcPts val="0"/>
              </a:spcBef>
              <a:spcAft>
                <a:spcPts val="0"/>
              </a:spcAft>
              <a:defRPr sz="1700" b="0">
                <a:solidFill>
                  <a:srgbClr val="163640"/>
                </a:solidFill>
                <a:latin typeface="DejaVu Sans"/>
              </a:defRPr>
            </a:pPr>
            <a:r>
              <a:t>payment</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Save the proposal ID and status alongside the before/after ledger.</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34–41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Demo: policy stops answering</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Expected: POLICY_TIMEOUT_FAIL_CLOSED and zero financial effects.</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5BC69"/>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docker compose pause opa</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 In Governance Studio: click Pay ₹250 to a vendor</a:t>
            </a:r>
          </a:p>
          <a:p>
            <a:pPr>
              <a:lnSpc>
                <a:spcPts val="2379"/>
              </a:lnSpc>
              <a:spcBef>
                <a:spcPts val="0"/>
              </a:spcBef>
              <a:spcAft>
                <a:spcPts val="0"/>
              </a:spcAft>
              <a:defRPr sz="1700" b="0">
                <a:solidFill>
                  <a:srgbClr val="FFFFFF"/>
                </a:solidFill>
                <a:latin typeface="DejaVu Sans Mono"/>
              </a:defRPr>
            </a:pPr>
            <a:r>
              <a:t># Inspect decision, balance and new-payment count</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docker compose unpause opa</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Restore OPA immediately, including when the demo request fails unexpectedly.</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34–41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Build an evidence chain, not just a screenshot</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REQUEST + DECISION</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Signed role, actual</a:t>
            </a:r>
          </a:p>
          <a:p>
            <a:pPr>
              <a:lnSpc>
                <a:spcPts val="2625"/>
              </a:lnSpc>
              <a:spcBef>
                <a:spcPts val="0"/>
              </a:spcBef>
              <a:spcAft>
                <a:spcPts val="0"/>
              </a:spcAft>
              <a:defRPr sz="2100" b="0">
                <a:solidFill>
                  <a:srgbClr val="163640"/>
                </a:solidFill>
                <a:latin typeface="DejaVu Sans"/>
              </a:defRPr>
            </a:pPr>
            <a:r>
              <a:t>arguments, boundary</a:t>
            </a:r>
          </a:p>
          <a:p>
            <a:pPr>
              <a:lnSpc>
                <a:spcPts val="2625"/>
              </a:lnSpc>
              <a:spcBef>
                <a:spcPts val="0"/>
              </a:spcBef>
              <a:spcAft>
                <a:spcPts val="0"/>
              </a:spcAft>
              <a:defRPr sz="2100" b="0">
                <a:solidFill>
                  <a:srgbClr val="163640"/>
                </a:solidFill>
                <a:latin typeface="DejaVu Sans"/>
              </a:defRPr>
            </a:pPr>
            <a:r>
              <a:t>response and reason.</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BUSINESS RECORDS</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Proposal/payment</a:t>
            </a:r>
          </a:p>
          <a:p>
            <a:pPr>
              <a:lnSpc>
                <a:spcPts val="2625"/>
              </a:lnSpc>
              <a:spcBef>
                <a:spcPts val="0"/>
              </a:spcBef>
              <a:spcAft>
                <a:spcPts val="0"/>
              </a:spcAft>
              <a:defRPr sz="2100" b="0">
                <a:solidFill>
                  <a:srgbClr val="163640"/>
                </a:solidFill>
                <a:latin typeface="DejaVu Sans"/>
              </a:defRPr>
            </a:pPr>
            <a:r>
              <a:t>IDs, before/after</a:t>
            </a:r>
          </a:p>
          <a:p>
            <a:pPr>
              <a:lnSpc>
                <a:spcPts val="2625"/>
              </a:lnSpc>
              <a:spcBef>
                <a:spcPts val="0"/>
              </a:spcBef>
              <a:spcAft>
                <a:spcPts val="0"/>
              </a:spcAft>
              <a:defRPr sz="2100" b="0">
                <a:solidFill>
                  <a:srgbClr val="163640"/>
                </a:solidFill>
                <a:latin typeface="DejaVu Sans"/>
              </a:defRPr>
            </a:pPr>
            <a:r>
              <a:t>balance and</a:t>
            </a:r>
          </a:p>
          <a:p>
            <a:pPr>
              <a:lnSpc>
                <a:spcPts val="2625"/>
              </a:lnSpc>
              <a:spcBef>
                <a:spcPts val="0"/>
              </a:spcBef>
              <a:spcAft>
                <a:spcPts val="0"/>
              </a:spcAft>
              <a:defRPr sz="2100" b="0">
                <a:solidFill>
                  <a:srgbClr val="163640"/>
                </a:solidFill>
                <a:latin typeface="DejaVu Sans"/>
              </a:defRPr>
            </a:pPr>
            <a:r>
              <a:t>new-payment count.</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TRACE</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Correlate the trace ID</a:t>
            </a:r>
          </a:p>
          <a:p>
            <a:pPr>
              <a:lnSpc>
                <a:spcPts val="2625"/>
              </a:lnSpc>
              <a:spcBef>
                <a:spcPts val="0"/>
              </a:spcBef>
              <a:spcAft>
                <a:spcPts val="0"/>
              </a:spcAft>
              <a:defRPr sz="2100" b="0">
                <a:solidFill>
                  <a:srgbClr val="163640"/>
                </a:solidFill>
                <a:latin typeface="DejaVu Sans"/>
              </a:defRPr>
            </a:pPr>
            <a:r>
              <a:t>with exported spans.</a:t>
            </a:r>
          </a:p>
          <a:p>
            <a:pPr>
              <a:lnSpc>
                <a:spcPts val="2625"/>
              </a:lnSpc>
              <a:spcBef>
                <a:spcPts val="0"/>
              </a:spcBef>
              <a:spcAft>
                <a:spcPts val="0"/>
              </a:spcAft>
              <a:defRPr sz="2100" b="0">
                <a:solidFill>
                  <a:srgbClr val="163640"/>
                </a:solidFill>
                <a:latin typeface="DejaVu Sans"/>
              </a:defRPr>
            </a:pPr>
            <a:r>
              <a:t>Label missing spans</a:t>
            </a:r>
          </a:p>
          <a:p>
            <a:pPr>
              <a:lnSpc>
                <a:spcPts val="2625"/>
              </a:lnSpc>
              <a:spcBef>
                <a:spcPts val="0"/>
              </a:spcBef>
              <a:spcAft>
                <a:spcPts val="0"/>
              </a:spcAft>
              <a:defRPr sz="2100" b="0">
                <a:solidFill>
                  <a:srgbClr val="163640"/>
                </a:solidFill>
                <a:latin typeface="DejaVu Sans"/>
              </a:defRPr>
            </a:pPr>
            <a:r>
              <a:t>explicitly.</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trace ID alone does not establish a complete distributed trace.</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41–45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Assign an owner to each governance concern</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4924044"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Concern</a:t>
            </a:r>
          </a:p>
        </p:txBody>
      </p:sp>
      <p:sp>
        <p:nvSpPr>
          <p:cNvPr id="8" name="TextBox 7"/>
          <p:cNvSpPr txBox="1"/>
          <p:nvPr/>
        </p:nvSpPr>
        <p:spPr>
          <a:xfrm>
            <a:off x="5914644" y="2273300"/>
            <a:ext cx="5591556"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Ownership discussion</a:t>
            </a:r>
          </a:p>
        </p:txBody>
      </p:sp>
      <p:sp>
        <p:nvSpPr>
          <p:cNvPr id="9" name="Rectangle 8"/>
          <p:cNvSpPr/>
          <p:nvPr/>
        </p:nvSpPr>
        <p:spPr>
          <a:xfrm>
            <a:off x="533400" y="26543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4924044"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Approved model access + budgets</a:t>
            </a:r>
          </a:p>
        </p:txBody>
      </p:sp>
      <p:sp>
        <p:nvSpPr>
          <p:cNvPr id="11" name="TextBox 10"/>
          <p:cNvSpPr txBox="1"/>
          <p:nvPr/>
        </p:nvSpPr>
        <p:spPr>
          <a:xfrm>
            <a:off x="5914644" y="2743200"/>
            <a:ext cx="5591556"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AI platform / platform operations</a:t>
            </a:r>
          </a:p>
        </p:txBody>
      </p:sp>
      <p:sp>
        <p:nvSpPr>
          <p:cNvPr id="12" name="Rectangle 11"/>
          <p:cNvSpPr/>
          <p:nvPr/>
        </p:nvSpPr>
        <p:spPr>
          <a:xfrm>
            <a:off x="533400" y="32512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40100"/>
            <a:ext cx="4924044"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Tool policy + identity</a:t>
            </a:r>
          </a:p>
        </p:txBody>
      </p:sp>
      <p:sp>
        <p:nvSpPr>
          <p:cNvPr id="14" name="TextBox 13"/>
          <p:cNvSpPr txBox="1"/>
          <p:nvPr/>
        </p:nvSpPr>
        <p:spPr>
          <a:xfrm>
            <a:off x="5914644" y="3340100"/>
            <a:ext cx="5591556"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Integration and security teams</a:t>
            </a:r>
          </a:p>
        </p:txBody>
      </p:sp>
      <p:sp>
        <p:nvSpPr>
          <p:cNvPr id="15" name="Rectangle 14"/>
          <p:cNvSpPr/>
          <p:nvPr/>
        </p:nvSpPr>
        <p:spPr>
          <a:xfrm>
            <a:off x="533400" y="38481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937000"/>
            <a:ext cx="4924044"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Approval + banking rules</a:t>
            </a:r>
          </a:p>
        </p:txBody>
      </p:sp>
      <p:sp>
        <p:nvSpPr>
          <p:cNvPr id="17" name="TextBox 16"/>
          <p:cNvSpPr txBox="1"/>
          <p:nvPr/>
        </p:nvSpPr>
        <p:spPr>
          <a:xfrm>
            <a:off x="5914644" y="3937000"/>
            <a:ext cx="5591556"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Business operations / service owners</a:t>
            </a:r>
          </a:p>
        </p:txBody>
      </p:sp>
      <p:sp>
        <p:nvSpPr>
          <p:cNvPr id="18" name="Rectangle 17"/>
          <p:cNvSpPr/>
          <p:nvPr/>
        </p:nvSpPr>
        <p:spPr>
          <a:xfrm>
            <a:off x="533400" y="44450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33900"/>
            <a:ext cx="4924044"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Data minimization + retention</a:t>
            </a:r>
          </a:p>
        </p:txBody>
      </p:sp>
      <p:sp>
        <p:nvSpPr>
          <p:cNvPr id="20" name="TextBox 19"/>
          <p:cNvSpPr txBox="1"/>
          <p:nvPr/>
        </p:nvSpPr>
        <p:spPr>
          <a:xfrm>
            <a:off x="5914644" y="4533900"/>
            <a:ext cx="5591556"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Data governance and audit owners</a:t>
            </a:r>
          </a:p>
        </p:txBody>
      </p:sp>
      <p:sp>
        <p:nvSpPr>
          <p:cNvPr id="21" name="Rectangle 20"/>
          <p:cNvSpPr/>
          <p:nvPr/>
        </p:nvSpPr>
        <p:spPr>
          <a:xfrm>
            <a:off x="533400" y="50419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0800"/>
            <a:ext cx="4924044"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Outages + incident response</a:t>
            </a:r>
          </a:p>
        </p:txBody>
      </p:sp>
      <p:sp>
        <p:nvSpPr>
          <p:cNvPr id="23" name="TextBox 22"/>
          <p:cNvSpPr txBox="1"/>
          <p:nvPr/>
        </p:nvSpPr>
        <p:spPr>
          <a:xfrm>
            <a:off x="5914644" y="5130800"/>
            <a:ext cx="5591556"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Service operations</a:t>
            </a:r>
          </a:p>
        </p:txBody>
      </p:sp>
      <p:sp>
        <p:nvSpPr>
          <p:cNvPr id="24" name="Rounded Rectangle 23"/>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Use these as discussion prompts; assign owners in your organization.</a:t>
            </a:r>
          </a:p>
        </p:txBody>
      </p:sp>
      <p:sp>
        <p:nvSpPr>
          <p:cNvPr id="26" name="TextBox 25"/>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27" name="TextBox 26"/>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5B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5BC69"/>
                </a:solidFill>
                <a:latin typeface="DejaVu Sans"/>
              </a:defRPr>
            </a:pPr>
            <a:r>
              <a:t>WORKSHOP 2  /  41–45 MIN</a:t>
            </a:r>
          </a:p>
        </p:txBody>
      </p:sp>
      <p:sp>
        <p:nvSpPr>
          <p:cNvPr id="5" name="TextBox 4"/>
          <p:cNvSpPr txBox="1"/>
          <p:nvPr/>
        </p:nvSpPr>
        <p:spPr>
          <a:xfrm>
            <a:off x="533400" y="1358900"/>
            <a:ext cx="11049000" cy="2260600"/>
          </a:xfrm>
          <a:prstGeom prst="rect">
            <a:avLst/>
          </a:prstGeom>
          <a:noFill/>
        </p:spPr>
        <p:txBody>
          <a:bodyPr wrap="none" lIns="0" rIns="0" tIns="0" bIns="0" anchor="t">
            <a:spAutoFit/>
          </a:bodyPr>
          <a:lstStyle/>
          <a:p>
            <a:pPr>
              <a:lnSpc>
                <a:spcPts val="5059"/>
              </a:lnSpc>
              <a:spcBef>
                <a:spcPts val="0"/>
              </a:spcBef>
              <a:spcAft>
                <a:spcPts val="0"/>
              </a:spcAft>
              <a:defRPr sz="4400" b="1">
                <a:solidFill>
                  <a:srgbClr val="FFFFFF"/>
                </a:solidFill>
                <a:latin typeface="DejaVu Sans"/>
              </a:defRPr>
            </a:pPr>
            <a:r>
              <a:t>The ticket can suggest. The</a:t>
            </a:r>
          </a:p>
          <a:p>
            <a:pPr>
              <a:lnSpc>
                <a:spcPts val="5059"/>
              </a:lnSpc>
              <a:spcBef>
                <a:spcPts val="0"/>
              </a:spcBef>
              <a:spcAft>
                <a:spcPts val="0"/>
              </a:spcAft>
              <a:defRPr sz="4400" b="1">
                <a:solidFill>
                  <a:srgbClr val="FFFFFF"/>
                </a:solidFill>
                <a:latin typeface="DejaVu Sans"/>
              </a:defRPr>
            </a:pPr>
            <a:r>
              <a:t>platform decides.</a:t>
            </a:r>
          </a:p>
        </p:txBody>
      </p:sp>
      <p:sp>
        <p:nvSpPr>
          <p:cNvPr id="6" name="TextBox 5"/>
          <p:cNvSpPr txBox="1"/>
          <p:nvPr/>
        </p:nvSpPr>
        <p:spPr>
          <a:xfrm>
            <a:off x="558800" y="3810000"/>
            <a:ext cx="10807700" cy="1536700"/>
          </a:xfrm>
          <a:prstGeom prst="rect">
            <a:avLst/>
          </a:prstGeom>
          <a:noFill/>
        </p:spPr>
        <p:txBody>
          <a:bodyPr wrap="none" lIns="0" rIns="0" tIns="0" bIns="0" anchor="t">
            <a:spAutoFit/>
          </a:bodyPr>
          <a:lstStyle/>
          <a:p>
            <a:pPr>
              <a:lnSpc>
                <a:spcPts val="3250"/>
              </a:lnSpc>
              <a:spcBef>
                <a:spcPts val="0"/>
              </a:spcBef>
              <a:spcAft>
                <a:spcPts val="0"/>
              </a:spcAft>
              <a:defRPr sz="2600" b="0">
                <a:solidFill>
                  <a:srgbClr val="C1D5D8"/>
                </a:solidFill>
                <a:latin typeface="DejaVu Sans"/>
              </a:defRPr>
            </a:pPr>
            <a:r>
              <a:t>Prove who asked, which arguments were evaluated, and what</a:t>
            </a:r>
          </a:p>
          <a:p>
            <a:pPr>
              <a:lnSpc>
                <a:spcPts val="3250"/>
              </a:lnSpc>
              <a:spcBef>
                <a:spcPts val="0"/>
              </a:spcBef>
              <a:spcAft>
                <a:spcPts val="0"/>
              </a:spcAft>
              <a:defRPr sz="2600" b="0">
                <a:solidFill>
                  <a:srgbClr val="C1D5D8"/>
                </a:solidFill>
                <a:latin typeface="DejaVu Sans"/>
              </a:defRPr>
            </a:pPr>
            <a:r>
              <a:t>the bank changed.</a:t>
            </a:r>
          </a:p>
        </p:txBody>
      </p:sp>
      <p:sp>
        <p:nvSpPr>
          <p:cNvPr id="7" name="TextBox 6"/>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5BC69"/>
                </a:solidFill>
                <a:latin typeface="DejaVu Sans"/>
              </a:defRPr>
            </a:pPr>
            <a:r>
              <a:t>W3 / Make the proposal survive a closed chat and a crashed worker.</a:t>
            </a:r>
          </a:p>
        </p:txBody>
      </p:sp>
      <p:sp>
        <p:nvSpPr>
          <p:cNvPr id="8" name="TextBox 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2  /  FICTIONAL LAB</a:t>
            </a:r>
          </a:p>
        </p:txBody>
      </p:sp>
      <p:sp>
        <p:nvSpPr>
          <p:cNvPr id="9" name="TextBox 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2  /  REFERENCE / OUTSIDE TIMED DELIVERY</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Presenter preparation &amp; source guide</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Open localhost:9080/workshop-2 and localhost:16686 before delivery.</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5BC69"/>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./scripts/workshop switch w2</a:t>
            </a:r>
          </a:p>
          <a:p>
            <a:pPr>
              <a:lnSpc>
                <a:spcPts val="2379"/>
              </a:lnSpc>
              <a:spcBef>
                <a:spcPts val="0"/>
              </a:spcBef>
              <a:spcAft>
                <a:spcPts val="0"/>
              </a:spcAft>
              <a:defRPr sz="1700" b="0">
                <a:solidFill>
                  <a:srgbClr val="FFFFFF"/>
                </a:solidFill>
                <a:latin typeface="DejaVu Sans Mono"/>
              </a:defRPr>
            </a:pPr>
            <a:r>
              <a:t>./scripts/workshop verify w2</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 Technical rehearsal on the prepared stack:</a:t>
            </a:r>
          </a:p>
          <a:p>
            <a:pPr>
              <a:lnSpc>
                <a:spcPts val="2379"/>
              </a:lnSpc>
              <a:spcBef>
                <a:spcPts val="0"/>
              </a:spcBef>
              <a:spcAft>
                <a:spcPts val="0"/>
              </a:spcAft>
              <a:defRPr sz="1700" b="0">
                <a:solidFill>
                  <a:srgbClr val="FFFFFF"/>
                </a:solidFill>
                <a:latin typeface="DejaVu Sans Mono"/>
              </a:defRPr>
            </a:pPr>
            <a:r>
              <a:t>.venv/bin/python workshops/w2/rehearsal_console.py --outage</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Use the worksheet for setup, optional live inference and scenario details.</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2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ticket that tried to give orders</dc:title>
  <dc:subject>Beyond API Governance: Securing AI Agents, MCP Servers, and Enterprise Integrations</dc:subject>
  <dc:creator>Flo Bank Workshop Series</dc:creator>
  <cp:keywords>Flo Bank, workshop 2, fictional lab</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